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83" r:id="rId4"/>
    <p:sldId id="298" r:id="rId5"/>
    <p:sldId id="271" r:id="rId6"/>
    <p:sldId id="296" r:id="rId7"/>
    <p:sldId id="437" r:id="rId8"/>
    <p:sldId id="305" r:id="rId9"/>
    <p:sldId id="306" r:id="rId10"/>
    <p:sldId id="309" r:id="rId11"/>
    <p:sldId id="438" r:id="rId12"/>
    <p:sldId id="310" r:id="rId13"/>
    <p:sldId id="311" r:id="rId14"/>
    <p:sldId id="443" r:id="rId15"/>
    <p:sldId id="285" r:id="rId16"/>
    <p:sldId id="439" r:id="rId17"/>
    <p:sldId id="440" r:id="rId18"/>
    <p:sldId id="441" r:id="rId19"/>
    <p:sldId id="442" r:id="rId20"/>
    <p:sldId id="290" r:id="rId21"/>
    <p:sldId id="424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D04B7A6-FDA0-4E6D-9B14-C0DD7CC897A6}">
          <p14:sldIdLst>
            <p14:sldId id="257"/>
            <p14:sldId id="258"/>
            <p14:sldId id="283"/>
            <p14:sldId id="298"/>
            <p14:sldId id="271"/>
            <p14:sldId id="296"/>
            <p14:sldId id="437"/>
            <p14:sldId id="305"/>
            <p14:sldId id="306"/>
            <p14:sldId id="309"/>
            <p14:sldId id="438"/>
            <p14:sldId id="310"/>
            <p14:sldId id="311"/>
            <p14:sldId id="443"/>
            <p14:sldId id="285"/>
            <p14:sldId id="439"/>
            <p14:sldId id="440"/>
            <p14:sldId id="441"/>
            <p14:sldId id="442"/>
            <p14:sldId id="290"/>
            <p14:sldId id="42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>
        <p:scale>
          <a:sx n="100" d="100"/>
          <a:sy n="100" d="100"/>
        </p:scale>
        <p:origin x="588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7293\Downloads\ffmethod4_claim_support_excel_tabl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7293\Downloads\ffmethod4_claim_support_excel_tabl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tx>
            <c:v>without-topology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'04_A-02'!$B$2:$B$4</c:f>
              <c:numCache>
                <c:formatCode>General</c:formatCode>
                <c:ptCount val="3"/>
                <c:pt idx="0">
                  <c:v>80</c:v>
                </c:pt>
                <c:pt idx="1">
                  <c:v>120</c:v>
                </c:pt>
                <c:pt idx="2">
                  <c:v>160</c:v>
                </c:pt>
              </c:numCache>
            </c:numRef>
          </c:xVal>
          <c:yVal>
            <c:numRef>
              <c:f>'04_A-02'!$C$2:$C$4</c:f>
              <c:numCache>
                <c:formatCode>General</c:formatCode>
                <c:ptCount val="3"/>
                <c:pt idx="0">
                  <c:v>16.3</c:v>
                </c:pt>
                <c:pt idx="1">
                  <c:v>20.05</c:v>
                </c:pt>
                <c:pt idx="2">
                  <c:v>22.93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59D-4141-AC51-2B21CF19A3CE}"/>
            </c:ext>
          </c:extLst>
        </c:ser>
        <c:ser>
          <c:idx val="1"/>
          <c:order val="1"/>
          <c:tx>
            <c:v>topology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'04_A-02'!$B$8:$B$10</c:f>
              <c:numCache>
                <c:formatCode>General</c:formatCode>
                <c:ptCount val="3"/>
                <c:pt idx="0">
                  <c:v>80</c:v>
                </c:pt>
                <c:pt idx="1">
                  <c:v>120</c:v>
                </c:pt>
                <c:pt idx="2">
                  <c:v>160</c:v>
                </c:pt>
              </c:numCache>
            </c:numRef>
          </c:xVal>
          <c:yVal>
            <c:numRef>
              <c:f>'04_A-02'!$C$8:$C$10</c:f>
              <c:numCache>
                <c:formatCode>General</c:formatCode>
                <c:ptCount val="3"/>
                <c:pt idx="0">
                  <c:v>13.95</c:v>
                </c:pt>
                <c:pt idx="1">
                  <c:v>17.27</c:v>
                </c:pt>
                <c:pt idx="2">
                  <c:v>19.93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F59D-4141-AC51-2B21CF19A3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08936495"/>
        <c:axId val="608936975"/>
      </c:scatterChart>
      <c:valAx>
        <c:axId val="608936495"/>
        <c:scaling>
          <c:orientation val="minMax"/>
          <c:max val="160"/>
          <c:min val="8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upper-k</a:t>
                </a:r>
                <a:endParaRPr lang="zh-CN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08936975"/>
        <c:crosses val="autoZero"/>
        <c:crossBetween val="midCat"/>
      </c:valAx>
      <c:valAx>
        <c:axId val="6089369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zh-CN"/>
                  <a:t>routed shards</a:t>
                </a:r>
                <a:endParaRPr lang="zh-CN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608936495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跨分区的边的比例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('04_A-02'!$A$2,'04_A-02'!$A$8,'04_A-02'!$A$14,'04_A-02'!$A$17)</c:f>
              <c:strCache>
                <c:ptCount val="4"/>
                <c:pt idx="0">
                  <c:v>balanced_kmeans_only_46</c:v>
                </c:pt>
                <c:pt idx="1">
                  <c:v>kmeans_topology_46</c:v>
                </c:pt>
                <c:pt idx="2">
                  <c:v>naive_all_shards_46</c:v>
                </c:pt>
                <c:pt idx="3">
                  <c:v>random_balanced_46</c:v>
                </c:pt>
              </c:strCache>
            </c:strRef>
          </c:cat>
          <c:val>
            <c:numRef>
              <c:f>('04_A-02'!$G$2,'04_A-02'!$G$8,'04_A-02'!$G$14,'04_A-02'!$G$17)</c:f>
              <c:numCache>
                <c:formatCode>General</c:formatCode>
                <c:ptCount val="4"/>
                <c:pt idx="0">
                  <c:v>0.51400000000000001</c:v>
                </c:pt>
                <c:pt idx="1">
                  <c:v>0.35099999999999998</c:v>
                </c:pt>
                <c:pt idx="2">
                  <c:v>1</c:v>
                </c:pt>
                <c:pt idx="3">
                  <c:v>0.88100000000000001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BF-4028-92F6-ECE2CC382A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12926303"/>
        <c:axId val="712924863"/>
      </c:barChart>
      <c:catAx>
        <c:axId val="712926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12924863"/>
        <c:crosses val="autoZero"/>
        <c:auto val="1"/>
        <c:lblAlgn val="ctr"/>
        <c:lblOffset val="100"/>
        <c:noMultiLvlLbl val="0"/>
      </c:catAx>
      <c:valAx>
        <c:axId val="712924863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1292630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C4CD4-246B-4C90-B04D-62D713BF69FE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CCC90-F9E1-4616-9C12-72C81CE7A5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925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0FDD1-5445-47D8-99AF-E17C10F84B5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793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0FDD1-5445-47D8-99AF-E17C10F84B5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711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0FDD1-5445-47D8-99AF-E17C10F84B5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1147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0FDD1-5445-47D8-99AF-E17C10F84B5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5450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zh-CN" altLang="en-US" sz="1200" dirty="0"/>
              <a:t>离线阶段</a:t>
            </a:r>
            <a:r>
              <a:rPr lang="en-US" altLang="zh-CN" sz="1200" dirty="0"/>
              <a:t>:</a:t>
            </a:r>
            <a:r>
              <a:rPr lang="zh-CN" altLang="en-US" sz="1200" dirty="0"/>
              <a:t>作为数据分区的拓扑参考</a:t>
            </a:r>
            <a:endParaRPr lang="en-US" altLang="zh-CN" sz="1200" dirty="0"/>
          </a:p>
          <a:p>
            <a:pPr lvl="1"/>
            <a:r>
              <a:rPr lang="zh-CN" altLang="en-US" sz="1200" dirty="0"/>
              <a:t>在线阶段：作为查询路由的全局导航中心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Orion</a:t>
            </a:r>
            <a:r>
              <a:rPr lang="zh-CN" altLang="en-US" sz="1200" dirty="0"/>
              <a:t>不依赖原始坐标信息，而是基于图路由路径来设立分区边界</a:t>
            </a:r>
            <a:endParaRPr lang="en-US" altLang="zh-CN" sz="1200" dirty="0"/>
          </a:p>
          <a:p>
            <a:r>
              <a:rPr lang="zh-CN" altLang="en-US" dirty="0"/>
              <a:t>为了将数据集划分到 </a:t>
            </a:r>
            <a:r>
              <a:rPr lang="en-US" altLang="zh-CN" dirty="0"/>
              <a:t>MMM </a:t>
            </a:r>
            <a:r>
              <a:rPr lang="zh-CN" altLang="en-US" dirty="0"/>
              <a:t>个物理分片中，我们首先需要为导航图中的每个向量分配一个目标分片。</a:t>
            </a:r>
            <a:endParaRPr lang="en-US" altLang="zh-CN" dirty="0"/>
          </a:p>
          <a:p>
            <a:r>
              <a:rPr lang="zh-CN" altLang="en-US" dirty="0"/>
              <a:t>如果某个向量在空间位置上靠近 </a:t>
            </a:r>
            <a:r>
              <a:rPr lang="en-US" altLang="zh-CN" dirty="0"/>
              <a:t>Shard A </a:t>
            </a:r>
            <a:r>
              <a:rPr lang="zh-CN" altLang="en-US" dirty="0"/>
              <a:t>的边界，但它的真实路由路径，即图边，主要指向 </a:t>
            </a:r>
            <a:r>
              <a:rPr lang="en-US" altLang="zh-CN" dirty="0"/>
              <a:t>Shard B </a:t>
            </a:r>
            <a:r>
              <a:rPr lang="zh-CN" altLang="en-US" dirty="0"/>
              <a:t>中的节点，那么 </a:t>
            </a:r>
            <a:r>
              <a:rPr lang="en-US" altLang="zh-CN" dirty="0"/>
              <a:t>self-search </a:t>
            </a:r>
            <a:r>
              <a:rPr lang="zh-CN" altLang="en-US" dirty="0"/>
              <a:t>自然会返回更多属于 </a:t>
            </a:r>
            <a:r>
              <a:rPr lang="en-US" altLang="zh-CN" dirty="0"/>
              <a:t>Shard B </a:t>
            </a:r>
            <a:r>
              <a:rPr lang="zh-CN" altLang="en-US" dirty="0"/>
              <a:t>的向量。因此，该向量会被重新标记为 </a:t>
            </a:r>
            <a:r>
              <a:rPr lang="en-US" altLang="zh-CN" dirty="0"/>
              <a:t>Shard B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0FDD1-5445-47D8-99AF-E17C10F84B5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190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0FDD1-5445-47D8-99AF-E17C10F84B5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959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F0FDD1-5445-47D8-99AF-E17C10F84B5D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C3F0C-25C6-6106-C1C8-087EA8157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C9FA24-FEE8-4894-3F8B-DC8A92403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CAF2BA-1516-BCAF-FB7D-2069548F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C4AF-3DDC-47DD-84A2-490DE0893E5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F3E45D-8D94-0BF2-1E68-EAC9FF53C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DE5587-6A72-1393-2C6E-D528DA8A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02C7-2BF7-4FFB-91C7-1A8CF4DB19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6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6911B4-FE48-3691-88B8-7DDA47981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7430DD-ADA8-E677-3C20-403992469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09140C-C467-67B1-5E54-372FEFD8E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C4AF-3DDC-47DD-84A2-490DE0893E5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7D05B7-A9FD-3263-914E-6534D5FFA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81AD9E-C97E-3D3D-6761-81B1F087A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02C7-2BF7-4FFB-91C7-1A8CF4DB19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652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4F8382-78B0-616E-0AB6-FB8722241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097190-F490-C24C-7446-C6AE876D2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4DF254-5898-D6A5-F3F3-2088C1759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C4AF-3DDC-47DD-84A2-490DE0893E5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AA0D5-4E74-A0CE-079A-87810186A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011EF4-9FE0-F153-E8A3-6D68B76EE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02C7-2BF7-4FFB-91C7-1A8CF4DB19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9491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06394C-0AFB-DA99-53BB-3E14365AF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8FB5E7-D2DE-65A6-7F11-AF4F4094F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36D609-3158-B332-EB60-C486A4613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05B9E5-BB7A-BA70-0541-DB0BFA527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C4AF-3DDC-47DD-84A2-490DE0893E5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8D7894-9622-4302-C0E5-386FE5D9E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67CA1A-C558-FFF5-CE8E-21A87BD7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02C7-2BF7-4FFB-91C7-1A8CF4DB19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487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77EA5A-47B1-A96A-8D95-F453A4E7C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DB08DB-8999-E1FA-B31E-74A47483F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6961E9-1818-B15E-0066-6F5758EEC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53F6562-A24D-1FB1-0EA0-A8979D36BD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AF497EA-362E-41A4-FFD9-8FA07853A7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4A3080-6A0D-D6F9-0401-E83BF8DEC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C4AF-3DDC-47DD-84A2-490DE0893E5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1A6A63B-80EB-36F9-4D13-57A27237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A61629-35C0-4E6A-8581-A342EAC20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02C7-2BF7-4FFB-91C7-1A8CF4DB19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240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98FD59-E94D-9E11-13E5-7B36EB901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E95012-4B97-8F94-932C-977BF5C06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C4AF-3DDC-47DD-84A2-490DE0893E5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B41ADE-36F5-2E67-9028-040B73E4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7437BD-6339-E5F2-2640-5AE54930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02C7-2BF7-4FFB-91C7-1A8CF4DB19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271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A9CACAE-8996-3600-C44D-0BFD332B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C4AF-3DDC-47DD-84A2-490DE0893E5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0E83465-2E8E-F35A-0FB1-4F9152017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3F535C-A801-40FB-C400-8B6DD6F93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02C7-2BF7-4FFB-91C7-1A8CF4DB19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250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44447-1853-08A9-1B19-9FF0901E8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262103-EECB-6DD9-C2C4-1B72FB984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A7B55C-FB4D-B244-39C7-3DB8DF1FD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2E185C-8E6E-5858-2797-196477F16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C4AF-3DDC-47DD-84A2-490DE0893E5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C68C97-0889-B517-2CA2-8D28E54F0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4051027-FFAB-5947-C3F6-921F5683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02C7-2BF7-4FFB-91C7-1A8CF4DB19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733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7D5C2-F1DC-8787-DD9B-012242587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E798C7D-87BC-37D7-4E1E-98E306B78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1F5DC1-F1B7-E893-58D9-3C4A322D3C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491753-9B9A-023F-7A6D-F5CA8F9BC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C4AF-3DDC-47DD-84A2-490DE0893E5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5D8E94-9608-A5E5-B033-13D9D84C2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AED953-DD44-8480-F323-B3A1CA68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02C7-2BF7-4FFB-91C7-1A8CF4DB19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097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DA3696-1C9D-3089-4C97-337C114A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EEF4CC-963B-38FD-65A0-686AD9230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0EEE83-0FCC-0472-BA87-5E232AD6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C4AF-3DDC-47DD-84A2-490DE0893E5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B8EF0D-A647-AA39-1E5E-D1522C31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8FC70B-0219-4D5F-8B1B-6034E03A5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02C7-2BF7-4FFB-91C7-1A8CF4DB19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507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83A1F89-454B-C425-E42E-B99BCF3779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1DE977B-DED0-38B6-ED4E-06ECDA0A0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BE688B-5A33-D19D-EC9E-B035F5C5F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5C4AF-3DDC-47DD-84A2-490DE0893E5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FA9E1A-D09A-9A44-01D9-82CCA369B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11CF1B-98D4-F135-9D4C-8026BA07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A02C7-2BF7-4FFB-91C7-1A8CF4DB19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7890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2227A7-1DBD-D3D7-D527-BA5AE7AC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C2A681-C108-DF4D-4D46-E1A63991D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4B012F-FAC4-77DE-897A-B368AE728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5C4AF-3DDC-47DD-84A2-490DE0893E50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EF453E-F215-969B-7718-0071F4751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7B2482-4003-303A-8C35-FEA692627B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8A02C7-2BF7-4FFB-91C7-1A8CF4DB19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29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B4BA54-57FB-E3F1-B52F-78317A9D4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zh-CN" altLang="en-US" dirty="0"/>
              <a:t>基于拓扑感知分区和自适应路由</a:t>
            </a:r>
            <a:br>
              <a:rPr lang="en-US" altLang="zh-CN" dirty="0"/>
            </a:br>
            <a:r>
              <a:rPr lang="zh-CN" altLang="en-US" dirty="0"/>
              <a:t>的拓展分布式向量搜索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4D0896-F49D-A5C3-90BF-883C8C1A5A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董若扬</a:t>
            </a:r>
          </a:p>
        </p:txBody>
      </p:sp>
      <p:pic>
        <p:nvPicPr>
          <p:cNvPr id="4" name="Picture 2" descr="“USTC”的图片搜索结果">
            <a:extLst>
              <a:ext uri="{FF2B5EF4-FFF2-40B4-BE49-F238E27FC236}">
                <a16:creationId xmlns:a16="http://schemas.microsoft.com/office/drawing/2014/main" id="{B2CC2BAE-DEF1-D04D-6CE2-B3087030C595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729" y="5200074"/>
            <a:ext cx="4392539" cy="73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585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3E8C1E-7091-1C48-F01F-10E9AA499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研究概览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E68F18-3563-79B1-9A8A-A95DAA4D4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+mn-ea"/>
              </a:rPr>
              <a:t>研究背景</a:t>
            </a:r>
            <a:endParaRPr lang="en-US" altLang="zh-CN" sz="2800" dirty="0">
              <a:latin typeface="+mn-ea"/>
            </a:endParaRPr>
          </a:p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研究内容</a:t>
            </a:r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实验</a:t>
            </a:r>
            <a:endParaRPr lang="zh-CN" altLang="en-US" sz="28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6B9A6B-B8B7-7EB4-10F9-046BC392A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3114-2061-4842-97A6-B5DACC79B906}" type="datetime1">
              <a:rPr lang="zh-CN" altLang="en-US" smtClean="0"/>
              <a:t>2026/7/13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185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2EC47-D103-63CE-E381-D0195DA82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zh-CN" dirty="0"/>
              <a:t>HNSW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4D515A-FE1B-E3D3-F8F5-B7C7FB90F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0" dirty="0">
                <a:solidFill>
                  <a:srgbClr val="3D3D3D"/>
                </a:solidFill>
                <a:latin typeface="Noto Sans CJK SC"/>
              </a:rPr>
              <a:t>HNSW</a:t>
            </a:r>
            <a:r>
              <a:rPr lang="zh-CN" altLang="en-US" b="0" dirty="0">
                <a:solidFill>
                  <a:srgbClr val="3D3D3D"/>
                </a:solidFill>
                <a:latin typeface="Noto Sans CJK SC"/>
              </a:rPr>
              <a:t>（</a:t>
            </a:r>
            <a:r>
              <a:rPr lang="en-US" altLang="zh-CN" b="0" dirty="0">
                <a:solidFill>
                  <a:srgbClr val="3D3D3D"/>
                </a:solidFill>
                <a:latin typeface="Noto Sans CJK SC"/>
              </a:rPr>
              <a:t>Hierarchy Navigable Small World</a:t>
            </a:r>
            <a:r>
              <a:rPr lang="zh-CN" altLang="en-US" b="0" dirty="0">
                <a:solidFill>
                  <a:srgbClr val="3D3D3D"/>
                </a:solidFill>
                <a:latin typeface="Noto Sans CJK SC"/>
              </a:rPr>
              <a:t>）是高召回，低时延的代表解决方案。</a:t>
            </a:r>
            <a:endParaRPr lang="en-US" altLang="zh-CN" b="0" dirty="0">
              <a:solidFill>
                <a:srgbClr val="3D3D3D"/>
              </a:solidFill>
              <a:latin typeface="Noto Sans CJK SC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b="0" dirty="0">
                <a:solidFill>
                  <a:srgbClr val="3D3D3D"/>
                </a:solidFill>
                <a:latin typeface="Noto Sans CJK SC"/>
              </a:rPr>
              <a:t>不是</a:t>
            </a:r>
            <a:r>
              <a:rPr lang="en-US" altLang="zh-CN" b="0" dirty="0">
                <a:solidFill>
                  <a:srgbClr val="3D3D3D"/>
                </a:solidFill>
                <a:latin typeface="Noto Sans CJK SC"/>
              </a:rPr>
              <a:t>KNN</a:t>
            </a:r>
            <a:r>
              <a:rPr lang="zh-CN" altLang="en-US" b="0" dirty="0">
                <a:solidFill>
                  <a:srgbClr val="3D3D3D"/>
                </a:solidFill>
                <a:latin typeface="Noto Sans CJK SC"/>
              </a:rPr>
              <a:t>图，同时包含短边和长边连接</a:t>
            </a:r>
            <a:endParaRPr lang="en-US" altLang="zh-CN" b="0" dirty="0">
              <a:solidFill>
                <a:srgbClr val="3D3D3D"/>
              </a:solidFill>
              <a:latin typeface="Noto Sans CJK SC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b="0" dirty="0">
                <a:solidFill>
                  <a:srgbClr val="3D3D3D"/>
                </a:solidFill>
                <a:latin typeface="Noto Sans CJK SC"/>
              </a:rPr>
              <a:t>形式上是分层图，</a:t>
            </a:r>
            <a:r>
              <a:rPr lang="zh-CN" altLang="en-US" b="0" dirty="0">
                <a:solidFill>
                  <a:srgbClr val="C00000"/>
                </a:solidFill>
                <a:latin typeface="Noto Sans CJK SC"/>
              </a:rPr>
              <a:t>上层的点会在其所有下层中出现</a:t>
            </a:r>
            <a:endParaRPr lang="en-US" altLang="zh-CN" b="0" dirty="0">
              <a:solidFill>
                <a:srgbClr val="C00000"/>
              </a:solidFill>
              <a:latin typeface="Noto Sans CJK SC"/>
            </a:endParaRPr>
          </a:p>
          <a:p>
            <a:pPr lvl="1"/>
            <a:r>
              <a:rPr lang="zh-CN" altLang="en-US" b="0" dirty="0">
                <a:solidFill>
                  <a:srgbClr val="3D3D3D"/>
                </a:solidFill>
                <a:latin typeface="Noto Sans CJK SC"/>
              </a:rPr>
              <a:t>上层稀疏，快速接近</a:t>
            </a:r>
            <a:r>
              <a:rPr lang="en-US" altLang="zh-CN" b="0" dirty="0">
                <a:solidFill>
                  <a:srgbClr val="3D3D3D"/>
                </a:solidFill>
                <a:latin typeface="Noto Sans CJK SC"/>
              </a:rPr>
              <a:t>query</a:t>
            </a:r>
          </a:p>
          <a:p>
            <a:pPr lvl="1"/>
            <a:r>
              <a:rPr lang="zh-CN" altLang="en-US" b="0" dirty="0">
                <a:solidFill>
                  <a:srgbClr val="3D3D3D"/>
                </a:solidFill>
                <a:latin typeface="Noto Sans CJK SC"/>
              </a:rPr>
              <a:t>下层稠密，保证高召回</a:t>
            </a:r>
            <a:endParaRPr lang="en-US" altLang="zh-CN" b="0" dirty="0">
              <a:solidFill>
                <a:srgbClr val="3D3D3D"/>
              </a:solidFill>
              <a:latin typeface="Noto Sans CJK SC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b="0" dirty="0">
                <a:solidFill>
                  <a:srgbClr val="3D3D3D"/>
                </a:solidFill>
                <a:latin typeface="Noto Sans CJK SC"/>
              </a:rPr>
              <a:t>性能</a:t>
            </a:r>
            <a:r>
              <a:rPr lang="zh-CN" altLang="en-US" b="0" dirty="0">
                <a:solidFill>
                  <a:srgbClr val="FF0000"/>
                </a:solidFill>
                <a:latin typeface="Noto Sans CJK SC"/>
              </a:rPr>
              <a:t>依赖内存</a:t>
            </a:r>
            <a:r>
              <a:rPr lang="zh-CN" altLang="en-US" b="0" dirty="0">
                <a:solidFill>
                  <a:srgbClr val="3D3D3D"/>
                </a:solidFill>
                <a:latin typeface="Noto Sans CJK SC"/>
              </a:rPr>
              <a:t>高频访问特性</a:t>
            </a:r>
            <a:endParaRPr lang="en-US" altLang="zh-CN" b="0" dirty="0">
              <a:solidFill>
                <a:srgbClr val="3D3D3D"/>
              </a:solidFill>
              <a:latin typeface="Noto Sans CJK SC"/>
            </a:endParaRPr>
          </a:p>
          <a:p>
            <a:pPr lvl="1"/>
            <a:r>
              <a:rPr lang="zh-CN" altLang="en-US" b="0" dirty="0">
                <a:solidFill>
                  <a:srgbClr val="3D3D3D"/>
                </a:solidFill>
                <a:latin typeface="Noto Sans CJK SC"/>
              </a:rPr>
              <a:t>图索引粒度小，</a:t>
            </a:r>
            <a:r>
              <a:rPr lang="zh-CN" altLang="en-US" b="0" dirty="0">
                <a:solidFill>
                  <a:srgbClr val="C00000"/>
                </a:solidFill>
                <a:latin typeface="Noto Sans CJK SC"/>
              </a:rPr>
              <a:t>随机</a:t>
            </a:r>
            <a:r>
              <a:rPr lang="en-US" altLang="zh-CN" b="0" dirty="0">
                <a:solidFill>
                  <a:srgbClr val="C00000"/>
                </a:solidFill>
                <a:latin typeface="Noto Sans CJK SC"/>
              </a:rPr>
              <a:t>I/O</a:t>
            </a:r>
            <a:r>
              <a:rPr lang="zh-CN" altLang="en-US" b="0" dirty="0">
                <a:solidFill>
                  <a:srgbClr val="3D3D3D"/>
                </a:solidFill>
                <a:latin typeface="Noto Sans CJK SC"/>
              </a:rPr>
              <a:t>占主导</a:t>
            </a:r>
            <a:endParaRPr lang="en-US" altLang="zh-CN" b="0" dirty="0">
              <a:solidFill>
                <a:srgbClr val="3D3D3D"/>
              </a:solidFill>
              <a:latin typeface="Noto Sans CJK SC"/>
            </a:endParaRPr>
          </a:p>
          <a:p>
            <a:pPr lvl="1"/>
            <a:r>
              <a:rPr lang="zh-CN" altLang="en-US" b="0" dirty="0">
                <a:solidFill>
                  <a:srgbClr val="3D3D3D"/>
                </a:solidFill>
                <a:latin typeface="Noto Sans CJK SC"/>
              </a:rPr>
              <a:t>邻居存放位置随机，</a:t>
            </a:r>
            <a:r>
              <a:rPr lang="zh-CN" altLang="en-US" b="0" dirty="0">
                <a:solidFill>
                  <a:srgbClr val="C00000"/>
                </a:solidFill>
                <a:latin typeface="Noto Sans CJK SC"/>
              </a:rPr>
              <a:t>局部性差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5DCF2C-2621-64CD-F87A-BEEF7E594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3114-2061-4842-97A6-B5DACC79B906}" type="datetime1">
              <a:rPr lang="zh-CN" altLang="en-US" smtClean="0"/>
              <a:t>2026/7/13</a:t>
            </a:fld>
            <a:endParaRPr lang="zh-CN" altLang="en-US"/>
          </a:p>
        </p:txBody>
      </p:sp>
      <p:pic>
        <p:nvPicPr>
          <p:cNvPr id="10" name="Picture 2" descr="Similarity Search, Part 4: Hierarchical Navigable Small World (HNSW) |  Towards Data Science">
            <a:extLst>
              <a:ext uri="{FF2B5EF4-FFF2-40B4-BE49-F238E27FC236}">
                <a16:creationId xmlns:a16="http://schemas.microsoft.com/office/drawing/2014/main" id="{B9D1C1DD-0EFC-D12D-684A-14C7D71A0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0" y="3429000"/>
            <a:ext cx="4610100" cy="2726403"/>
          </a:xfrm>
          <a:prstGeom prst="rect">
            <a:avLst/>
          </a:prstGeom>
          <a:noFill/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1B3E17E-2FBC-AFC7-46E9-903FC52FB9D1}"/>
              </a:ext>
            </a:extLst>
          </p:cNvPr>
          <p:cNvSpPr txBox="1"/>
          <p:nvPr/>
        </p:nvSpPr>
        <p:spPr>
          <a:xfrm>
            <a:off x="8039499" y="6155403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HNSW</a:t>
            </a:r>
            <a:r>
              <a:rPr lang="zh-CN" altLang="en-US" dirty="0"/>
              <a:t>架构示意图</a:t>
            </a:r>
          </a:p>
        </p:txBody>
      </p:sp>
    </p:spTree>
    <p:extLst>
      <p:ext uri="{BB962C8B-B14F-4D97-AF65-F5344CB8AC3E}">
        <p14:creationId xmlns:p14="http://schemas.microsoft.com/office/powerpoint/2010/main" val="1130684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84832-F5E4-8CF0-4633-28CBFBF0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24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dirty="0"/>
              <a:t>分布式图索引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AE2AA0-7179-ADB9-AC02-2E6EEC0FA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1631"/>
            <a:ext cx="10515600" cy="4963126"/>
          </a:xfrm>
          <a:noFill/>
          <a:ln w="19050">
            <a:noFill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数据规模增长使单机内存难以承载完整索引，因而向</a:t>
            </a:r>
            <a:r>
              <a:rPr lang="en-US" altLang="zh-CN" sz="2400" dirty="0">
                <a:solidFill>
                  <a:srgbClr val="C00000"/>
                </a:solidFill>
              </a:rPr>
              <a:t>scatter-gather</a:t>
            </a:r>
            <a:r>
              <a:rPr lang="zh-CN" altLang="en-US" sz="2400" dirty="0">
                <a:solidFill>
                  <a:srgbClr val="C00000"/>
                </a:solidFill>
              </a:rPr>
              <a:t>架构转变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6EAEF6-9FE6-96FE-B555-2526FFDD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3114-2061-4842-97A6-B5DACC79B906}" type="datetime1">
              <a:rPr lang="zh-CN" altLang="en-US" smtClean="0"/>
              <a:t>2026/7/13</a:t>
            </a:fld>
            <a:endParaRPr lang="zh-CN" altLang="en-US"/>
          </a:p>
        </p:txBody>
      </p: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79C4619A-0307-308D-D1F8-E8FEEF4B2CAB}"/>
              </a:ext>
            </a:extLst>
          </p:cNvPr>
          <p:cNvGrpSpPr/>
          <p:nvPr/>
        </p:nvGrpSpPr>
        <p:grpSpPr>
          <a:xfrm>
            <a:off x="6431506" y="2022129"/>
            <a:ext cx="3360160" cy="1738604"/>
            <a:chOff x="4484583" y="4065734"/>
            <a:chExt cx="3360160" cy="1738604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1D8044B1-716D-5C95-F528-9FEA3FE0F7E3}"/>
                </a:ext>
              </a:extLst>
            </p:cNvPr>
            <p:cNvGrpSpPr/>
            <p:nvPr/>
          </p:nvGrpSpPr>
          <p:grpSpPr>
            <a:xfrm>
              <a:off x="4484583" y="4649466"/>
              <a:ext cx="3360160" cy="1154872"/>
              <a:chOff x="1595280" y="1889760"/>
              <a:chExt cx="4705781" cy="1617356"/>
            </a:xfrm>
          </p:grpSpPr>
          <p:sp>
            <p:nvSpPr>
              <p:cNvPr id="33" name="圆柱体 32">
                <a:extLst>
                  <a:ext uri="{FF2B5EF4-FFF2-40B4-BE49-F238E27FC236}">
                    <a16:creationId xmlns:a16="http://schemas.microsoft.com/office/drawing/2014/main" id="{1570A593-2AC3-3BA0-3A79-61D0E438C38E}"/>
                  </a:ext>
                </a:extLst>
              </p:cNvPr>
              <p:cNvSpPr/>
              <p:nvPr/>
            </p:nvSpPr>
            <p:spPr>
              <a:xfrm>
                <a:off x="4903294" y="1889760"/>
                <a:ext cx="1397767" cy="1617356"/>
              </a:xfrm>
              <a:prstGeom prst="can">
                <a:avLst>
                  <a:gd name="adj" fmla="val 916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圆柱体 33">
                <a:extLst>
                  <a:ext uri="{FF2B5EF4-FFF2-40B4-BE49-F238E27FC236}">
                    <a16:creationId xmlns:a16="http://schemas.microsoft.com/office/drawing/2014/main" id="{06395B65-500F-D78C-1741-FCC403103FCA}"/>
                  </a:ext>
                </a:extLst>
              </p:cNvPr>
              <p:cNvSpPr/>
              <p:nvPr/>
            </p:nvSpPr>
            <p:spPr>
              <a:xfrm>
                <a:off x="3247754" y="1889760"/>
                <a:ext cx="1397767" cy="1617356"/>
              </a:xfrm>
              <a:prstGeom prst="can">
                <a:avLst>
                  <a:gd name="adj" fmla="val 916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圆柱体 34">
                <a:extLst>
                  <a:ext uri="{FF2B5EF4-FFF2-40B4-BE49-F238E27FC236}">
                    <a16:creationId xmlns:a16="http://schemas.microsoft.com/office/drawing/2014/main" id="{7EA99F38-9A3C-179F-E99F-5DC760EB254B}"/>
                  </a:ext>
                </a:extLst>
              </p:cNvPr>
              <p:cNvSpPr/>
              <p:nvPr/>
            </p:nvSpPr>
            <p:spPr>
              <a:xfrm>
                <a:off x="1595280" y="1889760"/>
                <a:ext cx="1397767" cy="1617356"/>
              </a:xfrm>
              <a:prstGeom prst="can">
                <a:avLst>
                  <a:gd name="adj" fmla="val 9165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A54F205C-B1F1-33D2-2506-56E71BE7875C}"/>
                  </a:ext>
                </a:extLst>
              </p:cNvPr>
              <p:cNvSpPr/>
              <p:nvPr/>
            </p:nvSpPr>
            <p:spPr>
              <a:xfrm>
                <a:off x="1950720" y="2360023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5A58EC08-20B2-E1AF-B637-6A19C46367C1}"/>
                  </a:ext>
                </a:extLst>
              </p:cNvPr>
              <p:cNvSpPr/>
              <p:nvPr/>
            </p:nvSpPr>
            <p:spPr>
              <a:xfrm>
                <a:off x="1711234" y="3098074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08C987B0-5753-B617-05A4-491C8651860F}"/>
                  </a:ext>
                </a:extLst>
              </p:cNvPr>
              <p:cNvSpPr/>
              <p:nvPr/>
            </p:nvSpPr>
            <p:spPr>
              <a:xfrm>
                <a:off x="2538549" y="2767148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9EB49242-C34D-2E1B-5B3B-AF815F7168BF}"/>
                  </a:ext>
                </a:extLst>
              </p:cNvPr>
              <p:cNvSpPr/>
              <p:nvPr/>
            </p:nvSpPr>
            <p:spPr>
              <a:xfrm>
                <a:off x="3275510" y="2447108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E5E61295-BF76-F369-5476-6978DCEF2883}"/>
                  </a:ext>
                </a:extLst>
              </p:cNvPr>
              <p:cNvSpPr/>
              <p:nvPr/>
            </p:nvSpPr>
            <p:spPr>
              <a:xfrm>
                <a:off x="3962399" y="2105296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CB7C320E-AF97-AF75-0F25-82D5515A9700}"/>
                  </a:ext>
                </a:extLst>
              </p:cNvPr>
              <p:cNvSpPr/>
              <p:nvPr/>
            </p:nvSpPr>
            <p:spPr>
              <a:xfrm>
                <a:off x="3732711" y="3139440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6603F21D-0215-B48A-2664-257790B7ABD5}"/>
                  </a:ext>
                </a:extLst>
              </p:cNvPr>
              <p:cNvSpPr/>
              <p:nvPr/>
            </p:nvSpPr>
            <p:spPr>
              <a:xfrm>
                <a:off x="4293325" y="2719251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48D16948-EDC6-4CFD-35E7-BE31BF38F040}"/>
                  </a:ext>
                </a:extLst>
              </p:cNvPr>
              <p:cNvSpPr/>
              <p:nvPr/>
            </p:nvSpPr>
            <p:spPr>
              <a:xfrm>
                <a:off x="5044998" y="2208711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ED4EC9CD-A27D-83EF-4AA2-C761495F7198}"/>
                  </a:ext>
                </a:extLst>
              </p:cNvPr>
              <p:cNvSpPr/>
              <p:nvPr/>
            </p:nvSpPr>
            <p:spPr>
              <a:xfrm>
                <a:off x="5928184" y="2448196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5BD7C8E8-F4B1-94C3-573C-C268B5D3460A}"/>
                  </a:ext>
                </a:extLst>
              </p:cNvPr>
              <p:cNvSpPr/>
              <p:nvPr/>
            </p:nvSpPr>
            <p:spPr>
              <a:xfrm>
                <a:off x="5255662" y="2851512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2E4847B8-5C41-A40E-FCE9-69A04F09ADCE}"/>
                  </a:ext>
                </a:extLst>
              </p:cNvPr>
              <p:cNvCxnSpPr>
                <a:stCxn id="36" idx="3"/>
                <a:endCxn id="37" idx="0"/>
              </p:cNvCxnSpPr>
              <p:nvPr/>
            </p:nvCxnSpPr>
            <p:spPr>
              <a:xfrm flipH="1">
                <a:off x="1876697" y="2642486"/>
                <a:ext cx="122486" cy="455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5B41E349-0291-4A86-883F-00571A06C58C}"/>
                  </a:ext>
                </a:extLst>
              </p:cNvPr>
              <p:cNvCxnSpPr>
                <a:stCxn id="37" idx="7"/>
                <a:endCxn id="38" idx="2"/>
              </p:cNvCxnSpPr>
              <p:nvPr/>
            </p:nvCxnSpPr>
            <p:spPr>
              <a:xfrm flipV="1">
                <a:off x="1993697" y="2932611"/>
                <a:ext cx="544852" cy="21392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6ACBE6E0-8AC0-61A6-E0F7-675887847379}"/>
                  </a:ext>
                </a:extLst>
              </p:cNvPr>
              <p:cNvCxnSpPr>
                <a:stCxn id="39" idx="5"/>
                <a:endCxn id="41" idx="0"/>
              </p:cNvCxnSpPr>
              <p:nvPr/>
            </p:nvCxnSpPr>
            <p:spPr>
              <a:xfrm>
                <a:off x="3557973" y="2729571"/>
                <a:ext cx="223201" cy="458332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E198E8B9-6D24-4AD3-3A6F-C9DE845024DD}"/>
                  </a:ext>
                </a:extLst>
              </p:cNvPr>
              <p:cNvCxnSpPr>
                <a:stCxn id="41" idx="7"/>
                <a:endCxn id="42" idx="3"/>
              </p:cNvCxnSpPr>
              <p:nvPr/>
            </p:nvCxnSpPr>
            <p:spPr>
              <a:xfrm flipV="1">
                <a:off x="4015174" y="3001714"/>
                <a:ext cx="326614" cy="18618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C4CA9E49-2920-AD32-C81D-79E0D0169C64}"/>
                  </a:ext>
                </a:extLst>
              </p:cNvPr>
              <p:cNvCxnSpPr>
                <a:cxnSpLocks/>
                <a:stCxn id="43" idx="6"/>
                <a:endCxn id="44" idx="2"/>
              </p:cNvCxnSpPr>
              <p:nvPr/>
            </p:nvCxnSpPr>
            <p:spPr>
              <a:xfrm>
                <a:off x="5375924" y="2374174"/>
                <a:ext cx="552260" cy="239485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89B44CFF-E671-9C97-2E0D-876A153338BE}"/>
                  </a:ext>
                </a:extLst>
              </p:cNvPr>
              <p:cNvCxnSpPr>
                <a:stCxn id="43" idx="4"/>
                <a:endCxn id="45" idx="1"/>
              </p:cNvCxnSpPr>
              <p:nvPr/>
            </p:nvCxnSpPr>
            <p:spPr>
              <a:xfrm>
                <a:off x="5210461" y="2539637"/>
                <a:ext cx="93664" cy="360338"/>
              </a:xfrm>
              <a:prstGeom prst="line">
                <a:avLst/>
              </a:prstGeom>
              <a:ln w="19050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A85B7CDE-B566-39CC-A8A5-A1A06F74098F}"/>
                  </a:ext>
                </a:extLst>
              </p:cNvPr>
              <p:cNvCxnSpPr>
                <a:stCxn id="45" idx="7"/>
                <a:endCxn id="44" idx="3"/>
              </p:cNvCxnSpPr>
              <p:nvPr/>
            </p:nvCxnSpPr>
            <p:spPr>
              <a:xfrm flipV="1">
                <a:off x="5538125" y="2730659"/>
                <a:ext cx="438522" cy="169316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12840F62-E2DE-0C66-9C1F-78AD282A7000}"/>
                  </a:ext>
                </a:extLst>
              </p:cNvPr>
              <p:cNvCxnSpPr>
                <a:stCxn id="36" idx="6"/>
                <a:endCxn id="38" idx="1"/>
              </p:cNvCxnSpPr>
              <p:nvPr/>
            </p:nvCxnSpPr>
            <p:spPr>
              <a:xfrm>
                <a:off x="2281646" y="2525486"/>
                <a:ext cx="305366" cy="2901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8671D8E6-F00A-5CE1-83FB-3FEF431A7791}"/>
                  </a:ext>
                </a:extLst>
              </p:cNvPr>
              <p:cNvCxnSpPr>
                <a:stCxn id="40" idx="5"/>
                <a:endCxn id="42" idx="0"/>
              </p:cNvCxnSpPr>
              <p:nvPr/>
            </p:nvCxnSpPr>
            <p:spPr>
              <a:xfrm>
                <a:off x="4244862" y="2387759"/>
                <a:ext cx="213926" cy="33149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1FA4FC25-ED39-E9E3-28AF-0BA035B7EC05}"/>
                  </a:ext>
                </a:extLst>
              </p:cNvPr>
              <p:cNvCxnSpPr>
                <a:stCxn id="39" idx="6"/>
                <a:endCxn id="42" idx="1"/>
              </p:cNvCxnSpPr>
              <p:nvPr/>
            </p:nvCxnSpPr>
            <p:spPr>
              <a:xfrm>
                <a:off x="3606436" y="2612571"/>
                <a:ext cx="735352" cy="15514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34F579D2-F199-A337-47D2-66832DA4740D}"/>
                </a:ext>
              </a:extLst>
            </p:cNvPr>
            <p:cNvGrpSpPr/>
            <p:nvPr/>
          </p:nvGrpSpPr>
          <p:grpSpPr>
            <a:xfrm>
              <a:off x="4517076" y="4065734"/>
              <a:ext cx="3287444" cy="654092"/>
              <a:chOff x="1602377" y="2011680"/>
              <a:chExt cx="4781006" cy="1584960"/>
            </a:xfrm>
            <a:solidFill>
              <a:schemeClr val="bg2">
                <a:lumMod val="75000"/>
              </a:schemeClr>
            </a:solidFill>
            <a:scene3d>
              <a:camera prst="perspectiveRelaxed"/>
              <a:lightRig rig="threePt" dir="t"/>
            </a:scene3d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F4331890-EB57-9E61-C7A2-59C23BE806C4}"/>
                  </a:ext>
                </a:extLst>
              </p:cNvPr>
              <p:cNvSpPr/>
              <p:nvPr/>
            </p:nvSpPr>
            <p:spPr>
              <a:xfrm>
                <a:off x="1602377" y="2011680"/>
                <a:ext cx="4781006" cy="158496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D77673DD-2783-F98D-CDB7-AC2F5D156BDF}"/>
                  </a:ext>
                </a:extLst>
              </p:cNvPr>
              <p:cNvSpPr/>
              <p:nvPr/>
            </p:nvSpPr>
            <p:spPr>
              <a:xfrm>
                <a:off x="1950720" y="2360023"/>
                <a:ext cx="330926" cy="33092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C73A3547-A35C-108F-6D33-980BC28D2F2C}"/>
                  </a:ext>
                </a:extLst>
              </p:cNvPr>
              <p:cNvSpPr/>
              <p:nvPr/>
            </p:nvSpPr>
            <p:spPr>
              <a:xfrm>
                <a:off x="1711234" y="3098074"/>
                <a:ext cx="330926" cy="33092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5425B00F-28A8-D33F-769C-3B1E0F68D238}"/>
                  </a:ext>
                </a:extLst>
              </p:cNvPr>
              <p:cNvSpPr/>
              <p:nvPr/>
            </p:nvSpPr>
            <p:spPr>
              <a:xfrm>
                <a:off x="2538549" y="2767148"/>
                <a:ext cx="330926" cy="33092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椭圆 109">
                <a:extLst>
                  <a:ext uri="{FF2B5EF4-FFF2-40B4-BE49-F238E27FC236}">
                    <a16:creationId xmlns:a16="http://schemas.microsoft.com/office/drawing/2014/main" id="{7287B849-C465-0C1E-6EEB-46DA48B84A17}"/>
                  </a:ext>
                </a:extLst>
              </p:cNvPr>
              <p:cNvSpPr/>
              <p:nvPr/>
            </p:nvSpPr>
            <p:spPr>
              <a:xfrm>
                <a:off x="3275510" y="2447108"/>
                <a:ext cx="330926" cy="33092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椭圆 110">
                <a:extLst>
                  <a:ext uri="{FF2B5EF4-FFF2-40B4-BE49-F238E27FC236}">
                    <a16:creationId xmlns:a16="http://schemas.microsoft.com/office/drawing/2014/main" id="{1A2C84B9-51C3-2A8D-EAD6-31442552C897}"/>
                  </a:ext>
                </a:extLst>
              </p:cNvPr>
              <p:cNvSpPr/>
              <p:nvPr/>
            </p:nvSpPr>
            <p:spPr>
              <a:xfrm>
                <a:off x="3962399" y="2105296"/>
                <a:ext cx="330926" cy="33092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椭圆 111">
                <a:extLst>
                  <a:ext uri="{FF2B5EF4-FFF2-40B4-BE49-F238E27FC236}">
                    <a16:creationId xmlns:a16="http://schemas.microsoft.com/office/drawing/2014/main" id="{A865FD14-EFC8-4EDF-1882-C4DFB8DA178C}"/>
                  </a:ext>
                </a:extLst>
              </p:cNvPr>
              <p:cNvSpPr/>
              <p:nvPr/>
            </p:nvSpPr>
            <p:spPr>
              <a:xfrm>
                <a:off x="3732711" y="3139440"/>
                <a:ext cx="330926" cy="33092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C46353D4-186C-A42B-0948-DAD6768A7436}"/>
                  </a:ext>
                </a:extLst>
              </p:cNvPr>
              <p:cNvSpPr/>
              <p:nvPr/>
            </p:nvSpPr>
            <p:spPr>
              <a:xfrm>
                <a:off x="4293325" y="2719251"/>
                <a:ext cx="330926" cy="33092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1335329F-E6B1-C8B6-AC34-A1677378C603}"/>
                  </a:ext>
                </a:extLst>
              </p:cNvPr>
              <p:cNvSpPr/>
              <p:nvPr/>
            </p:nvSpPr>
            <p:spPr>
              <a:xfrm>
                <a:off x="5044998" y="2208711"/>
                <a:ext cx="330926" cy="33092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45BA75D1-C78D-61A0-9081-ABF6E5CF4666}"/>
                  </a:ext>
                </a:extLst>
              </p:cNvPr>
              <p:cNvSpPr/>
              <p:nvPr/>
            </p:nvSpPr>
            <p:spPr>
              <a:xfrm>
                <a:off x="5928184" y="2448196"/>
                <a:ext cx="330926" cy="33092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9AD265AC-DC06-A1A8-398D-1C7CC7544CFE}"/>
                  </a:ext>
                </a:extLst>
              </p:cNvPr>
              <p:cNvSpPr/>
              <p:nvPr/>
            </p:nvSpPr>
            <p:spPr>
              <a:xfrm>
                <a:off x="5255662" y="2851512"/>
                <a:ext cx="330926" cy="330926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17" name="星形: 五角 116">
              <a:extLst>
                <a:ext uri="{FF2B5EF4-FFF2-40B4-BE49-F238E27FC236}">
                  <a16:creationId xmlns:a16="http://schemas.microsoft.com/office/drawing/2014/main" id="{B54C3ED6-5570-B7BE-3A51-9D9ADCE10108}"/>
                </a:ext>
              </a:extLst>
            </p:cNvPr>
            <p:cNvSpPr/>
            <p:nvPr/>
          </p:nvSpPr>
          <p:spPr>
            <a:xfrm>
              <a:off x="7277448" y="4266550"/>
              <a:ext cx="144598" cy="144598"/>
            </a:xfrm>
            <a:prstGeom prst="star5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505C634F-D528-47AD-9E9C-7063197E013D}"/>
              </a:ext>
            </a:extLst>
          </p:cNvPr>
          <p:cNvGrpSpPr/>
          <p:nvPr/>
        </p:nvGrpSpPr>
        <p:grpSpPr>
          <a:xfrm>
            <a:off x="2384779" y="1900577"/>
            <a:ext cx="3126746" cy="2441975"/>
            <a:chOff x="1004341" y="1889793"/>
            <a:chExt cx="3260661" cy="2546562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A03B2CFE-8377-3669-BE5E-C792F6EEED7C}"/>
                </a:ext>
              </a:extLst>
            </p:cNvPr>
            <p:cNvGrpSpPr/>
            <p:nvPr/>
          </p:nvGrpSpPr>
          <p:grpSpPr>
            <a:xfrm>
              <a:off x="1004341" y="1889793"/>
              <a:ext cx="3260661" cy="2546562"/>
              <a:chOff x="1602377" y="2011680"/>
              <a:chExt cx="4781006" cy="3427279"/>
            </a:xfrm>
          </p:grpSpPr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D029A168-C7B4-9932-389F-480E19C87AF9}"/>
                  </a:ext>
                </a:extLst>
              </p:cNvPr>
              <p:cNvGrpSpPr/>
              <p:nvPr/>
            </p:nvGrpSpPr>
            <p:grpSpPr>
              <a:xfrm>
                <a:off x="1602377" y="2011680"/>
                <a:ext cx="4781006" cy="1584960"/>
                <a:chOff x="1602377" y="2011680"/>
                <a:chExt cx="4781006" cy="1584960"/>
              </a:xfrm>
              <a:solidFill>
                <a:schemeClr val="bg2">
                  <a:lumMod val="90000"/>
                </a:schemeClr>
              </a:solidFill>
              <a:scene3d>
                <a:camera prst="isometricOffAxis1Top"/>
                <a:lightRig rig="threePt" dir="t"/>
              </a:scene3d>
            </p:grpSpPr>
            <p:sp>
              <p:nvSpPr>
                <p:cNvPr id="82" name="矩形 81">
                  <a:extLst>
                    <a:ext uri="{FF2B5EF4-FFF2-40B4-BE49-F238E27FC236}">
                      <a16:creationId xmlns:a16="http://schemas.microsoft.com/office/drawing/2014/main" id="{6B167778-F90C-DB4C-211C-73ECF6B84F8B}"/>
                    </a:ext>
                  </a:extLst>
                </p:cNvPr>
                <p:cNvSpPr/>
                <p:nvPr/>
              </p:nvSpPr>
              <p:spPr>
                <a:xfrm>
                  <a:off x="1602377" y="2011680"/>
                  <a:ext cx="4781006" cy="158496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3" name="椭圆 82">
                  <a:extLst>
                    <a:ext uri="{FF2B5EF4-FFF2-40B4-BE49-F238E27FC236}">
                      <a16:creationId xmlns:a16="http://schemas.microsoft.com/office/drawing/2014/main" id="{D92E7D3E-5199-765F-E119-EECBDF33D6AF}"/>
                    </a:ext>
                  </a:extLst>
                </p:cNvPr>
                <p:cNvSpPr/>
                <p:nvPr/>
              </p:nvSpPr>
              <p:spPr>
                <a:xfrm>
                  <a:off x="1950720" y="2360023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4" name="椭圆 83">
                  <a:extLst>
                    <a:ext uri="{FF2B5EF4-FFF2-40B4-BE49-F238E27FC236}">
                      <a16:creationId xmlns:a16="http://schemas.microsoft.com/office/drawing/2014/main" id="{68842CFA-B069-A455-9FF3-7B500F1E61B7}"/>
                    </a:ext>
                  </a:extLst>
                </p:cNvPr>
                <p:cNvSpPr/>
                <p:nvPr/>
              </p:nvSpPr>
              <p:spPr>
                <a:xfrm>
                  <a:off x="1711234" y="3098074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5" name="椭圆 84">
                  <a:extLst>
                    <a:ext uri="{FF2B5EF4-FFF2-40B4-BE49-F238E27FC236}">
                      <a16:creationId xmlns:a16="http://schemas.microsoft.com/office/drawing/2014/main" id="{B6573A49-8BC8-4A40-12CD-18B9798479F9}"/>
                    </a:ext>
                  </a:extLst>
                </p:cNvPr>
                <p:cNvSpPr/>
                <p:nvPr/>
              </p:nvSpPr>
              <p:spPr>
                <a:xfrm>
                  <a:off x="2538549" y="2767148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6" name="椭圆 85">
                  <a:extLst>
                    <a:ext uri="{FF2B5EF4-FFF2-40B4-BE49-F238E27FC236}">
                      <a16:creationId xmlns:a16="http://schemas.microsoft.com/office/drawing/2014/main" id="{8507955B-8607-A22E-DA32-0A124EE2A9E4}"/>
                    </a:ext>
                  </a:extLst>
                </p:cNvPr>
                <p:cNvSpPr/>
                <p:nvPr/>
              </p:nvSpPr>
              <p:spPr>
                <a:xfrm>
                  <a:off x="3275510" y="2447108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7" name="椭圆 86">
                  <a:extLst>
                    <a:ext uri="{FF2B5EF4-FFF2-40B4-BE49-F238E27FC236}">
                      <a16:creationId xmlns:a16="http://schemas.microsoft.com/office/drawing/2014/main" id="{FEB7B6DA-DB1E-AC71-E0F5-AD16BBA3A321}"/>
                    </a:ext>
                  </a:extLst>
                </p:cNvPr>
                <p:cNvSpPr/>
                <p:nvPr/>
              </p:nvSpPr>
              <p:spPr>
                <a:xfrm>
                  <a:off x="3962399" y="2105296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8" name="椭圆 87">
                  <a:extLst>
                    <a:ext uri="{FF2B5EF4-FFF2-40B4-BE49-F238E27FC236}">
                      <a16:creationId xmlns:a16="http://schemas.microsoft.com/office/drawing/2014/main" id="{49FEA6B9-A571-158A-3681-3D85A5461559}"/>
                    </a:ext>
                  </a:extLst>
                </p:cNvPr>
                <p:cNvSpPr/>
                <p:nvPr/>
              </p:nvSpPr>
              <p:spPr>
                <a:xfrm>
                  <a:off x="3732711" y="3139440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9" name="椭圆 88">
                  <a:extLst>
                    <a:ext uri="{FF2B5EF4-FFF2-40B4-BE49-F238E27FC236}">
                      <a16:creationId xmlns:a16="http://schemas.microsoft.com/office/drawing/2014/main" id="{3EE6D96E-FAD9-DF8D-997B-36E9541B0AF7}"/>
                    </a:ext>
                  </a:extLst>
                </p:cNvPr>
                <p:cNvSpPr/>
                <p:nvPr/>
              </p:nvSpPr>
              <p:spPr>
                <a:xfrm>
                  <a:off x="4293325" y="2719251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0" name="椭圆 89">
                  <a:extLst>
                    <a:ext uri="{FF2B5EF4-FFF2-40B4-BE49-F238E27FC236}">
                      <a16:creationId xmlns:a16="http://schemas.microsoft.com/office/drawing/2014/main" id="{BA5A48B7-3ACC-06AF-1552-166D8F26E433}"/>
                    </a:ext>
                  </a:extLst>
                </p:cNvPr>
                <p:cNvSpPr/>
                <p:nvPr/>
              </p:nvSpPr>
              <p:spPr>
                <a:xfrm>
                  <a:off x="5044998" y="2208711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1" name="椭圆 90">
                  <a:extLst>
                    <a:ext uri="{FF2B5EF4-FFF2-40B4-BE49-F238E27FC236}">
                      <a16:creationId xmlns:a16="http://schemas.microsoft.com/office/drawing/2014/main" id="{333A0014-B7CA-F6CF-F568-A1C68A4CB2ED}"/>
                    </a:ext>
                  </a:extLst>
                </p:cNvPr>
                <p:cNvSpPr/>
                <p:nvPr/>
              </p:nvSpPr>
              <p:spPr>
                <a:xfrm>
                  <a:off x="5928184" y="2448196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2" name="椭圆 91">
                  <a:extLst>
                    <a:ext uri="{FF2B5EF4-FFF2-40B4-BE49-F238E27FC236}">
                      <a16:creationId xmlns:a16="http://schemas.microsoft.com/office/drawing/2014/main" id="{33E5B3DE-0375-81D1-71AE-1722ACFA6EA5}"/>
                    </a:ext>
                  </a:extLst>
                </p:cNvPr>
                <p:cNvSpPr/>
                <p:nvPr/>
              </p:nvSpPr>
              <p:spPr>
                <a:xfrm>
                  <a:off x="5255662" y="2851512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B1E78850-1332-E7F3-31FF-1D660432E339}"/>
                  </a:ext>
                </a:extLst>
              </p:cNvPr>
              <p:cNvGrpSpPr/>
              <p:nvPr/>
            </p:nvGrpSpPr>
            <p:grpSpPr>
              <a:xfrm>
                <a:off x="1602377" y="2631711"/>
                <a:ext cx="4781006" cy="1584960"/>
                <a:chOff x="1602377" y="2011680"/>
                <a:chExt cx="4781006" cy="1584960"/>
              </a:xfrm>
              <a:scene3d>
                <a:camera prst="isometricOffAxis1Top"/>
                <a:lightRig rig="threePt" dir="t"/>
              </a:scene3d>
            </p:grpSpPr>
            <p:sp>
              <p:nvSpPr>
                <p:cNvPr id="77" name="矩形 76">
                  <a:extLst>
                    <a:ext uri="{FF2B5EF4-FFF2-40B4-BE49-F238E27FC236}">
                      <a16:creationId xmlns:a16="http://schemas.microsoft.com/office/drawing/2014/main" id="{CF1CD412-808E-42F6-5610-60B0C1A4704A}"/>
                    </a:ext>
                  </a:extLst>
                </p:cNvPr>
                <p:cNvSpPr/>
                <p:nvPr/>
              </p:nvSpPr>
              <p:spPr>
                <a:xfrm>
                  <a:off x="1602377" y="2011680"/>
                  <a:ext cx="4781006" cy="1584960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8" name="椭圆 77">
                  <a:extLst>
                    <a:ext uri="{FF2B5EF4-FFF2-40B4-BE49-F238E27FC236}">
                      <a16:creationId xmlns:a16="http://schemas.microsoft.com/office/drawing/2014/main" id="{54907C1A-CE4D-6A5C-F8DC-41F8FF615316}"/>
                    </a:ext>
                  </a:extLst>
                </p:cNvPr>
                <p:cNvSpPr/>
                <p:nvPr/>
              </p:nvSpPr>
              <p:spPr>
                <a:xfrm>
                  <a:off x="1950720" y="2360023"/>
                  <a:ext cx="330926" cy="33092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9" name="椭圆 78">
                  <a:extLst>
                    <a:ext uri="{FF2B5EF4-FFF2-40B4-BE49-F238E27FC236}">
                      <a16:creationId xmlns:a16="http://schemas.microsoft.com/office/drawing/2014/main" id="{F030DA4F-5807-9C56-C04F-7872544EE847}"/>
                    </a:ext>
                  </a:extLst>
                </p:cNvPr>
                <p:cNvSpPr/>
                <p:nvPr/>
              </p:nvSpPr>
              <p:spPr>
                <a:xfrm>
                  <a:off x="1711234" y="3098074"/>
                  <a:ext cx="330926" cy="33092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0" name="椭圆 79">
                  <a:extLst>
                    <a:ext uri="{FF2B5EF4-FFF2-40B4-BE49-F238E27FC236}">
                      <a16:creationId xmlns:a16="http://schemas.microsoft.com/office/drawing/2014/main" id="{90341B8F-B42F-5C74-7BF5-D134108486F2}"/>
                    </a:ext>
                  </a:extLst>
                </p:cNvPr>
                <p:cNvSpPr/>
                <p:nvPr/>
              </p:nvSpPr>
              <p:spPr>
                <a:xfrm>
                  <a:off x="3732711" y="3139440"/>
                  <a:ext cx="330926" cy="33092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椭圆 80">
                  <a:extLst>
                    <a:ext uri="{FF2B5EF4-FFF2-40B4-BE49-F238E27FC236}">
                      <a16:creationId xmlns:a16="http://schemas.microsoft.com/office/drawing/2014/main" id="{4C60DEA0-3B84-5070-9FD0-D5BEFB251EC3}"/>
                    </a:ext>
                  </a:extLst>
                </p:cNvPr>
                <p:cNvSpPr/>
                <p:nvPr/>
              </p:nvSpPr>
              <p:spPr>
                <a:xfrm>
                  <a:off x="5044998" y="2208711"/>
                  <a:ext cx="330926" cy="33092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034A58F5-4EB2-A345-CE09-0099D5107CB7}"/>
                  </a:ext>
                </a:extLst>
              </p:cNvPr>
              <p:cNvGrpSpPr/>
              <p:nvPr/>
            </p:nvGrpSpPr>
            <p:grpSpPr>
              <a:xfrm>
                <a:off x="1602377" y="3242855"/>
                <a:ext cx="4781006" cy="1584960"/>
                <a:chOff x="1602377" y="2011680"/>
                <a:chExt cx="4781006" cy="1584960"/>
              </a:xfrm>
              <a:solidFill>
                <a:schemeClr val="accent1">
                  <a:lumMod val="20000"/>
                  <a:lumOff val="80000"/>
                </a:schemeClr>
              </a:solidFill>
              <a:scene3d>
                <a:camera prst="isometricOffAxis1Top"/>
                <a:lightRig rig="threePt" dir="t"/>
              </a:scene3d>
            </p:grpSpPr>
            <p:sp>
              <p:nvSpPr>
                <p:cNvPr id="73" name="矩形 72">
                  <a:extLst>
                    <a:ext uri="{FF2B5EF4-FFF2-40B4-BE49-F238E27FC236}">
                      <a16:creationId xmlns:a16="http://schemas.microsoft.com/office/drawing/2014/main" id="{B73ACF21-495D-0AAC-971B-9A8BF54A30AC}"/>
                    </a:ext>
                  </a:extLst>
                </p:cNvPr>
                <p:cNvSpPr/>
                <p:nvPr/>
              </p:nvSpPr>
              <p:spPr>
                <a:xfrm>
                  <a:off x="1602377" y="2011680"/>
                  <a:ext cx="4781006" cy="158496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>
                  <a:extLst>
                    <a:ext uri="{FF2B5EF4-FFF2-40B4-BE49-F238E27FC236}">
                      <a16:creationId xmlns:a16="http://schemas.microsoft.com/office/drawing/2014/main" id="{55F85652-EBA7-346C-C5A0-3C4A6F3E0BB8}"/>
                    </a:ext>
                  </a:extLst>
                </p:cNvPr>
                <p:cNvSpPr/>
                <p:nvPr/>
              </p:nvSpPr>
              <p:spPr>
                <a:xfrm>
                  <a:off x="3275510" y="2447108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椭圆 74">
                  <a:extLst>
                    <a:ext uri="{FF2B5EF4-FFF2-40B4-BE49-F238E27FC236}">
                      <a16:creationId xmlns:a16="http://schemas.microsoft.com/office/drawing/2014/main" id="{7E5EE02B-2ECD-9283-5F77-848958646ADE}"/>
                    </a:ext>
                  </a:extLst>
                </p:cNvPr>
                <p:cNvSpPr/>
                <p:nvPr/>
              </p:nvSpPr>
              <p:spPr>
                <a:xfrm>
                  <a:off x="4293325" y="2719251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椭圆 75">
                  <a:extLst>
                    <a:ext uri="{FF2B5EF4-FFF2-40B4-BE49-F238E27FC236}">
                      <a16:creationId xmlns:a16="http://schemas.microsoft.com/office/drawing/2014/main" id="{BF1B57D6-36AA-BA8C-E2CA-4EF956729CB7}"/>
                    </a:ext>
                  </a:extLst>
                </p:cNvPr>
                <p:cNvSpPr/>
                <p:nvPr/>
              </p:nvSpPr>
              <p:spPr>
                <a:xfrm>
                  <a:off x="5255662" y="2851512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AE7786E2-A56B-6FCF-CA08-2764AF2FE8A9}"/>
                  </a:ext>
                </a:extLst>
              </p:cNvPr>
              <p:cNvGrpSpPr/>
              <p:nvPr/>
            </p:nvGrpSpPr>
            <p:grpSpPr>
              <a:xfrm>
                <a:off x="1602377" y="3853999"/>
                <a:ext cx="4781006" cy="1584960"/>
                <a:chOff x="1602377" y="2011680"/>
                <a:chExt cx="4781006" cy="1584960"/>
              </a:xfrm>
              <a:solidFill>
                <a:schemeClr val="accent4">
                  <a:lumMod val="20000"/>
                  <a:lumOff val="80000"/>
                </a:schemeClr>
              </a:solidFill>
              <a:scene3d>
                <a:camera prst="isometricOffAxis1Top"/>
                <a:lightRig rig="threePt" dir="t"/>
              </a:scene3d>
            </p:grpSpPr>
            <p:sp>
              <p:nvSpPr>
                <p:cNvPr id="69" name="矩形 68">
                  <a:extLst>
                    <a:ext uri="{FF2B5EF4-FFF2-40B4-BE49-F238E27FC236}">
                      <a16:creationId xmlns:a16="http://schemas.microsoft.com/office/drawing/2014/main" id="{F0F62712-3334-877C-B5C7-07F8B37ECDD2}"/>
                    </a:ext>
                  </a:extLst>
                </p:cNvPr>
                <p:cNvSpPr/>
                <p:nvPr/>
              </p:nvSpPr>
              <p:spPr>
                <a:xfrm>
                  <a:off x="1602377" y="2011680"/>
                  <a:ext cx="4781006" cy="1584960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椭圆 69">
                  <a:extLst>
                    <a:ext uri="{FF2B5EF4-FFF2-40B4-BE49-F238E27FC236}">
                      <a16:creationId xmlns:a16="http://schemas.microsoft.com/office/drawing/2014/main" id="{AFFA8447-4FC7-8C6C-44C3-E4F9B1A6CFF1}"/>
                    </a:ext>
                  </a:extLst>
                </p:cNvPr>
                <p:cNvSpPr/>
                <p:nvPr/>
              </p:nvSpPr>
              <p:spPr>
                <a:xfrm>
                  <a:off x="2538549" y="2767148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>
                  <a:extLst>
                    <a:ext uri="{FF2B5EF4-FFF2-40B4-BE49-F238E27FC236}">
                      <a16:creationId xmlns:a16="http://schemas.microsoft.com/office/drawing/2014/main" id="{0C18A21B-57BA-5BE6-A06B-D81FAA6EB2F9}"/>
                    </a:ext>
                  </a:extLst>
                </p:cNvPr>
                <p:cNvSpPr/>
                <p:nvPr/>
              </p:nvSpPr>
              <p:spPr>
                <a:xfrm>
                  <a:off x="3962399" y="2105296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 71">
                  <a:extLst>
                    <a:ext uri="{FF2B5EF4-FFF2-40B4-BE49-F238E27FC236}">
                      <a16:creationId xmlns:a16="http://schemas.microsoft.com/office/drawing/2014/main" id="{9FB69051-F1CF-7D57-8630-3320F0D45390}"/>
                    </a:ext>
                  </a:extLst>
                </p:cNvPr>
                <p:cNvSpPr/>
                <p:nvPr/>
              </p:nvSpPr>
              <p:spPr>
                <a:xfrm>
                  <a:off x="5928184" y="2448196"/>
                  <a:ext cx="330926" cy="330926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CD090BB5-9842-8BED-FFBF-E46160E79841}"/>
                  </a:ext>
                </a:extLst>
              </p:cNvPr>
              <p:cNvCxnSpPr/>
              <p:nvPr/>
            </p:nvCxnSpPr>
            <p:spPr>
              <a:xfrm flipV="1">
                <a:off x="2412818" y="3591969"/>
                <a:ext cx="1549581" cy="24928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3C5224C0-DE2B-2884-AF05-820212FB2C51}"/>
                  </a:ext>
                </a:extLst>
              </p:cNvPr>
              <p:cNvCxnSpPr/>
              <p:nvPr/>
            </p:nvCxnSpPr>
            <p:spPr>
              <a:xfrm flipV="1">
                <a:off x="4293325" y="3190148"/>
                <a:ext cx="500925" cy="371659"/>
              </a:xfrm>
              <a:prstGeom prst="line">
                <a:avLst/>
              </a:prstGeom>
              <a:ln w="19050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2584E483-9638-715A-631B-D2A8A68F7870}"/>
                  </a:ext>
                </a:extLst>
              </p:cNvPr>
              <p:cNvCxnSpPr/>
              <p:nvPr/>
            </p:nvCxnSpPr>
            <p:spPr>
              <a:xfrm flipV="1">
                <a:off x="3581400" y="4009209"/>
                <a:ext cx="711925" cy="7347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48AAF812-CBE1-955D-1EB5-58170F236D3B}"/>
                  </a:ext>
                </a:extLst>
              </p:cNvPr>
              <p:cNvCxnSpPr/>
              <p:nvPr/>
            </p:nvCxnSpPr>
            <p:spPr>
              <a:xfrm flipV="1">
                <a:off x="4624251" y="3908244"/>
                <a:ext cx="586210" cy="75519"/>
              </a:xfrm>
              <a:prstGeom prst="line">
                <a:avLst/>
              </a:prstGeom>
              <a:ln w="19050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64485D37-7686-341A-C289-EB2A77C2DF4C}"/>
                  </a:ext>
                </a:extLst>
              </p:cNvPr>
              <p:cNvCxnSpPr/>
              <p:nvPr/>
            </p:nvCxnSpPr>
            <p:spPr>
              <a:xfrm flipV="1">
                <a:off x="3045822" y="4516824"/>
                <a:ext cx="686889" cy="30416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F45718D5-5A69-BF21-0D32-1F0C8924F81C}"/>
                  </a:ext>
                </a:extLst>
              </p:cNvPr>
              <p:cNvCxnSpPr/>
              <p:nvPr/>
            </p:nvCxnSpPr>
            <p:spPr>
              <a:xfrm flipV="1">
                <a:off x="4055385" y="4315821"/>
                <a:ext cx="1567540" cy="172538"/>
              </a:xfrm>
              <a:prstGeom prst="line">
                <a:avLst/>
              </a:prstGeom>
              <a:ln w="19050">
                <a:solidFill>
                  <a:srgbClr val="C0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837C0703-30A2-E63A-A0C8-1CAF6E6AD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5264" y="3649347"/>
                <a:ext cx="39941" cy="13467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9" name="星形: 五角 118">
              <a:extLst>
                <a:ext uri="{FF2B5EF4-FFF2-40B4-BE49-F238E27FC236}">
                  <a16:creationId xmlns:a16="http://schemas.microsoft.com/office/drawing/2014/main" id="{C361E5E8-3AED-D2AC-BD76-F40698053A3E}"/>
                </a:ext>
              </a:extLst>
            </p:cNvPr>
            <p:cNvSpPr/>
            <p:nvPr/>
          </p:nvSpPr>
          <p:spPr>
            <a:xfrm>
              <a:off x="3494051" y="2181163"/>
              <a:ext cx="144598" cy="144598"/>
            </a:xfrm>
            <a:prstGeom prst="star5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7" name="矩形: 圆角 126">
            <a:extLst>
              <a:ext uri="{FF2B5EF4-FFF2-40B4-BE49-F238E27FC236}">
                <a16:creationId xmlns:a16="http://schemas.microsoft.com/office/drawing/2014/main" id="{5FE8F2EA-2DFE-F525-DCDE-07B912B8505D}"/>
              </a:ext>
            </a:extLst>
          </p:cNvPr>
          <p:cNvSpPr/>
          <p:nvPr/>
        </p:nvSpPr>
        <p:spPr>
          <a:xfrm>
            <a:off x="2244689" y="1683670"/>
            <a:ext cx="3433620" cy="4466557"/>
          </a:xfrm>
          <a:prstGeom prst="roundRect">
            <a:avLst>
              <a:gd name="adj" fmla="val 644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F349BE8E-1241-8500-229B-C357290C13A7}"/>
              </a:ext>
            </a:extLst>
          </p:cNvPr>
          <p:cNvSpPr/>
          <p:nvPr/>
        </p:nvSpPr>
        <p:spPr>
          <a:xfrm>
            <a:off x="6396434" y="1677134"/>
            <a:ext cx="3433620" cy="4466556"/>
          </a:xfrm>
          <a:prstGeom prst="roundRect">
            <a:avLst>
              <a:gd name="adj" fmla="val 644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324359A5-A1B4-5DD8-EE33-4B60A2795E78}"/>
              </a:ext>
            </a:extLst>
          </p:cNvPr>
          <p:cNvSpPr txBox="1"/>
          <p:nvPr/>
        </p:nvSpPr>
        <p:spPr>
          <a:xfrm>
            <a:off x="3248492" y="1667708"/>
            <a:ext cx="1199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Hashing</a:t>
            </a:r>
            <a:endParaRPr lang="zh-CN" altLang="en-US" b="1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07D8885E-67D5-82B7-021B-C98156CD7F9C}"/>
              </a:ext>
            </a:extLst>
          </p:cNvPr>
          <p:cNvSpPr txBox="1"/>
          <p:nvPr/>
        </p:nvSpPr>
        <p:spPr>
          <a:xfrm>
            <a:off x="7459661" y="1657514"/>
            <a:ext cx="1186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K-means</a:t>
            </a:r>
            <a:endParaRPr lang="zh-CN" altLang="en-US" b="1" dirty="0"/>
          </a:p>
        </p:txBody>
      </p: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8211169E-4F50-DCBE-6CEF-1AAE946F8DA2}"/>
              </a:ext>
            </a:extLst>
          </p:cNvPr>
          <p:cNvGrpSpPr/>
          <p:nvPr/>
        </p:nvGrpSpPr>
        <p:grpSpPr>
          <a:xfrm>
            <a:off x="2316594" y="4038767"/>
            <a:ext cx="3289809" cy="1875525"/>
            <a:chOff x="7086123" y="4241258"/>
            <a:chExt cx="3360160" cy="1915632"/>
          </a:xfrm>
        </p:grpSpPr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BAE9C43D-38AA-E405-5387-7A8703658DC6}"/>
                </a:ext>
              </a:extLst>
            </p:cNvPr>
            <p:cNvGrpSpPr/>
            <p:nvPr/>
          </p:nvGrpSpPr>
          <p:grpSpPr>
            <a:xfrm>
              <a:off x="7086123" y="5002018"/>
              <a:ext cx="3360160" cy="1154872"/>
              <a:chOff x="7086123" y="5002018"/>
              <a:chExt cx="3360160" cy="1154872"/>
            </a:xfrm>
          </p:grpSpPr>
          <p:sp>
            <p:nvSpPr>
              <p:cNvPr id="148" name="圆柱体 147">
                <a:extLst>
                  <a:ext uri="{FF2B5EF4-FFF2-40B4-BE49-F238E27FC236}">
                    <a16:creationId xmlns:a16="http://schemas.microsoft.com/office/drawing/2014/main" id="{E70D620F-D5E6-8990-D972-D556E4E92016}"/>
                  </a:ext>
                </a:extLst>
              </p:cNvPr>
              <p:cNvSpPr/>
              <p:nvPr/>
            </p:nvSpPr>
            <p:spPr>
              <a:xfrm>
                <a:off x="9448208" y="5002018"/>
                <a:ext cx="998075" cy="1154872"/>
              </a:xfrm>
              <a:prstGeom prst="can">
                <a:avLst>
                  <a:gd name="adj" fmla="val 916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圆柱体 148">
                <a:extLst>
                  <a:ext uri="{FF2B5EF4-FFF2-40B4-BE49-F238E27FC236}">
                    <a16:creationId xmlns:a16="http://schemas.microsoft.com/office/drawing/2014/main" id="{CA73F7B2-3369-944E-3EA6-CE89AA0F8626}"/>
                  </a:ext>
                </a:extLst>
              </p:cNvPr>
              <p:cNvSpPr/>
              <p:nvPr/>
            </p:nvSpPr>
            <p:spPr>
              <a:xfrm>
                <a:off x="8266071" y="5002018"/>
                <a:ext cx="998075" cy="1154872"/>
              </a:xfrm>
              <a:prstGeom prst="can">
                <a:avLst>
                  <a:gd name="adj" fmla="val 916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圆柱体 149">
                <a:extLst>
                  <a:ext uri="{FF2B5EF4-FFF2-40B4-BE49-F238E27FC236}">
                    <a16:creationId xmlns:a16="http://schemas.microsoft.com/office/drawing/2014/main" id="{3DA8E76F-D289-7116-A652-FB3203D24D94}"/>
                  </a:ext>
                </a:extLst>
              </p:cNvPr>
              <p:cNvSpPr/>
              <p:nvPr/>
            </p:nvSpPr>
            <p:spPr>
              <a:xfrm>
                <a:off x="7086123" y="5002018"/>
                <a:ext cx="998075" cy="1154872"/>
              </a:xfrm>
              <a:prstGeom prst="can">
                <a:avLst>
                  <a:gd name="adj" fmla="val 9165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63D8284B-4C8C-7862-F8CC-0D44589DCBB5}"/>
                </a:ext>
              </a:extLst>
            </p:cNvPr>
            <p:cNvSpPr txBox="1"/>
            <p:nvPr/>
          </p:nvSpPr>
          <p:spPr>
            <a:xfrm>
              <a:off x="8254391" y="4241258"/>
              <a:ext cx="10214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Query</a:t>
              </a:r>
            </a:p>
          </p:txBody>
        </p:sp>
        <p:cxnSp>
          <p:nvCxnSpPr>
            <p:cNvPr id="174" name="直接箭头连接符 173">
              <a:extLst>
                <a:ext uri="{FF2B5EF4-FFF2-40B4-BE49-F238E27FC236}">
                  <a16:creationId xmlns:a16="http://schemas.microsoft.com/office/drawing/2014/main" id="{94021621-506F-DFD8-CDFB-78AE2B4AF138}"/>
                </a:ext>
              </a:extLst>
            </p:cNvPr>
            <p:cNvCxnSpPr>
              <a:stCxn id="172" idx="2"/>
              <a:endCxn id="150" idx="1"/>
            </p:cNvCxnSpPr>
            <p:nvPr/>
          </p:nvCxnSpPr>
          <p:spPr>
            <a:xfrm flipH="1">
              <a:off x="7585161" y="4702923"/>
              <a:ext cx="1179947" cy="29909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85FEF7AC-2ACA-9369-9F7E-D43AB319EF6A}"/>
                </a:ext>
              </a:extLst>
            </p:cNvPr>
            <p:cNvCxnSpPr>
              <a:stCxn id="172" idx="2"/>
              <a:endCxn id="149" idx="1"/>
            </p:cNvCxnSpPr>
            <p:nvPr/>
          </p:nvCxnSpPr>
          <p:spPr>
            <a:xfrm>
              <a:off x="8765108" y="4702923"/>
              <a:ext cx="1" cy="29909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BE3C4412-A61B-8391-0304-3A0531400282}"/>
                </a:ext>
              </a:extLst>
            </p:cNvPr>
            <p:cNvCxnSpPr>
              <a:stCxn id="172" idx="2"/>
              <a:endCxn id="148" idx="1"/>
            </p:cNvCxnSpPr>
            <p:nvPr/>
          </p:nvCxnSpPr>
          <p:spPr>
            <a:xfrm>
              <a:off x="8765108" y="4702923"/>
              <a:ext cx="1182138" cy="29909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8" name="组合 187">
            <a:extLst>
              <a:ext uri="{FF2B5EF4-FFF2-40B4-BE49-F238E27FC236}">
                <a16:creationId xmlns:a16="http://schemas.microsoft.com/office/drawing/2014/main" id="{3CC55F48-D91E-37A9-291C-76915F8BE67E}"/>
              </a:ext>
            </a:extLst>
          </p:cNvPr>
          <p:cNvGrpSpPr/>
          <p:nvPr/>
        </p:nvGrpSpPr>
        <p:grpSpPr>
          <a:xfrm>
            <a:off x="6485205" y="4032794"/>
            <a:ext cx="3289809" cy="1875525"/>
            <a:chOff x="7086123" y="4241258"/>
            <a:chExt cx="3360160" cy="1915632"/>
          </a:xfrm>
        </p:grpSpPr>
        <p:grpSp>
          <p:nvGrpSpPr>
            <p:cNvPr id="189" name="组合 188">
              <a:extLst>
                <a:ext uri="{FF2B5EF4-FFF2-40B4-BE49-F238E27FC236}">
                  <a16:creationId xmlns:a16="http://schemas.microsoft.com/office/drawing/2014/main" id="{29F012FF-782B-75B7-E845-5CA7F785E923}"/>
                </a:ext>
              </a:extLst>
            </p:cNvPr>
            <p:cNvGrpSpPr/>
            <p:nvPr/>
          </p:nvGrpSpPr>
          <p:grpSpPr>
            <a:xfrm>
              <a:off x="7086123" y="5002018"/>
              <a:ext cx="3360160" cy="1154872"/>
              <a:chOff x="7086123" y="5002018"/>
              <a:chExt cx="3360160" cy="1154872"/>
            </a:xfrm>
          </p:grpSpPr>
          <p:sp>
            <p:nvSpPr>
              <p:cNvPr id="194" name="圆柱体 193">
                <a:extLst>
                  <a:ext uri="{FF2B5EF4-FFF2-40B4-BE49-F238E27FC236}">
                    <a16:creationId xmlns:a16="http://schemas.microsoft.com/office/drawing/2014/main" id="{7D05825A-9C64-01C0-DA83-B0991A71B829}"/>
                  </a:ext>
                </a:extLst>
              </p:cNvPr>
              <p:cNvSpPr/>
              <p:nvPr/>
            </p:nvSpPr>
            <p:spPr>
              <a:xfrm>
                <a:off x="9448208" y="5002018"/>
                <a:ext cx="998075" cy="1154872"/>
              </a:xfrm>
              <a:prstGeom prst="can">
                <a:avLst>
                  <a:gd name="adj" fmla="val 916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圆柱体 194">
                <a:extLst>
                  <a:ext uri="{FF2B5EF4-FFF2-40B4-BE49-F238E27FC236}">
                    <a16:creationId xmlns:a16="http://schemas.microsoft.com/office/drawing/2014/main" id="{0B618146-85AF-80D4-079B-4001FD711A95}"/>
                  </a:ext>
                </a:extLst>
              </p:cNvPr>
              <p:cNvSpPr/>
              <p:nvPr/>
            </p:nvSpPr>
            <p:spPr>
              <a:xfrm>
                <a:off x="8266071" y="5002018"/>
                <a:ext cx="998075" cy="1154872"/>
              </a:xfrm>
              <a:prstGeom prst="can">
                <a:avLst>
                  <a:gd name="adj" fmla="val 916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圆柱体 195">
                <a:extLst>
                  <a:ext uri="{FF2B5EF4-FFF2-40B4-BE49-F238E27FC236}">
                    <a16:creationId xmlns:a16="http://schemas.microsoft.com/office/drawing/2014/main" id="{ED71F174-0009-487A-CB8D-27D2C5F88CC1}"/>
                  </a:ext>
                </a:extLst>
              </p:cNvPr>
              <p:cNvSpPr/>
              <p:nvPr/>
            </p:nvSpPr>
            <p:spPr>
              <a:xfrm>
                <a:off x="7086123" y="5002018"/>
                <a:ext cx="998075" cy="1154872"/>
              </a:xfrm>
              <a:prstGeom prst="can">
                <a:avLst>
                  <a:gd name="adj" fmla="val 9165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2BBD2489-33FC-92CE-532B-A7B040E22277}"/>
                </a:ext>
              </a:extLst>
            </p:cNvPr>
            <p:cNvSpPr txBox="1"/>
            <p:nvPr/>
          </p:nvSpPr>
          <p:spPr>
            <a:xfrm>
              <a:off x="8254391" y="4241258"/>
              <a:ext cx="10214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Query</a:t>
              </a:r>
            </a:p>
          </p:txBody>
        </p: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DEA67006-B563-990F-4056-A668DF50D92F}"/>
                </a:ext>
              </a:extLst>
            </p:cNvPr>
            <p:cNvCxnSpPr>
              <a:cxnSpLocks/>
              <a:stCxn id="190" idx="2"/>
              <a:endCxn id="194" idx="1"/>
            </p:cNvCxnSpPr>
            <p:nvPr/>
          </p:nvCxnSpPr>
          <p:spPr>
            <a:xfrm>
              <a:off x="8765108" y="4702923"/>
              <a:ext cx="1182138" cy="299095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7" name="文本框 306">
            <a:extLst>
              <a:ext uri="{FF2B5EF4-FFF2-40B4-BE49-F238E27FC236}">
                <a16:creationId xmlns:a16="http://schemas.microsoft.com/office/drawing/2014/main" id="{600C9F90-8705-C312-9390-E56B64C8E439}"/>
              </a:ext>
            </a:extLst>
          </p:cNvPr>
          <p:cNvSpPr txBox="1"/>
          <p:nvPr/>
        </p:nvSpPr>
        <p:spPr>
          <a:xfrm>
            <a:off x="4387840" y="6166189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两种方案的分片策略和路由方式</a:t>
            </a:r>
          </a:p>
        </p:txBody>
      </p:sp>
    </p:spTree>
    <p:extLst>
      <p:ext uri="{BB962C8B-B14F-4D97-AF65-F5344CB8AC3E}">
        <p14:creationId xmlns:p14="http://schemas.microsoft.com/office/powerpoint/2010/main" val="3621363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36D48-208F-9ADE-561A-27888047B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176" y="16869"/>
            <a:ext cx="10515600" cy="1325563"/>
          </a:xfrm>
        </p:spPr>
        <p:txBody>
          <a:bodyPr/>
          <a:lstStyle/>
          <a:p>
            <a:r>
              <a:rPr lang="zh-CN" altLang="en-US" dirty="0"/>
              <a:t>拓展性问题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A010C-709B-2DC3-A6C6-614B74069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63747"/>
            <a:ext cx="10515600" cy="4209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关键原因</a:t>
            </a:r>
            <a:r>
              <a:rPr lang="en-US" altLang="zh-CN" sz="2400" dirty="0">
                <a:solidFill>
                  <a:srgbClr val="C00000"/>
                </a:solidFill>
              </a:rPr>
              <a:t>1</a:t>
            </a:r>
            <a:r>
              <a:rPr lang="zh-CN" altLang="en-US" sz="2400" dirty="0">
                <a:solidFill>
                  <a:srgbClr val="C00000"/>
                </a:solidFill>
              </a:rPr>
              <a:t>：分片后计算复杂度变高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分析：</a:t>
            </a:r>
            <a:endParaRPr lang="en-US" altLang="zh-CN" sz="2400" dirty="0"/>
          </a:p>
          <a:p>
            <a:pPr lvl="1"/>
            <a:r>
              <a:rPr lang="zh-CN" altLang="en-US" dirty="0">
                <a:latin typeface="+mn-ea"/>
                <a:ea typeface="+mn-ea"/>
              </a:rPr>
              <a:t>参与搜索的分片数</a:t>
            </a:r>
            <a:r>
              <a:rPr lang="en-US" altLang="zh-CN" sz="2800" b="1" dirty="0">
                <a:highlight>
                  <a:srgbClr val="F79646"/>
                </a:highlight>
                <a:latin typeface="+mn-ea"/>
                <a:ea typeface="+mn-ea"/>
              </a:rPr>
              <a:t>P</a:t>
            </a:r>
            <a:r>
              <a:rPr lang="zh-CN" altLang="en-US" dirty="0">
                <a:latin typeface="+mn-ea"/>
                <a:ea typeface="+mn-ea"/>
              </a:rPr>
              <a:t>变多</a:t>
            </a:r>
            <a:endParaRPr lang="en-US" altLang="zh-CN" dirty="0">
              <a:latin typeface="+mn-ea"/>
              <a:ea typeface="+mn-ea"/>
            </a:endParaRPr>
          </a:p>
          <a:p>
            <a:pPr lvl="1"/>
            <a:r>
              <a:rPr lang="zh-CN" altLang="en-US" dirty="0">
                <a:latin typeface="+mn-ea"/>
                <a:ea typeface="+mn-ea"/>
              </a:rPr>
              <a:t>平均跳数</a:t>
            </a:r>
            <a:r>
              <a:rPr lang="en-US" altLang="zh-CN" sz="2800" b="1" dirty="0">
                <a:highlight>
                  <a:srgbClr val="FFF3D1"/>
                </a:highlight>
                <a:latin typeface="+mn-ea"/>
                <a:ea typeface="+mn-ea"/>
              </a:rPr>
              <a:t>log (N/P)</a:t>
            </a:r>
            <a:r>
              <a:rPr lang="zh-CN" altLang="en-US" dirty="0">
                <a:latin typeface="+mn-ea"/>
                <a:ea typeface="+mn-ea"/>
              </a:rPr>
              <a:t>没有大幅减少</a:t>
            </a:r>
            <a:endParaRPr lang="en-US" altLang="zh-CN" dirty="0">
              <a:latin typeface="+mn-ea"/>
              <a:ea typeface="+mn-ea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28C7ED-56B7-065B-A05C-0D578B9DA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3114-2061-4842-97A6-B5DACC79B906}" type="datetime1">
              <a:rPr lang="zh-CN" altLang="en-US" smtClean="0"/>
              <a:t>2026/7/13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6514C40-785E-F1A4-6815-A1F6E93A189E}"/>
              </a:ext>
            </a:extLst>
          </p:cNvPr>
          <p:cNvGrpSpPr/>
          <p:nvPr/>
        </p:nvGrpSpPr>
        <p:grpSpPr>
          <a:xfrm>
            <a:off x="838199" y="2234503"/>
            <a:ext cx="5645306" cy="1784503"/>
            <a:chOff x="2446013" y="1533103"/>
            <a:chExt cx="7309680" cy="2310618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AAC58F1-142E-FDA4-484B-48E75DCACCCE}"/>
                </a:ext>
              </a:extLst>
            </p:cNvPr>
            <p:cNvGrpSpPr/>
            <p:nvPr/>
          </p:nvGrpSpPr>
          <p:grpSpPr>
            <a:xfrm>
              <a:off x="5787010" y="2646940"/>
              <a:ext cx="2283076" cy="685278"/>
              <a:chOff x="4834046" y="2526457"/>
              <a:chExt cx="2283076" cy="685278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3CD5D1A6-DDBB-6546-833C-7803A9C395CB}"/>
                  </a:ext>
                </a:extLst>
              </p:cNvPr>
              <p:cNvSpPr/>
              <p:nvPr/>
            </p:nvSpPr>
            <p:spPr>
              <a:xfrm>
                <a:off x="4954270" y="2654332"/>
                <a:ext cx="166128" cy="166128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CA5773C0-BCB1-AAE3-C234-33DE2F8BC555}"/>
                  </a:ext>
                </a:extLst>
              </p:cNvPr>
              <p:cNvSpPr/>
              <p:nvPr/>
            </p:nvSpPr>
            <p:spPr>
              <a:xfrm>
                <a:off x="4834046" y="3024841"/>
                <a:ext cx="166128" cy="166128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FCB6FD5F-2C4A-AABA-8D05-1A0A5D01D0FC}"/>
                  </a:ext>
                </a:extLst>
              </p:cNvPr>
              <p:cNvSpPr/>
              <p:nvPr/>
            </p:nvSpPr>
            <p:spPr>
              <a:xfrm>
                <a:off x="5249366" y="2858713"/>
                <a:ext cx="166128" cy="166128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3A4FCB9C-43D2-4C02-4AF4-0319A665B379}"/>
                  </a:ext>
                </a:extLst>
              </p:cNvPr>
              <p:cNvSpPr/>
              <p:nvPr/>
            </p:nvSpPr>
            <p:spPr>
              <a:xfrm>
                <a:off x="5619327" y="2698050"/>
                <a:ext cx="166128" cy="16612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34B945D-BD01-1262-5CC3-E15B2FBFA76F}"/>
                  </a:ext>
                </a:extLst>
              </p:cNvPr>
              <p:cNvSpPr/>
              <p:nvPr/>
            </p:nvSpPr>
            <p:spPr>
              <a:xfrm>
                <a:off x="5964152" y="2526457"/>
                <a:ext cx="166128" cy="16612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6533A994-1263-14FE-A1A9-44F4CD472E1F}"/>
                  </a:ext>
                </a:extLst>
              </p:cNvPr>
              <p:cNvSpPr/>
              <p:nvPr/>
            </p:nvSpPr>
            <p:spPr>
              <a:xfrm>
                <a:off x="5848846" y="3045607"/>
                <a:ext cx="166128" cy="16612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08371D6E-8BA4-7C54-0E23-1C2578DFAC9A}"/>
                  </a:ext>
                </a:extLst>
              </p:cNvPr>
              <p:cNvSpPr/>
              <p:nvPr/>
            </p:nvSpPr>
            <p:spPr>
              <a:xfrm>
                <a:off x="6130280" y="2834668"/>
                <a:ext cx="166128" cy="166128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8F27EDBC-D1CC-FF34-F70E-5933D6BF4E78}"/>
                  </a:ext>
                </a:extLst>
              </p:cNvPr>
              <p:cNvSpPr/>
              <p:nvPr/>
            </p:nvSpPr>
            <p:spPr>
              <a:xfrm>
                <a:off x="6507626" y="2578372"/>
                <a:ext cx="166128" cy="166128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BF99436C-59A0-8F66-947C-47F5C5DBD2A7}"/>
                  </a:ext>
                </a:extLst>
              </p:cNvPr>
              <p:cNvSpPr/>
              <p:nvPr/>
            </p:nvSpPr>
            <p:spPr>
              <a:xfrm>
                <a:off x="6950994" y="2698596"/>
                <a:ext cx="166128" cy="166128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17A207EA-BCFB-53C8-58FE-94F798DD38BD}"/>
                  </a:ext>
                </a:extLst>
              </p:cNvPr>
              <p:cNvSpPr/>
              <p:nvPr/>
            </p:nvSpPr>
            <p:spPr>
              <a:xfrm>
                <a:off x="6613382" y="2901064"/>
                <a:ext cx="166128" cy="166128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88896EDC-3107-3805-D91A-6EB915E0C820}"/>
                  </a:ext>
                </a:extLst>
              </p:cNvPr>
              <p:cNvCxnSpPr>
                <a:stCxn id="32" idx="3"/>
                <a:endCxn id="33" idx="0"/>
              </p:cNvCxnSpPr>
              <p:nvPr/>
            </p:nvCxnSpPr>
            <p:spPr>
              <a:xfrm flipH="1">
                <a:off x="4917110" y="2796131"/>
                <a:ext cx="61489" cy="22870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91AE469D-430D-888F-3490-3D1019FB23EA}"/>
                  </a:ext>
                </a:extLst>
              </p:cNvPr>
              <p:cNvCxnSpPr>
                <a:stCxn id="33" idx="7"/>
                <a:endCxn id="34" idx="2"/>
              </p:cNvCxnSpPr>
              <p:nvPr/>
            </p:nvCxnSpPr>
            <p:spPr>
              <a:xfrm flipV="1">
                <a:off x="4975845" y="2941777"/>
                <a:ext cx="273521" cy="10739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9F0213B3-201C-AC1F-52BA-61E424DDE6FB}"/>
                  </a:ext>
                </a:extLst>
              </p:cNvPr>
              <p:cNvCxnSpPr>
                <a:stCxn id="35" idx="5"/>
                <a:endCxn id="37" idx="0"/>
              </p:cNvCxnSpPr>
              <p:nvPr/>
            </p:nvCxnSpPr>
            <p:spPr>
              <a:xfrm>
                <a:off x="5761126" y="2839849"/>
                <a:ext cx="112049" cy="230087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954D3D07-A8D5-9844-04FA-5B13E494EFE0}"/>
                  </a:ext>
                </a:extLst>
              </p:cNvPr>
              <p:cNvCxnSpPr>
                <a:stCxn id="37" idx="7"/>
                <a:endCxn id="38" idx="3"/>
              </p:cNvCxnSpPr>
              <p:nvPr/>
            </p:nvCxnSpPr>
            <p:spPr>
              <a:xfrm flipV="1">
                <a:off x="5990645" y="2976467"/>
                <a:ext cx="163963" cy="9346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50547A11-AF36-C4E4-156D-D2AE49FB59D5}"/>
                  </a:ext>
                </a:extLst>
              </p:cNvPr>
              <p:cNvCxnSpPr>
                <a:cxnSpLocks/>
                <a:stCxn id="39" idx="6"/>
                <a:endCxn id="40" idx="2"/>
              </p:cNvCxnSpPr>
              <p:nvPr/>
            </p:nvCxnSpPr>
            <p:spPr>
              <a:xfrm>
                <a:off x="6673754" y="2661436"/>
                <a:ext cx="277240" cy="12022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683B3B52-26FB-8BA8-ACED-902F9DE7E440}"/>
                  </a:ext>
                </a:extLst>
              </p:cNvPr>
              <p:cNvCxnSpPr>
                <a:stCxn id="39" idx="4"/>
                <a:endCxn id="41" idx="1"/>
              </p:cNvCxnSpPr>
              <p:nvPr/>
            </p:nvCxnSpPr>
            <p:spPr>
              <a:xfrm>
                <a:off x="6590690" y="2744500"/>
                <a:ext cx="47020" cy="18089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747ADDA5-E321-D855-E5D1-1468C4DCCB09}"/>
                  </a:ext>
                </a:extLst>
              </p:cNvPr>
              <p:cNvCxnSpPr>
                <a:stCxn id="41" idx="7"/>
                <a:endCxn id="40" idx="3"/>
              </p:cNvCxnSpPr>
              <p:nvPr/>
            </p:nvCxnSpPr>
            <p:spPr>
              <a:xfrm flipV="1">
                <a:off x="6755181" y="2840395"/>
                <a:ext cx="220142" cy="84998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20CEBC7C-03D1-B294-9063-04FF4CC71621}"/>
                  </a:ext>
                </a:extLst>
              </p:cNvPr>
              <p:cNvCxnSpPr>
                <a:stCxn id="32" idx="6"/>
                <a:endCxn id="34" idx="1"/>
              </p:cNvCxnSpPr>
              <p:nvPr/>
            </p:nvCxnSpPr>
            <p:spPr>
              <a:xfrm>
                <a:off x="5120398" y="2737396"/>
                <a:ext cx="153297" cy="14564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A7DA3EE8-E915-0F5F-7175-54618C2FF0E1}"/>
                  </a:ext>
                </a:extLst>
              </p:cNvPr>
              <p:cNvCxnSpPr>
                <a:stCxn id="36" idx="5"/>
                <a:endCxn id="38" idx="0"/>
              </p:cNvCxnSpPr>
              <p:nvPr/>
            </p:nvCxnSpPr>
            <p:spPr>
              <a:xfrm>
                <a:off x="6105951" y="2668256"/>
                <a:ext cx="107393" cy="16641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18265A98-36B5-12D0-EC60-CF43524C3133}"/>
                  </a:ext>
                </a:extLst>
              </p:cNvPr>
              <p:cNvCxnSpPr>
                <a:stCxn id="35" idx="6"/>
                <a:endCxn id="38" idx="1"/>
              </p:cNvCxnSpPr>
              <p:nvPr/>
            </p:nvCxnSpPr>
            <p:spPr>
              <a:xfrm>
                <a:off x="5785455" y="2781114"/>
                <a:ext cx="369154" cy="7788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154DE63A-CB0A-1DFE-EE75-AFC89BB4170E}"/>
                </a:ext>
              </a:extLst>
            </p:cNvPr>
            <p:cNvGrpSpPr/>
            <p:nvPr/>
          </p:nvGrpSpPr>
          <p:grpSpPr>
            <a:xfrm>
              <a:off x="2446013" y="2247268"/>
              <a:ext cx="2284515" cy="1030625"/>
              <a:chOff x="2436307" y="1890196"/>
              <a:chExt cx="2284515" cy="1030625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26F7822D-07F2-9A45-3559-C31FA49C59D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2436307" y="1890196"/>
                <a:ext cx="2284515" cy="685711"/>
                <a:chOff x="1711234" y="2105296"/>
                <a:chExt cx="4547876" cy="1365070"/>
              </a:xfrm>
            </p:grpSpPr>
            <p:sp>
              <p:nvSpPr>
                <p:cNvPr id="52" name="椭圆 51">
                  <a:extLst>
                    <a:ext uri="{FF2B5EF4-FFF2-40B4-BE49-F238E27FC236}">
                      <a16:creationId xmlns:a16="http://schemas.microsoft.com/office/drawing/2014/main" id="{FCF383A4-DC8E-4F36-5BBB-64F10514F8D9}"/>
                    </a:ext>
                  </a:extLst>
                </p:cNvPr>
                <p:cNvSpPr/>
                <p:nvPr/>
              </p:nvSpPr>
              <p:spPr>
                <a:xfrm>
                  <a:off x="1950720" y="2360023"/>
                  <a:ext cx="330926" cy="33092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5A289A44-3660-A21E-B263-A68B369005F1}"/>
                    </a:ext>
                  </a:extLst>
                </p:cNvPr>
                <p:cNvSpPr/>
                <p:nvPr/>
              </p:nvSpPr>
              <p:spPr>
                <a:xfrm>
                  <a:off x="1711234" y="3098074"/>
                  <a:ext cx="330926" cy="33092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4" name="椭圆 53">
                  <a:extLst>
                    <a:ext uri="{FF2B5EF4-FFF2-40B4-BE49-F238E27FC236}">
                      <a16:creationId xmlns:a16="http://schemas.microsoft.com/office/drawing/2014/main" id="{974418A2-4DC0-AAF2-3CE6-6705982329C7}"/>
                    </a:ext>
                  </a:extLst>
                </p:cNvPr>
                <p:cNvSpPr/>
                <p:nvPr/>
              </p:nvSpPr>
              <p:spPr>
                <a:xfrm>
                  <a:off x="2538549" y="2767148"/>
                  <a:ext cx="330926" cy="33092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047CF338-D695-B31B-BAED-A85CCECD94D7}"/>
                    </a:ext>
                  </a:extLst>
                </p:cNvPr>
                <p:cNvSpPr/>
                <p:nvPr/>
              </p:nvSpPr>
              <p:spPr>
                <a:xfrm>
                  <a:off x="3275510" y="2447108"/>
                  <a:ext cx="330926" cy="33092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椭圆 55">
                  <a:extLst>
                    <a:ext uri="{FF2B5EF4-FFF2-40B4-BE49-F238E27FC236}">
                      <a16:creationId xmlns:a16="http://schemas.microsoft.com/office/drawing/2014/main" id="{606A46E0-C3AB-E81F-B679-E3D4211D55DA}"/>
                    </a:ext>
                  </a:extLst>
                </p:cNvPr>
                <p:cNvSpPr/>
                <p:nvPr/>
              </p:nvSpPr>
              <p:spPr>
                <a:xfrm>
                  <a:off x="3962399" y="2105296"/>
                  <a:ext cx="330926" cy="33092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58898ABB-282C-2448-8536-016F08C6523A}"/>
                    </a:ext>
                  </a:extLst>
                </p:cNvPr>
                <p:cNvSpPr/>
                <p:nvPr/>
              </p:nvSpPr>
              <p:spPr>
                <a:xfrm>
                  <a:off x="3732711" y="3139440"/>
                  <a:ext cx="330926" cy="33092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29407F29-B2A0-E0AA-DB3E-6C829EF8A688}"/>
                    </a:ext>
                  </a:extLst>
                </p:cNvPr>
                <p:cNvSpPr/>
                <p:nvPr/>
              </p:nvSpPr>
              <p:spPr>
                <a:xfrm>
                  <a:off x="4293325" y="2719251"/>
                  <a:ext cx="330926" cy="33092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B4439F00-075C-FD2A-210D-8049178B4CCA}"/>
                    </a:ext>
                  </a:extLst>
                </p:cNvPr>
                <p:cNvSpPr/>
                <p:nvPr/>
              </p:nvSpPr>
              <p:spPr>
                <a:xfrm>
                  <a:off x="5044998" y="2208711"/>
                  <a:ext cx="330926" cy="33092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>
                  <a:extLst>
                    <a:ext uri="{FF2B5EF4-FFF2-40B4-BE49-F238E27FC236}">
                      <a16:creationId xmlns:a16="http://schemas.microsoft.com/office/drawing/2014/main" id="{B80CA03D-6DCD-821A-DB44-F9BBF7A81174}"/>
                    </a:ext>
                  </a:extLst>
                </p:cNvPr>
                <p:cNvSpPr/>
                <p:nvPr/>
              </p:nvSpPr>
              <p:spPr>
                <a:xfrm>
                  <a:off x="5928184" y="2448196"/>
                  <a:ext cx="330926" cy="33092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1" name="椭圆 60">
                  <a:extLst>
                    <a:ext uri="{FF2B5EF4-FFF2-40B4-BE49-F238E27FC236}">
                      <a16:creationId xmlns:a16="http://schemas.microsoft.com/office/drawing/2014/main" id="{9189A31E-B119-CAE0-AF5B-94BFF8667070}"/>
                    </a:ext>
                  </a:extLst>
                </p:cNvPr>
                <p:cNvSpPr/>
                <p:nvPr/>
              </p:nvSpPr>
              <p:spPr>
                <a:xfrm>
                  <a:off x="5255662" y="2851512"/>
                  <a:ext cx="330926" cy="330926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2" name="直接连接符 61">
                  <a:extLst>
                    <a:ext uri="{FF2B5EF4-FFF2-40B4-BE49-F238E27FC236}">
                      <a16:creationId xmlns:a16="http://schemas.microsoft.com/office/drawing/2014/main" id="{2B0C95DD-6472-407F-CD94-A954438A574E}"/>
                    </a:ext>
                  </a:extLst>
                </p:cNvPr>
                <p:cNvCxnSpPr>
                  <a:stCxn id="52" idx="6"/>
                  <a:endCxn id="55" idx="2"/>
                </p:cNvCxnSpPr>
                <p:nvPr/>
              </p:nvCxnSpPr>
              <p:spPr>
                <a:xfrm>
                  <a:off x="2281646" y="2525486"/>
                  <a:ext cx="993864" cy="870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>
                  <a:extLst>
                    <a:ext uri="{FF2B5EF4-FFF2-40B4-BE49-F238E27FC236}">
                      <a16:creationId xmlns:a16="http://schemas.microsoft.com/office/drawing/2014/main" id="{52A93438-4C5B-BDF8-8A47-9AD07B2F5037}"/>
                    </a:ext>
                  </a:extLst>
                </p:cNvPr>
                <p:cNvCxnSpPr>
                  <a:stCxn id="52" idx="3"/>
                  <a:endCxn id="53" idx="0"/>
                </p:cNvCxnSpPr>
                <p:nvPr/>
              </p:nvCxnSpPr>
              <p:spPr>
                <a:xfrm flipH="1">
                  <a:off x="1876697" y="2642486"/>
                  <a:ext cx="122486" cy="455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连接符 63">
                  <a:extLst>
                    <a:ext uri="{FF2B5EF4-FFF2-40B4-BE49-F238E27FC236}">
                      <a16:creationId xmlns:a16="http://schemas.microsoft.com/office/drawing/2014/main" id="{52139A52-FDA5-ED1E-A61C-E587E6FA99AF}"/>
                    </a:ext>
                  </a:extLst>
                </p:cNvPr>
                <p:cNvCxnSpPr>
                  <a:stCxn id="53" idx="7"/>
                  <a:endCxn id="54" idx="2"/>
                </p:cNvCxnSpPr>
                <p:nvPr/>
              </p:nvCxnSpPr>
              <p:spPr>
                <a:xfrm flipV="1">
                  <a:off x="1993697" y="2932611"/>
                  <a:ext cx="544852" cy="21392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>
                  <a:extLst>
                    <a:ext uri="{FF2B5EF4-FFF2-40B4-BE49-F238E27FC236}">
                      <a16:creationId xmlns:a16="http://schemas.microsoft.com/office/drawing/2014/main" id="{0395416E-2B92-B679-164E-F5459D4CE5AD}"/>
                    </a:ext>
                  </a:extLst>
                </p:cNvPr>
                <p:cNvCxnSpPr>
                  <a:stCxn id="53" idx="6"/>
                  <a:endCxn id="57" idx="2"/>
                </p:cNvCxnSpPr>
                <p:nvPr/>
              </p:nvCxnSpPr>
              <p:spPr>
                <a:xfrm>
                  <a:off x="2042160" y="3263537"/>
                  <a:ext cx="1690551" cy="4136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>
                  <a:extLst>
                    <a:ext uri="{FF2B5EF4-FFF2-40B4-BE49-F238E27FC236}">
                      <a16:creationId xmlns:a16="http://schemas.microsoft.com/office/drawing/2014/main" id="{6B1E50EF-63E4-0682-E31E-C01A2E633DEB}"/>
                    </a:ext>
                  </a:extLst>
                </p:cNvPr>
                <p:cNvCxnSpPr>
                  <a:stCxn id="55" idx="5"/>
                  <a:endCxn id="57" idx="0"/>
                </p:cNvCxnSpPr>
                <p:nvPr/>
              </p:nvCxnSpPr>
              <p:spPr>
                <a:xfrm>
                  <a:off x="3557973" y="2729571"/>
                  <a:ext cx="223201" cy="458332"/>
                </a:xfrm>
                <a:prstGeom prst="lin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67" name="直接连接符 66">
                  <a:extLst>
                    <a:ext uri="{FF2B5EF4-FFF2-40B4-BE49-F238E27FC236}">
                      <a16:creationId xmlns:a16="http://schemas.microsoft.com/office/drawing/2014/main" id="{CC3B580D-B47B-4AC9-8C87-BF29C2A9B541}"/>
                    </a:ext>
                  </a:extLst>
                </p:cNvPr>
                <p:cNvCxnSpPr>
                  <a:stCxn id="55" idx="7"/>
                  <a:endCxn id="56" idx="2"/>
                </p:cNvCxnSpPr>
                <p:nvPr/>
              </p:nvCxnSpPr>
              <p:spPr>
                <a:xfrm flipV="1">
                  <a:off x="3557973" y="2270759"/>
                  <a:ext cx="404426" cy="2248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>
                  <a:extLst>
                    <a:ext uri="{FF2B5EF4-FFF2-40B4-BE49-F238E27FC236}">
                      <a16:creationId xmlns:a16="http://schemas.microsoft.com/office/drawing/2014/main" id="{6215FD84-6879-61BC-8295-3A76E4861F08}"/>
                    </a:ext>
                  </a:extLst>
                </p:cNvPr>
                <p:cNvCxnSpPr>
                  <a:stCxn id="56" idx="4"/>
                  <a:endCxn id="57" idx="0"/>
                </p:cNvCxnSpPr>
                <p:nvPr/>
              </p:nvCxnSpPr>
              <p:spPr>
                <a:xfrm flipH="1">
                  <a:off x="3898174" y="2436222"/>
                  <a:ext cx="229688" cy="70321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>
                  <a:extLst>
                    <a:ext uri="{FF2B5EF4-FFF2-40B4-BE49-F238E27FC236}">
                      <a16:creationId xmlns:a16="http://schemas.microsoft.com/office/drawing/2014/main" id="{69AB4DE8-3F90-0E5E-D17A-C2DCA3FFD696}"/>
                    </a:ext>
                  </a:extLst>
                </p:cNvPr>
                <p:cNvCxnSpPr>
                  <a:stCxn id="57" idx="7"/>
                  <a:endCxn id="58" idx="3"/>
                </p:cNvCxnSpPr>
                <p:nvPr/>
              </p:nvCxnSpPr>
              <p:spPr>
                <a:xfrm flipV="1">
                  <a:off x="4015174" y="3001714"/>
                  <a:ext cx="326614" cy="18618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>
                  <a:extLst>
                    <a:ext uri="{FF2B5EF4-FFF2-40B4-BE49-F238E27FC236}">
                      <a16:creationId xmlns:a16="http://schemas.microsoft.com/office/drawing/2014/main" id="{BDFC551D-78DB-686D-73D5-CBEE1E779406}"/>
                    </a:ext>
                  </a:extLst>
                </p:cNvPr>
                <p:cNvCxnSpPr>
                  <a:stCxn id="56" idx="6"/>
                  <a:endCxn id="59" idx="2"/>
                </p:cNvCxnSpPr>
                <p:nvPr/>
              </p:nvCxnSpPr>
              <p:spPr>
                <a:xfrm>
                  <a:off x="4293325" y="2270759"/>
                  <a:ext cx="751673" cy="10341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>
                  <a:extLst>
                    <a:ext uri="{FF2B5EF4-FFF2-40B4-BE49-F238E27FC236}">
                      <a16:creationId xmlns:a16="http://schemas.microsoft.com/office/drawing/2014/main" id="{D15D08C8-5081-8D0C-2390-BECEB152257D}"/>
                    </a:ext>
                  </a:extLst>
                </p:cNvPr>
                <p:cNvCxnSpPr>
                  <a:stCxn id="59" idx="6"/>
                  <a:endCxn id="60" idx="2"/>
                </p:cNvCxnSpPr>
                <p:nvPr/>
              </p:nvCxnSpPr>
              <p:spPr>
                <a:xfrm>
                  <a:off x="5375924" y="2374174"/>
                  <a:ext cx="552260" cy="239485"/>
                </a:xfrm>
                <a:prstGeom prst="line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72" name="直接连接符 71">
                  <a:extLst>
                    <a:ext uri="{FF2B5EF4-FFF2-40B4-BE49-F238E27FC236}">
                      <a16:creationId xmlns:a16="http://schemas.microsoft.com/office/drawing/2014/main" id="{B28B0C62-B963-23F9-2BFD-84144EB9A6E6}"/>
                    </a:ext>
                  </a:extLst>
                </p:cNvPr>
                <p:cNvCxnSpPr>
                  <a:stCxn id="59" idx="4"/>
                  <a:endCxn id="61" idx="1"/>
                </p:cNvCxnSpPr>
                <p:nvPr/>
              </p:nvCxnSpPr>
              <p:spPr>
                <a:xfrm>
                  <a:off x="5210461" y="2539637"/>
                  <a:ext cx="93664" cy="3603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直接连接符 72">
                  <a:extLst>
                    <a:ext uri="{FF2B5EF4-FFF2-40B4-BE49-F238E27FC236}">
                      <a16:creationId xmlns:a16="http://schemas.microsoft.com/office/drawing/2014/main" id="{981320BB-32BD-5373-E7A8-2029B3576D4C}"/>
                    </a:ext>
                  </a:extLst>
                </p:cNvPr>
                <p:cNvCxnSpPr>
                  <a:stCxn id="61" idx="7"/>
                  <a:endCxn id="60" idx="3"/>
                </p:cNvCxnSpPr>
                <p:nvPr/>
              </p:nvCxnSpPr>
              <p:spPr>
                <a:xfrm flipV="1">
                  <a:off x="5538125" y="2730659"/>
                  <a:ext cx="438522" cy="16931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直接连接符 73">
                  <a:extLst>
                    <a:ext uri="{FF2B5EF4-FFF2-40B4-BE49-F238E27FC236}">
                      <a16:creationId xmlns:a16="http://schemas.microsoft.com/office/drawing/2014/main" id="{85539B36-AF29-2493-74D0-2FF0064A3783}"/>
                    </a:ext>
                  </a:extLst>
                </p:cNvPr>
                <p:cNvCxnSpPr>
                  <a:stCxn id="58" idx="6"/>
                  <a:endCxn id="59" idx="3"/>
                </p:cNvCxnSpPr>
                <p:nvPr/>
              </p:nvCxnSpPr>
              <p:spPr>
                <a:xfrm flipV="1">
                  <a:off x="4624251" y="2491174"/>
                  <a:ext cx="469210" cy="39354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连接符 74">
                  <a:extLst>
                    <a:ext uri="{FF2B5EF4-FFF2-40B4-BE49-F238E27FC236}">
                      <a16:creationId xmlns:a16="http://schemas.microsoft.com/office/drawing/2014/main" id="{A987CC2A-E338-D61C-DABC-F318CA27FCC8}"/>
                    </a:ext>
                  </a:extLst>
                </p:cNvPr>
                <p:cNvCxnSpPr>
                  <a:stCxn id="57" idx="6"/>
                  <a:endCxn id="61" idx="2"/>
                </p:cNvCxnSpPr>
                <p:nvPr/>
              </p:nvCxnSpPr>
              <p:spPr>
                <a:xfrm flipV="1">
                  <a:off x="4063637" y="3016975"/>
                  <a:ext cx="1192025" cy="28792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9679F2C-A44A-5DB2-E7D2-4BFF897354DE}"/>
                  </a:ext>
                </a:extLst>
              </p:cNvPr>
              <p:cNvSpPr txBox="1"/>
              <p:nvPr/>
            </p:nvSpPr>
            <p:spPr>
              <a:xfrm>
                <a:off x="2980504" y="2520711"/>
                <a:ext cx="113043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b="1"/>
                  <a:t>O(log N)</a:t>
                </a:r>
                <a:endParaRPr lang="zh-CN" altLang="en-US" sz="2000" b="1"/>
              </a:p>
            </p:txBody>
          </p:sp>
        </p:grp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804DA8D-53AE-7F59-719D-02495BD1A784}"/>
                </a:ext>
              </a:extLst>
            </p:cNvPr>
            <p:cNvSpPr txBox="1"/>
            <p:nvPr/>
          </p:nvSpPr>
          <p:spPr>
            <a:xfrm>
              <a:off x="6272658" y="3258946"/>
              <a:ext cx="266592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/>
                <a:t>O(</a:t>
              </a:r>
              <a:r>
                <a:rPr lang="en-US" altLang="zh-CN" sz="3200" b="1" dirty="0">
                  <a:highlight>
                    <a:srgbClr val="F79646"/>
                  </a:highlight>
                </a:rPr>
                <a:t>P </a:t>
              </a:r>
              <a:r>
                <a:rPr lang="en-US" altLang="zh-CN" sz="3200" b="1" dirty="0">
                  <a:highlight>
                    <a:srgbClr val="FFF3D1"/>
                  </a:highlight>
                </a:rPr>
                <a:t>log (N/P)</a:t>
              </a:r>
              <a:r>
                <a:rPr lang="en-US" altLang="zh-CN" sz="3200" b="1" dirty="0"/>
                <a:t>)</a:t>
              </a:r>
              <a:endParaRPr lang="zh-CN" altLang="en-US" sz="3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B3A551D-0D7E-9171-8E77-B070A93627FF}"/>
                </a:ext>
              </a:extLst>
            </p:cNvPr>
            <p:cNvSpPr txBox="1"/>
            <p:nvPr/>
          </p:nvSpPr>
          <p:spPr>
            <a:xfrm>
              <a:off x="5787010" y="1533103"/>
              <a:ext cx="21734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/>
                <a:t>P: number of partition</a:t>
              </a:r>
              <a:endParaRPr lang="zh-CN" altLang="en-US" sz="1600" b="1" dirty="0"/>
            </a:p>
          </p:txBody>
        </p:sp>
        <p:sp>
          <p:nvSpPr>
            <p:cNvPr id="11" name="箭头: 右 10">
              <a:extLst>
                <a:ext uri="{FF2B5EF4-FFF2-40B4-BE49-F238E27FC236}">
                  <a16:creationId xmlns:a16="http://schemas.microsoft.com/office/drawing/2014/main" id="{8597A2B1-1855-030A-BB73-7C5BB1F31A92}"/>
                </a:ext>
              </a:extLst>
            </p:cNvPr>
            <p:cNvSpPr/>
            <p:nvPr/>
          </p:nvSpPr>
          <p:spPr>
            <a:xfrm>
              <a:off x="5044765" y="2492244"/>
              <a:ext cx="516253" cy="255715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FD546724-6C08-8A52-F8D6-D917839B0487}"/>
                </a:ext>
              </a:extLst>
            </p:cNvPr>
            <p:cNvGrpSpPr/>
            <p:nvPr/>
          </p:nvGrpSpPr>
          <p:grpSpPr>
            <a:xfrm>
              <a:off x="5796749" y="1855746"/>
              <a:ext cx="2284515" cy="685711"/>
              <a:chOff x="7631048" y="2438258"/>
              <a:chExt cx="2284515" cy="685711"/>
            </a:xfrm>
          </p:grpSpPr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C58262FE-41D9-22C8-76AC-CB85FEC837C2}"/>
                  </a:ext>
                </a:extLst>
              </p:cNvPr>
              <p:cNvCxnSpPr>
                <a:stCxn id="22" idx="6"/>
                <a:endCxn id="26" idx="2"/>
              </p:cNvCxnSpPr>
              <p:nvPr/>
            </p:nvCxnSpPr>
            <p:spPr>
              <a:xfrm>
                <a:off x="8928099" y="2521375"/>
                <a:ext cx="821231" cy="172248"/>
              </a:xfrm>
              <a:prstGeom prst="line">
                <a:avLst/>
              </a:prstGeom>
              <a:ln w="19050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E4F66D0C-0D89-8CDD-EFBE-F8C8C76D0BF7}"/>
                  </a:ext>
                </a:extLst>
              </p:cNvPr>
              <p:cNvCxnSpPr>
                <a:stCxn id="23" idx="7"/>
                <a:endCxn id="25" idx="3"/>
              </p:cNvCxnSpPr>
              <p:nvPr/>
            </p:nvCxnSpPr>
            <p:spPr>
              <a:xfrm flipV="1">
                <a:off x="8788377" y="2632095"/>
                <a:ext cx="541650" cy="349985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5D82650F-C20B-EE90-621F-AF8A14EB037F}"/>
                  </a:ext>
                </a:extLst>
              </p:cNvPr>
              <p:cNvCxnSpPr>
                <a:stCxn id="20" idx="7"/>
                <a:endCxn id="22" idx="2"/>
              </p:cNvCxnSpPr>
              <p:nvPr/>
            </p:nvCxnSpPr>
            <p:spPr>
              <a:xfrm flipV="1">
                <a:off x="8188519" y="2521375"/>
                <a:ext cx="573347" cy="273693"/>
              </a:xfrm>
              <a:prstGeom prst="line">
                <a:avLst/>
              </a:prstGeom>
              <a:ln w="19050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8A9D5BBA-B345-0789-A5EC-68434081D074}"/>
                  </a:ext>
                </a:extLst>
              </p:cNvPr>
              <p:cNvSpPr/>
              <p:nvPr/>
            </p:nvSpPr>
            <p:spPr>
              <a:xfrm>
                <a:off x="7751348" y="2566214"/>
                <a:ext cx="166233" cy="166233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55C77AD-B6F7-8837-2950-9C843FEFF0DF}"/>
                  </a:ext>
                </a:extLst>
              </p:cNvPr>
              <p:cNvSpPr/>
              <p:nvPr/>
            </p:nvSpPr>
            <p:spPr>
              <a:xfrm>
                <a:off x="7631048" y="2936957"/>
                <a:ext cx="166233" cy="166233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C62F0410-88A4-2E00-CE1B-1F87CC20980B}"/>
                  </a:ext>
                </a:extLst>
              </p:cNvPr>
              <p:cNvSpPr/>
              <p:nvPr/>
            </p:nvSpPr>
            <p:spPr>
              <a:xfrm>
                <a:off x="8046630" y="2770724"/>
                <a:ext cx="166233" cy="166233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8BA9DBC7-1E84-46ED-0A00-825E025CAEBE}"/>
                  </a:ext>
                </a:extLst>
              </p:cNvPr>
              <p:cNvSpPr/>
              <p:nvPr/>
            </p:nvSpPr>
            <p:spPr>
              <a:xfrm>
                <a:off x="8416824" y="2609959"/>
                <a:ext cx="166233" cy="16623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9B6A4F51-DD48-0C23-9318-A3C5E476972D}"/>
                  </a:ext>
                </a:extLst>
              </p:cNvPr>
              <p:cNvSpPr/>
              <p:nvPr/>
            </p:nvSpPr>
            <p:spPr>
              <a:xfrm>
                <a:off x="8761866" y="2438258"/>
                <a:ext cx="166233" cy="166233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1D9DCBA5-BD75-6BCD-7DC7-AD6B89592E87}"/>
                  </a:ext>
                </a:extLst>
              </p:cNvPr>
              <p:cNvSpPr/>
              <p:nvPr/>
            </p:nvSpPr>
            <p:spPr>
              <a:xfrm>
                <a:off x="8646488" y="2957736"/>
                <a:ext cx="166233" cy="166233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4884AA1A-A161-F7F8-7BC8-DA7A9F06100B}"/>
                  </a:ext>
                </a:extLst>
              </p:cNvPr>
              <p:cNvSpPr/>
              <p:nvPr/>
            </p:nvSpPr>
            <p:spPr>
              <a:xfrm>
                <a:off x="8928099" y="2746664"/>
                <a:ext cx="166233" cy="16623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2CA394AD-692A-1286-88AA-3E5BBE2906AC}"/>
                  </a:ext>
                </a:extLst>
              </p:cNvPr>
              <p:cNvSpPr/>
              <p:nvPr/>
            </p:nvSpPr>
            <p:spPr>
              <a:xfrm>
                <a:off x="9305683" y="2490206"/>
                <a:ext cx="166233" cy="166233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7DDB946A-72D1-9746-BA12-327D060113C8}"/>
                  </a:ext>
                </a:extLst>
              </p:cNvPr>
              <p:cNvSpPr/>
              <p:nvPr/>
            </p:nvSpPr>
            <p:spPr>
              <a:xfrm>
                <a:off x="9749330" y="2610506"/>
                <a:ext cx="166233" cy="166233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2623F4C1-FEEE-2DFD-8D38-05B19B2B6787}"/>
                  </a:ext>
                </a:extLst>
              </p:cNvPr>
              <p:cNvSpPr/>
              <p:nvPr/>
            </p:nvSpPr>
            <p:spPr>
              <a:xfrm>
                <a:off x="9411505" y="2813102"/>
                <a:ext cx="166233" cy="166233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7CE78DE1-FEF4-6ABD-5524-B3EF7785A2EF}"/>
                  </a:ext>
                </a:extLst>
              </p:cNvPr>
              <p:cNvCxnSpPr>
                <a:stCxn id="19" idx="0"/>
                <a:endCxn id="18" idx="3"/>
              </p:cNvCxnSpPr>
              <p:nvPr/>
            </p:nvCxnSpPr>
            <p:spPr>
              <a:xfrm flipV="1">
                <a:off x="7714165" y="2708103"/>
                <a:ext cx="61527" cy="228854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B7CAC4CA-AF90-B2F9-89A3-B46570AFB58F}"/>
                  </a:ext>
                </a:extLst>
              </p:cNvPr>
              <p:cNvCxnSpPr>
                <a:stCxn id="19" idx="6"/>
                <a:endCxn id="23" idx="2"/>
              </p:cNvCxnSpPr>
              <p:nvPr/>
            </p:nvCxnSpPr>
            <p:spPr>
              <a:xfrm>
                <a:off x="7797281" y="3020074"/>
                <a:ext cx="849207" cy="20779"/>
              </a:xfrm>
              <a:prstGeom prst="line">
                <a:avLst/>
              </a:prstGeom>
              <a:ln w="190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46B3ADA8-5EE7-9354-BDDF-DE464B1F326B}"/>
                  </a:ext>
                </a:extLst>
              </p:cNvPr>
              <p:cNvCxnSpPr>
                <a:stCxn id="21" idx="6"/>
                <a:endCxn id="24" idx="1"/>
              </p:cNvCxnSpPr>
              <p:nvPr/>
            </p:nvCxnSpPr>
            <p:spPr>
              <a:xfrm>
                <a:off x="8583057" y="2693076"/>
                <a:ext cx="345042" cy="136705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AEF48C1C-EF28-F419-AEA7-0E31A728FBC1}"/>
                  </a:ext>
                </a:extLst>
              </p:cNvPr>
              <p:cNvCxnSpPr>
                <a:stCxn id="24" idx="6"/>
                <a:endCxn id="27" idx="2"/>
              </p:cNvCxnSpPr>
              <p:nvPr/>
            </p:nvCxnSpPr>
            <p:spPr>
              <a:xfrm>
                <a:off x="9094332" y="2829781"/>
                <a:ext cx="317173" cy="66438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2273D4F-9E5A-A370-6FC9-B24F9939D1E1}"/>
                </a:ext>
              </a:extLst>
            </p:cNvPr>
            <p:cNvSpPr txBox="1"/>
            <p:nvPr/>
          </p:nvSpPr>
          <p:spPr>
            <a:xfrm>
              <a:off x="8192445" y="1923711"/>
              <a:ext cx="13195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/>
                <a:t>Hash shard</a:t>
              </a:r>
              <a:endParaRPr lang="zh-CN" altLang="en-US" b="1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DD392A4-AB3D-9E2D-9795-BFB0455A0C9C}"/>
                </a:ext>
              </a:extLst>
            </p:cNvPr>
            <p:cNvSpPr txBox="1"/>
            <p:nvPr/>
          </p:nvSpPr>
          <p:spPr>
            <a:xfrm>
              <a:off x="8192445" y="2692928"/>
              <a:ext cx="15632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err="1"/>
                <a:t>kmeans</a:t>
              </a:r>
              <a:r>
                <a:rPr lang="en-US" altLang="zh-CN" b="1"/>
                <a:t> shard</a:t>
              </a:r>
              <a:endParaRPr lang="zh-CN" altLang="en-US" b="1"/>
            </a:p>
          </p:txBody>
        </p:sp>
      </p:grpSp>
      <p:sp>
        <p:nvSpPr>
          <p:cNvPr id="81" name="圆角矩形 76">
            <a:extLst>
              <a:ext uri="{FF2B5EF4-FFF2-40B4-BE49-F238E27FC236}">
                <a16:creationId xmlns:a16="http://schemas.microsoft.com/office/drawing/2014/main" id="{9512BADC-850C-252A-2BDF-47431505C74E}"/>
              </a:ext>
            </a:extLst>
          </p:cNvPr>
          <p:cNvSpPr/>
          <p:nvPr/>
        </p:nvSpPr>
        <p:spPr>
          <a:xfrm>
            <a:off x="838199" y="1172477"/>
            <a:ext cx="10515600" cy="5503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/>
              <a:t>系统吞吐未能随机器</a:t>
            </a:r>
            <a:r>
              <a:rPr lang="zh-CN" altLang="en-US" sz="3600" b="1"/>
              <a:t>数目增长显著提升</a:t>
            </a:r>
            <a:endParaRPr lang="zh-CN" altLang="en-US" sz="3600" b="1" dirty="0"/>
          </a:p>
        </p:txBody>
      </p:sp>
      <p:sp>
        <p:nvSpPr>
          <p:cNvPr id="77" name="圆角矩形 76">
            <a:extLst>
              <a:ext uri="{FF2B5EF4-FFF2-40B4-BE49-F238E27FC236}">
                <a16:creationId xmlns:a16="http://schemas.microsoft.com/office/drawing/2014/main" id="{1AD33AAA-1606-BAD8-B920-63F96C77053D}"/>
              </a:ext>
            </a:extLst>
          </p:cNvPr>
          <p:cNvSpPr/>
          <p:nvPr/>
        </p:nvSpPr>
        <p:spPr>
          <a:xfrm>
            <a:off x="838199" y="5530849"/>
            <a:ext cx="10515600" cy="55033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/>
              <a:t>机器数目从单机扩展到</a:t>
            </a:r>
            <a:r>
              <a:rPr lang="en-US" altLang="zh-CN" sz="3200" b="1" dirty="0"/>
              <a:t>16</a:t>
            </a:r>
            <a:r>
              <a:rPr lang="zh-CN" altLang="en-US" sz="3200" b="1" dirty="0"/>
              <a:t>个，系统吞吐仅增长了</a:t>
            </a:r>
            <a:r>
              <a:rPr lang="en-US" altLang="zh-CN" sz="3200" b="1" dirty="0"/>
              <a:t>~6</a:t>
            </a:r>
            <a:r>
              <a:rPr lang="zh-CN" altLang="en-US" sz="3200" b="1" dirty="0"/>
              <a:t>倍</a:t>
            </a:r>
            <a:endParaRPr lang="en-US" altLang="zh-CN" sz="3200" b="1" dirty="0"/>
          </a:p>
        </p:txBody>
      </p:sp>
      <p:pic>
        <p:nvPicPr>
          <p:cNvPr id="78" name="图片 77" descr="图表, 折线图&#10;&#10;描述已自动生成">
            <a:extLst>
              <a:ext uri="{FF2B5EF4-FFF2-40B4-BE49-F238E27FC236}">
                <a16:creationId xmlns:a16="http://schemas.microsoft.com/office/drawing/2014/main" id="{CB9E8A2F-5C6F-18E4-7D97-D1F0CEE4D4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37" y="2079253"/>
            <a:ext cx="3893210" cy="3132948"/>
          </a:xfrm>
          <a:prstGeom prst="rect">
            <a:avLst/>
          </a:prstGeom>
        </p:spPr>
      </p:pic>
      <p:sp>
        <p:nvSpPr>
          <p:cNvPr id="79" name="文本框 78">
            <a:extLst>
              <a:ext uri="{FF2B5EF4-FFF2-40B4-BE49-F238E27FC236}">
                <a16:creationId xmlns:a16="http://schemas.microsoft.com/office/drawing/2014/main" id="{93FE8D9D-25E4-38F1-25C2-793885C9E53D}"/>
              </a:ext>
            </a:extLst>
          </p:cNvPr>
          <p:cNvSpPr txBox="1"/>
          <p:nvPr/>
        </p:nvSpPr>
        <p:spPr>
          <a:xfrm>
            <a:off x="-27633" y="6539501"/>
            <a:ext cx="857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数据来自：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</a:rPr>
              <a:t>CoTra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: Towards Efficient and Scalable Distributed Vector Search with RDMA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866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FFD3D-9B86-9233-048E-EB75779C4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4099"/>
            <a:ext cx="10515600" cy="1325563"/>
          </a:xfrm>
        </p:spPr>
        <p:txBody>
          <a:bodyPr/>
          <a:lstStyle/>
          <a:p>
            <a:r>
              <a:rPr lang="zh-CN" altLang="en-US" dirty="0"/>
              <a:t>拓展性问题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42E326-029A-64E1-E498-536B42CFB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3114-2061-4842-97A6-B5DACC79B906}" type="datetime1">
              <a:rPr lang="zh-CN" altLang="en-US" smtClean="0"/>
              <a:t>2026/7/13</a:t>
            </a:fld>
            <a:endParaRPr lang="zh-CN" altLang="en-US"/>
          </a:p>
        </p:txBody>
      </p:sp>
      <p:grpSp>
        <p:nvGrpSpPr>
          <p:cNvPr id="218" name="组合 217">
            <a:extLst>
              <a:ext uri="{FF2B5EF4-FFF2-40B4-BE49-F238E27FC236}">
                <a16:creationId xmlns:a16="http://schemas.microsoft.com/office/drawing/2014/main" id="{674DB2D1-C2D0-75B4-E8AA-C115E7813B0A}"/>
              </a:ext>
            </a:extLst>
          </p:cNvPr>
          <p:cNvGrpSpPr/>
          <p:nvPr/>
        </p:nvGrpSpPr>
        <p:grpSpPr>
          <a:xfrm>
            <a:off x="838199" y="1722662"/>
            <a:ext cx="4345215" cy="4271902"/>
            <a:chOff x="7920179" y="1166333"/>
            <a:chExt cx="3433620" cy="3375688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4B9D1948-68E7-3650-219A-F2B92A199C98}"/>
                </a:ext>
              </a:extLst>
            </p:cNvPr>
            <p:cNvSpPr/>
            <p:nvPr/>
          </p:nvSpPr>
          <p:spPr>
            <a:xfrm>
              <a:off x="7920179" y="1166333"/>
              <a:ext cx="3433620" cy="3375688"/>
            </a:xfrm>
            <a:prstGeom prst="roundRect">
              <a:avLst>
                <a:gd name="adj" fmla="val 6445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8" name="组合 147">
              <a:extLst>
                <a:ext uri="{FF2B5EF4-FFF2-40B4-BE49-F238E27FC236}">
                  <a16:creationId xmlns:a16="http://schemas.microsoft.com/office/drawing/2014/main" id="{A66C1970-5A6C-1B95-63CF-F73C7E169D97}"/>
                </a:ext>
              </a:extLst>
            </p:cNvPr>
            <p:cNvGrpSpPr/>
            <p:nvPr/>
          </p:nvGrpSpPr>
          <p:grpSpPr>
            <a:xfrm>
              <a:off x="8006014" y="1539408"/>
              <a:ext cx="3246061" cy="1194343"/>
              <a:chOff x="8013588" y="1856084"/>
              <a:chExt cx="3246061" cy="1194343"/>
            </a:xfrm>
          </p:grpSpPr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1EBF2528-C072-BB23-BE8E-8799CCBB6359}"/>
                  </a:ext>
                </a:extLst>
              </p:cNvPr>
              <p:cNvSpPr/>
              <p:nvPr/>
            </p:nvSpPr>
            <p:spPr>
              <a:xfrm>
                <a:off x="8760018" y="1856084"/>
                <a:ext cx="110836" cy="11083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5902DDFF-5679-A968-3F05-0746340FF2EA}"/>
                  </a:ext>
                </a:extLst>
              </p:cNvPr>
              <p:cNvSpPr/>
              <p:nvPr/>
            </p:nvSpPr>
            <p:spPr>
              <a:xfrm>
                <a:off x="8761957" y="2548576"/>
                <a:ext cx="110836" cy="11083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941DB799-1D46-D937-1163-C4BF504BF78B}"/>
                  </a:ext>
                </a:extLst>
              </p:cNvPr>
              <p:cNvSpPr/>
              <p:nvPr/>
            </p:nvSpPr>
            <p:spPr>
              <a:xfrm>
                <a:off x="8269094" y="2667712"/>
                <a:ext cx="110836" cy="11083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83D58650-A30C-2311-C0C3-7F208E649A90}"/>
                  </a:ext>
                </a:extLst>
              </p:cNvPr>
              <p:cNvSpPr/>
              <p:nvPr/>
            </p:nvSpPr>
            <p:spPr>
              <a:xfrm>
                <a:off x="9329520" y="2079609"/>
                <a:ext cx="110836" cy="11083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307B89C4-9CA7-5E27-DC80-33239804C195}"/>
                  </a:ext>
                </a:extLst>
              </p:cNvPr>
              <p:cNvSpPr/>
              <p:nvPr/>
            </p:nvSpPr>
            <p:spPr>
              <a:xfrm>
                <a:off x="9269203" y="2847025"/>
                <a:ext cx="110836" cy="110836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矩形: 圆角 99">
                <a:extLst>
                  <a:ext uri="{FF2B5EF4-FFF2-40B4-BE49-F238E27FC236}">
                    <a16:creationId xmlns:a16="http://schemas.microsoft.com/office/drawing/2014/main" id="{AB11A04B-9DC2-994E-DE99-653F07EE598E}"/>
                  </a:ext>
                </a:extLst>
              </p:cNvPr>
              <p:cNvSpPr/>
              <p:nvPr/>
            </p:nvSpPr>
            <p:spPr>
              <a:xfrm>
                <a:off x="8013588" y="2008309"/>
                <a:ext cx="1034489" cy="1042118"/>
              </a:xfrm>
              <a:prstGeom prst="roundRect">
                <a:avLst>
                  <a:gd name="adj" fmla="val 7858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矩形: 圆角 102">
                <a:extLst>
                  <a:ext uri="{FF2B5EF4-FFF2-40B4-BE49-F238E27FC236}">
                    <a16:creationId xmlns:a16="http://schemas.microsoft.com/office/drawing/2014/main" id="{0B98FD0D-C230-D6F5-3491-41F1969C54D0}"/>
                  </a:ext>
                </a:extLst>
              </p:cNvPr>
              <p:cNvSpPr/>
              <p:nvPr/>
            </p:nvSpPr>
            <p:spPr>
              <a:xfrm>
                <a:off x="10225160" y="2008308"/>
                <a:ext cx="1034489" cy="1042119"/>
              </a:xfrm>
              <a:prstGeom prst="roundRect">
                <a:avLst>
                  <a:gd name="adj" fmla="val 7858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矩形: 圆角 103">
                <a:extLst>
                  <a:ext uri="{FF2B5EF4-FFF2-40B4-BE49-F238E27FC236}">
                    <a16:creationId xmlns:a16="http://schemas.microsoft.com/office/drawing/2014/main" id="{C69A01AE-8FAA-C009-0AC2-6B842ECB40B1}"/>
                  </a:ext>
                </a:extLst>
              </p:cNvPr>
              <p:cNvSpPr/>
              <p:nvPr/>
            </p:nvSpPr>
            <p:spPr>
              <a:xfrm>
                <a:off x="9119743" y="2008308"/>
                <a:ext cx="1034489" cy="1042119"/>
              </a:xfrm>
              <a:prstGeom prst="roundRect">
                <a:avLst>
                  <a:gd name="adj" fmla="val 7858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75843318-F821-0AC7-5145-0813E0F17754}"/>
                  </a:ext>
                </a:extLst>
              </p:cNvPr>
              <p:cNvSpPr/>
              <p:nvPr/>
            </p:nvSpPr>
            <p:spPr>
              <a:xfrm>
                <a:off x="9741028" y="2532344"/>
                <a:ext cx="110836" cy="110836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7348E5FC-D2C6-1DF7-6B56-397BBC50ED99}"/>
                  </a:ext>
                </a:extLst>
              </p:cNvPr>
              <p:cNvSpPr/>
              <p:nvPr/>
            </p:nvSpPr>
            <p:spPr>
              <a:xfrm>
                <a:off x="10465841" y="2403917"/>
                <a:ext cx="110836" cy="110836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椭圆 106">
                <a:extLst>
                  <a:ext uri="{FF2B5EF4-FFF2-40B4-BE49-F238E27FC236}">
                    <a16:creationId xmlns:a16="http://schemas.microsoft.com/office/drawing/2014/main" id="{0918BFB0-D25C-2FEA-86E4-824D781E687E}"/>
                  </a:ext>
                </a:extLst>
              </p:cNvPr>
              <p:cNvSpPr/>
              <p:nvPr/>
            </p:nvSpPr>
            <p:spPr>
              <a:xfrm>
                <a:off x="10998943" y="2206877"/>
                <a:ext cx="110836" cy="110836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椭圆 107">
                <a:extLst>
                  <a:ext uri="{FF2B5EF4-FFF2-40B4-BE49-F238E27FC236}">
                    <a16:creationId xmlns:a16="http://schemas.microsoft.com/office/drawing/2014/main" id="{7E40056B-1051-9980-7C75-C3443BE0AC8B}"/>
                  </a:ext>
                </a:extLst>
              </p:cNvPr>
              <p:cNvSpPr/>
              <p:nvPr/>
            </p:nvSpPr>
            <p:spPr>
              <a:xfrm>
                <a:off x="11085662" y="2868396"/>
                <a:ext cx="110836" cy="110836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椭圆 108">
                <a:extLst>
                  <a:ext uri="{FF2B5EF4-FFF2-40B4-BE49-F238E27FC236}">
                    <a16:creationId xmlns:a16="http://schemas.microsoft.com/office/drawing/2014/main" id="{BC267719-8449-8338-0534-3581865BF446}"/>
                  </a:ext>
                </a:extLst>
              </p:cNvPr>
              <p:cNvSpPr/>
              <p:nvPr/>
            </p:nvSpPr>
            <p:spPr>
              <a:xfrm>
                <a:off x="10465841" y="1860636"/>
                <a:ext cx="110836" cy="110836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505CC43F-9859-070C-7513-5A0A6AB0A4E7}"/>
                  </a:ext>
                </a:extLst>
              </p:cNvPr>
              <p:cNvCxnSpPr>
                <a:stCxn id="95" idx="4"/>
                <a:endCxn id="96" idx="0"/>
              </p:cNvCxnSpPr>
              <p:nvPr/>
            </p:nvCxnSpPr>
            <p:spPr>
              <a:xfrm>
                <a:off x="8815436" y="1966920"/>
                <a:ext cx="1939" cy="581656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BE985D29-071F-72D7-F5CB-8C8D7CDE3A5D}"/>
                  </a:ext>
                </a:extLst>
              </p:cNvPr>
              <p:cNvCxnSpPr>
                <a:stCxn id="109" idx="4"/>
                <a:endCxn id="106" idx="0"/>
              </p:cNvCxnSpPr>
              <p:nvPr/>
            </p:nvCxnSpPr>
            <p:spPr>
              <a:xfrm>
                <a:off x="10521259" y="1971472"/>
                <a:ext cx="0" cy="432445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0FE6F985-4BD0-D2AE-DD01-2AA9B971A6F0}"/>
                  </a:ext>
                </a:extLst>
              </p:cNvPr>
              <p:cNvCxnSpPr>
                <a:cxnSpLocks/>
                <a:stCxn id="106" idx="7"/>
                <a:endCxn id="107" idx="2"/>
              </p:cNvCxnSpPr>
              <p:nvPr/>
            </p:nvCxnSpPr>
            <p:spPr>
              <a:xfrm flipV="1">
                <a:off x="10560445" y="2262295"/>
                <a:ext cx="438498" cy="157854"/>
              </a:xfrm>
              <a:prstGeom prst="line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>
                <a:extLst>
                  <a:ext uri="{FF2B5EF4-FFF2-40B4-BE49-F238E27FC236}">
                    <a16:creationId xmlns:a16="http://schemas.microsoft.com/office/drawing/2014/main" id="{C5D569D3-E65D-84C7-829D-6C17FA33AEDA}"/>
                  </a:ext>
                </a:extLst>
              </p:cNvPr>
              <p:cNvCxnSpPr>
                <a:stCxn id="108" idx="1"/>
                <a:endCxn id="106" idx="5"/>
              </p:cNvCxnSpPr>
              <p:nvPr/>
            </p:nvCxnSpPr>
            <p:spPr>
              <a:xfrm flipH="1" flipV="1">
                <a:off x="10560445" y="2498521"/>
                <a:ext cx="541449" cy="386107"/>
              </a:xfrm>
              <a:prstGeom prst="line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直接连接符 120">
                <a:extLst>
                  <a:ext uri="{FF2B5EF4-FFF2-40B4-BE49-F238E27FC236}">
                    <a16:creationId xmlns:a16="http://schemas.microsoft.com/office/drawing/2014/main" id="{D9E21186-9348-CD27-7D56-7997184B5F3D}"/>
                  </a:ext>
                </a:extLst>
              </p:cNvPr>
              <p:cNvCxnSpPr>
                <a:stCxn id="106" idx="2"/>
                <a:endCxn id="105" idx="6"/>
              </p:cNvCxnSpPr>
              <p:nvPr/>
            </p:nvCxnSpPr>
            <p:spPr>
              <a:xfrm flipH="1">
                <a:off x="9851864" y="2459335"/>
                <a:ext cx="613977" cy="128427"/>
              </a:xfrm>
              <a:prstGeom prst="line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42CC1265-F0FD-31BF-75D9-E575BEB71D40}"/>
                  </a:ext>
                </a:extLst>
              </p:cNvPr>
              <p:cNvCxnSpPr>
                <a:stCxn id="96" idx="2"/>
                <a:endCxn id="97" idx="6"/>
              </p:cNvCxnSpPr>
              <p:nvPr/>
            </p:nvCxnSpPr>
            <p:spPr>
              <a:xfrm flipH="1">
                <a:off x="8379930" y="2603994"/>
                <a:ext cx="382027" cy="119136"/>
              </a:xfrm>
              <a:prstGeom prst="line">
                <a:avLst/>
              </a:prstGeom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连接符 124">
                <a:extLst>
                  <a:ext uri="{FF2B5EF4-FFF2-40B4-BE49-F238E27FC236}">
                    <a16:creationId xmlns:a16="http://schemas.microsoft.com/office/drawing/2014/main" id="{CB00E2FD-FF37-101E-AD05-85406F5410B1}"/>
                  </a:ext>
                </a:extLst>
              </p:cNvPr>
              <p:cNvCxnSpPr>
                <a:cxnSpLocks/>
                <a:stCxn id="96" idx="7"/>
                <a:endCxn id="98" idx="2"/>
              </p:cNvCxnSpPr>
              <p:nvPr/>
            </p:nvCxnSpPr>
            <p:spPr>
              <a:xfrm flipV="1">
                <a:off x="8856561" y="2135027"/>
                <a:ext cx="472959" cy="429781"/>
              </a:xfrm>
              <a:prstGeom prst="line">
                <a:avLst/>
              </a:prstGeom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接连接符 126">
                <a:extLst>
                  <a:ext uri="{FF2B5EF4-FFF2-40B4-BE49-F238E27FC236}">
                    <a16:creationId xmlns:a16="http://schemas.microsoft.com/office/drawing/2014/main" id="{3F2CC786-7B08-2988-88A7-E8117A6351B2}"/>
                  </a:ext>
                </a:extLst>
              </p:cNvPr>
              <p:cNvCxnSpPr>
                <a:cxnSpLocks/>
                <a:stCxn id="96" idx="5"/>
                <a:endCxn id="99" idx="2"/>
              </p:cNvCxnSpPr>
              <p:nvPr/>
            </p:nvCxnSpPr>
            <p:spPr>
              <a:xfrm>
                <a:off x="8856561" y="2643180"/>
                <a:ext cx="412642" cy="259263"/>
              </a:xfrm>
              <a:prstGeom prst="line">
                <a:avLst/>
              </a:prstGeom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接连接符 128">
                <a:extLst>
                  <a:ext uri="{FF2B5EF4-FFF2-40B4-BE49-F238E27FC236}">
                    <a16:creationId xmlns:a16="http://schemas.microsoft.com/office/drawing/2014/main" id="{662EF83C-7545-4898-B0BE-0A8491A6796F}"/>
                  </a:ext>
                </a:extLst>
              </p:cNvPr>
              <p:cNvCxnSpPr>
                <a:cxnSpLocks/>
                <a:stCxn id="98" idx="5"/>
                <a:endCxn id="105" idx="1"/>
              </p:cNvCxnSpPr>
              <p:nvPr/>
            </p:nvCxnSpPr>
            <p:spPr>
              <a:xfrm>
                <a:off x="9424124" y="2174213"/>
                <a:ext cx="333136" cy="37436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接连接符 130">
                <a:extLst>
                  <a:ext uri="{FF2B5EF4-FFF2-40B4-BE49-F238E27FC236}">
                    <a16:creationId xmlns:a16="http://schemas.microsoft.com/office/drawing/2014/main" id="{01226846-77F1-82F3-6D1E-18C5A0629A87}"/>
                  </a:ext>
                </a:extLst>
              </p:cNvPr>
              <p:cNvCxnSpPr>
                <a:stCxn id="99" idx="7"/>
                <a:endCxn id="105" idx="3"/>
              </p:cNvCxnSpPr>
              <p:nvPr/>
            </p:nvCxnSpPr>
            <p:spPr>
              <a:xfrm flipV="1">
                <a:off x="9363807" y="2626948"/>
                <a:ext cx="393453" cy="23630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9" name="文本框 148">
              <a:extLst>
                <a:ext uri="{FF2B5EF4-FFF2-40B4-BE49-F238E27FC236}">
                  <a16:creationId xmlns:a16="http://schemas.microsoft.com/office/drawing/2014/main" id="{C52D0AD6-BE5C-B45D-EBE1-9426F708B761}"/>
                </a:ext>
              </a:extLst>
            </p:cNvPr>
            <p:cNvSpPr txBox="1"/>
            <p:nvPr/>
          </p:nvSpPr>
          <p:spPr>
            <a:xfrm>
              <a:off x="8702852" y="1182866"/>
              <a:ext cx="2504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空间划分 ≠ 图拓扑划分</a:t>
              </a:r>
            </a:p>
          </p:txBody>
        </p:sp>
        <p:grpSp>
          <p:nvGrpSpPr>
            <p:cNvPr id="214" name="组合 213">
              <a:extLst>
                <a:ext uri="{FF2B5EF4-FFF2-40B4-BE49-F238E27FC236}">
                  <a16:creationId xmlns:a16="http://schemas.microsoft.com/office/drawing/2014/main" id="{A8CD0F45-8694-BE39-9E05-FA2D7798D13F}"/>
                </a:ext>
              </a:extLst>
            </p:cNvPr>
            <p:cNvGrpSpPr/>
            <p:nvPr/>
          </p:nvGrpSpPr>
          <p:grpSpPr>
            <a:xfrm>
              <a:off x="8013958" y="3367603"/>
              <a:ext cx="3246061" cy="1042119"/>
              <a:chOff x="8006014" y="3069900"/>
              <a:chExt cx="3246061" cy="1042119"/>
            </a:xfrm>
          </p:grpSpPr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996E255F-6A12-73C9-9369-ADB447D1DD49}"/>
                  </a:ext>
                </a:extLst>
              </p:cNvPr>
              <p:cNvSpPr/>
              <p:nvPr/>
            </p:nvSpPr>
            <p:spPr>
              <a:xfrm>
                <a:off x="8848987" y="3874570"/>
                <a:ext cx="110836" cy="11083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EF362033-6364-E79C-079C-3826E646C0D7}"/>
                  </a:ext>
                </a:extLst>
              </p:cNvPr>
              <p:cNvSpPr/>
              <p:nvPr/>
            </p:nvSpPr>
            <p:spPr>
              <a:xfrm>
                <a:off x="8150684" y="3577980"/>
                <a:ext cx="110836" cy="11083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FF1A15C0-6FE2-04C3-0560-C7C8339B8FCF}"/>
                  </a:ext>
                </a:extLst>
              </p:cNvPr>
              <p:cNvSpPr/>
              <p:nvPr/>
            </p:nvSpPr>
            <p:spPr>
              <a:xfrm>
                <a:off x="9321946" y="3141201"/>
                <a:ext cx="110836" cy="11083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D220CA10-9F93-B732-325A-13AB6BE3C934}"/>
                  </a:ext>
                </a:extLst>
              </p:cNvPr>
              <p:cNvSpPr/>
              <p:nvPr/>
            </p:nvSpPr>
            <p:spPr>
              <a:xfrm>
                <a:off x="9270671" y="3716425"/>
                <a:ext cx="110836" cy="11083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矩形: 圆角 155">
                <a:extLst>
                  <a:ext uri="{FF2B5EF4-FFF2-40B4-BE49-F238E27FC236}">
                    <a16:creationId xmlns:a16="http://schemas.microsoft.com/office/drawing/2014/main" id="{513EFB7D-F599-DB20-86F5-FFA14436A4A0}"/>
                  </a:ext>
                </a:extLst>
              </p:cNvPr>
              <p:cNvSpPr/>
              <p:nvPr/>
            </p:nvSpPr>
            <p:spPr>
              <a:xfrm>
                <a:off x="8006014" y="3069901"/>
                <a:ext cx="1034489" cy="1042118"/>
              </a:xfrm>
              <a:prstGeom prst="roundRect">
                <a:avLst>
                  <a:gd name="adj" fmla="val 7858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矩形: 圆角 156">
                <a:extLst>
                  <a:ext uri="{FF2B5EF4-FFF2-40B4-BE49-F238E27FC236}">
                    <a16:creationId xmlns:a16="http://schemas.microsoft.com/office/drawing/2014/main" id="{79FD99C2-FB5C-4A2E-E4F7-A3DE8B34D653}"/>
                  </a:ext>
                </a:extLst>
              </p:cNvPr>
              <p:cNvSpPr/>
              <p:nvPr/>
            </p:nvSpPr>
            <p:spPr>
              <a:xfrm>
                <a:off x="10217586" y="3069900"/>
                <a:ext cx="1034489" cy="1042119"/>
              </a:xfrm>
              <a:prstGeom prst="roundRect">
                <a:avLst>
                  <a:gd name="adj" fmla="val 7858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矩形: 圆角 157">
                <a:extLst>
                  <a:ext uri="{FF2B5EF4-FFF2-40B4-BE49-F238E27FC236}">
                    <a16:creationId xmlns:a16="http://schemas.microsoft.com/office/drawing/2014/main" id="{61CF76A8-45B5-5951-E711-268D370A950E}"/>
                  </a:ext>
                </a:extLst>
              </p:cNvPr>
              <p:cNvSpPr/>
              <p:nvPr/>
            </p:nvSpPr>
            <p:spPr>
              <a:xfrm>
                <a:off x="9112169" y="3069900"/>
                <a:ext cx="1034489" cy="1042119"/>
              </a:xfrm>
              <a:prstGeom prst="roundRect">
                <a:avLst>
                  <a:gd name="adj" fmla="val 7858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7C4D8CDC-2E32-0944-06BA-EA0AEC1AE88E}"/>
                  </a:ext>
                </a:extLst>
              </p:cNvPr>
              <p:cNvSpPr/>
              <p:nvPr/>
            </p:nvSpPr>
            <p:spPr>
              <a:xfrm>
                <a:off x="9869864" y="3459308"/>
                <a:ext cx="110836" cy="11083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29D8EF2E-D910-2827-5922-BBB3AD759DCC}"/>
                  </a:ext>
                </a:extLst>
              </p:cNvPr>
              <p:cNvSpPr/>
              <p:nvPr/>
            </p:nvSpPr>
            <p:spPr>
              <a:xfrm>
                <a:off x="10337342" y="3134228"/>
                <a:ext cx="110836" cy="11083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4A61F3D3-EED5-40CA-F203-F936854E49CE}"/>
                  </a:ext>
                </a:extLst>
              </p:cNvPr>
              <p:cNvSpPr/>
              <p:nvPr/>
            </p:nvSpPr>
            <p:spPr>
              <a:xfrm>
                <a:off x="10983484" y="3274891"/>
                <a:ext cx="110836" cy="11083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F8111059-CE52-179C-0758-00696EF99FCE}"/>
                  </a:ext>
                </a:extLst>
              </p:cNvPr>
              <p:cNvSpPr/>
              <p:nvPr/>
            </p:nvSpPr>
            <p:spPr>
              <a:xfrm>
                <a:off x="10865979" y="3874570"/>
                <a:ext cx="110836" cy="110836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76" name="直接连接符 175">
                <a:extLst>
                  <a:ext uri="{FF2B5EF4-FFF2-40B4-BE49-F238E27FC236}">
                    <a16:creationId xmlns:a16="http://schemas.microsoft.com/office/drawing/2014/main" id="{AAC8A4C0-40E3-6CBB-BACB-405EF8EF85FC}"/>
                  </a:ext>
                </a:extLst>
              </p:cNvPr>
              <p:cNvCxnSpPr>
                <a:cxnSpLocks/>
                <a:stCxn id="153" idx="6"/>
                <a:endCxn id="154" idx="2"/>
              </p:cNvCxnSpPr>
              <p:nvPr/>
            </p:nvCxnSpPr>
            <p:spPr>
              <a:xfrm flipV="1">
                <a:off x="8261520" y="3196619"/>
                <a:ext cx="1060426" cy="436779"/>
              </a:xfrm>
              <a:prstGeom prst="line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>
                <a:extLst>
                  <a:ext uri="{FF2B5EF4-FFF2-40B4-BE49-F238E27FC236}">
                    <a16:creationId xmlns:a16="http://schemas.microsoft.com/office/drawing/2014/main" id="{8796D44E-A60F-51B5-ECEA-9CDBD29CD43E}"/>
                  </a:ext>
                </a:extLst>
              </p:cNvPr>
              <p:cNvCxnSpPr>
                <a:cxnSpLocks/>
                <a:stCxn id="153" idx="6"/>
                <a:endCxn id="152" idx="2"/>
              </p:cNvCxnSpPr>
              <p:nvPr/>
            </p:nvCxnSpPr>
            <p:spPr>
              <a:xfrm>
                <a:off x="8261520" y="3633398"/>
                <a:ext cx="587467" cy="29659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>
                <a:extLst>
                  <a:ext uri="{FF2B5EF4-FFF2-40B4-BE49-F238E27FC236}">
                    <a16:creationId xmlns:a16="http://schemas.microsoft.com/office/drawing/2014/main" id="{84DFC7BB-40E9-6F6D-763B-B538B7FF0064}"/>
                  </a:ext>
                </a:extLst>
              </p:cNvPr>
              <p:cNvCxnSpPr>
                <a:cxnSpLocks/>
                <a:stCxn id="152" idx="6"/>
                <a:endCxn id="155" idx="3"/>
              </p:cNvCxnSpPr>
              <p:nvPr/>
            </p:nvCxnSpPr>
            <p:spPr>
              <a:xfrm flipV="1">
                <a:off x="8959823" y="3811029"/>
                <a:ext cx="327080" cy="11895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>
                <a:extLst>
                  <a:ext uri="{FF2B5EF4-FFF2-40B4-BE49-F238E27FC236}">
                    <a16:creationId xmlns:a16="http://schemas.microsoft.com/office/drawing/2014/main" id="{A32D07D2-3178-74A2-CE15-874393CB6AF4}"/>
                  </a:ext>
                </a:extLst>
              </p:cNvPr>
              <p:cNvCxnSpPr>
                <a:stCxn id="154" idx="4"/>
                <a:endCxn id="155" idx="0"/>
              </p:cNvCxnSpPr>
              <p:nvPr/>
            </p:nvCxnSpPr>
            <p:spPr>
              <a:xfrm flipH="1">
                <a:off x="9326089" y="3252037"/>
                <a:ext cx="51275" cy="4643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>
                <a:extLst>
                  <a:ext uri="{FF2B5EF4-FFF2-40B4-BE49-F238E27FC236}">
                    <a16:creationId xmlns:a16="http://schemas.microsoft.com/office/drawing/2014/main" id="{7B25CA40-6427-C54E-2D81-EB82BD37D173}"/>
                  </a:ext>
                </a:extLst>
              </p:cNvPr>
              <p:cNvCxnSpPr>
                <a:cxnSpLocks/>
                <a:stCxn id="154" idx="6"/>
                <a:endCxn id="159" idx="2"/>
              </p:cNvCxnSpPr>
              <p:nvPr/>
            </p:nvCxnSpPr>
            <p:spPr>
              <a:xfrm>
                <a:off x="9432782" y="3196619"/>
                <a:ext cx="437082" cy="31810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>
                <a:extLst>
                  <a:ext uri="{FF2B5EF4-FFF2-40B4-BE49-F238E27FC236}">
                    <a16:creationId xmlns:a16="http://schemas.microsoft.com/office/drawing/2014/main" id="{E4DA017B-8132-E2D8-216E-CB1C603468D6}"/>
                  </a:ext>
                </a:extLst>
              </p:cNvPr>
              <p:cNvCxnSpPr>
                <a:cxnSpLocks/>
                <a:stCxn id="155" idx="6"/>
                <a:endCxn id="159" idx="2"/>
              </p:cNvCxnSpPr>
              <p:nvPr/>
            </p:nvCxnSpPr>
            <p:spPr>
              <a:xfrm flipV="1">
                <a:off x="9381507" y="3514726"/>
                <a:ext cx="488357" cy="25711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 187">
                <a:extLst>
                  <a:ext uri="{FF2B5EF4-FFF2-40B4-BE49-F238E27FC236}">
                    <a16:creationId xmlns:a16="http://schemas.microsoft.com/office/drawing/2014/main" id="{0C25D024-83DF-764B-2FD9-C1CF43BED2DD}"/>
                  </a:ext>
                </a:extLst>
              </p:cNvPr>
              <p:cNvCxnSpPr>
                <a:cxnSpLocks/>
                <a:stCxn id="159" idx="6"/>
                <a:endCxn id="160" idx="3"/>
              </p:cNvCxnSpPr>
              <p:nvPr/>
            </p:nvCxnSpPr>
            <p:spPr>
              <a:xfrm flipV="1">
                <a:off x="9980700" y="3228832"/>
                <a:ext cx="372874" cy="28589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>
                <a:extLst>
                  <a:ext uri="{FF2B5EF4-FFF2-40B4-BE49-F238E27FC236}">
                    <a16:creationId xmlns:a16="http://schemas.microsoft.com/office/drawing/2014/main" id="{D45719AE-4104-E12D-4DAA-1BF420613A0E}"/>
                  </a:ext>
                </a:extLst>
              </p:cNvPr>
              <p:cNvCxnSpPr>
                <a:stCxn id="159" idx="6"/>
                <a:endCxn id="162" idx="2"/>
              </p:cNvCxnSpPr>
              <p:nvPr/>
            </p:nvCxnSpPr>
            <p:spPr>
              <a:xfrm>
                <a:off x="9980700" y="3514726"/>
                <a:ext cx="885279" cy="415262"/>
              </a:xfrm>
              <a:prstGeom prst="line">
                <a:avLst/>
              </a:prstGeom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>
                <a:extLst>
                  <a:ext uri="{FF2B5EF4-FFF2-40B4-BE49-F238E27FC236}">
                    <a16:creationId xmlns:a16="http://schemas.microsoft.com/office/drawing/2014/main" id="{B0936754-8DAA-C9E1-218C-AFBB9221C15A}"/>
                  </a:ext>
                </a:extLst>
              </p:cNvPr>
              <p:cNvCxnSpPr>
                <a:cxnSpLocks/>
                <a:stCxn id="160" idx="6"/>
                <a:endCxn id="161" idx="1"/>
              </p:cNvCxnSpPr>
              <p:nvPr/>
            </p:nvCxnSpPr>
            <p:spPr>
              <a:xfrm>
                <a:off x="10448178" y="3189646"/>
                <a:ext cx="551538" cy="10147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>
                <a:extLst>
                  <a:ext uri="{FF2B5EF4-FFF2-40B4-BE49-F238E27FC236}">
                    <a16:creationId xmlns:a16="http://schemas.microsoft.com/office/drawing/2014/main" id="{78C23024-E26C-C43C-2760-0AD847536292}"/>
                  </a:ext>
                </a:extLst>
              </p:cNvPr>
              <p:cNvCxnSpPr>
                <a:cxnSpLocks/>
                <a:stCxn id="161" idx="4"/>
                <a:endCxn id="162" idx="0"/>
              </p:cNvCxnSpPr>
              <p:nvPr/>
            </p:nvCxnSpPr>
            <p:spPr>
              <a:xfrm flipH="1">
                <a:off x="10921397" y="3385727"/>
                <a:ext cx="117505" cy="48884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 195">
                <a:extLst>
                  <a:ext uri="{FF2B5EF4-FFF2-40B4-BE49-F238E27FC236}">
                    <a16:creationId xmlns:a16="http://schemas.microsoft.com/office/drawing/2014/main" id="{12D6B548-9CA9-24E8-2EA2-49099431B47C}"/>
                  </a:ext>
                </a:extLst>
              </p:cNvPr>
              <p:cNvCxnSpPr>
                <a:stCxn id="153" idx="6"/>
                <a:endCxn id="155" idx="2"/>
              </p:cNvCxnSpPr>
              <p:nvPr/>
            </p:nvCxnSpPr>
            <p:spPr>
              <a:xfrm>
                <a:off x="8261520" y="3633398"/>
                <a:ext cx="1009151" cy="138445"/>
              </a:xfrm>
              <a:prstGeom prst="line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>
                <a:extLst>
                  <a:ext uri="{FF2B5EF4-FFF2-40B4-BE49-F238E27FC236}">
                    <a16:creationId xmlns:a16="http://schemas.microsoft.com/office/drawing/2014/main" id="{8BB8BB16-AA80-7806-EDDD-E7E953E7EDAD}"/>
                  </a:ext>
                </a:extLst>
              </p:cNvPr>
              <p:cNvCxnSpPr>
                <a:stCxn id="159" idx="6"/>
                <a:endCxn id="161" idx="2"/>
              </p:cNvCxnSpPr>
              <p:nvPr/>
            </p:nvCxnSpPr>
            <p:spPr>
              <a:xfrm flipV="1">
                <a:off x="9980700" y="3330309"/>
                <a:ext cx="1002784" cy="184417"/>
              </a:xfrm>
              <a:prstGeom prst="line">
                <a:avLst/>
              </a:prstGeom>
              <a:ln w="190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>
                <a:extLst>
                  <a:ext uri="{FF2B5EF4-FFF2-40B4-BE49-F238E27FC236}">
                    <a16:creationId xmlns:a16="http://schemas.microsoft.com/office/drawing/2014/main" id="{B58DE053-AB4C-2F22-B3DA-B1763A977BF0}"/>
                  </a:ext>
                </a:extLst>
              </p:cNvPr>
              <p:cNvCxnSpPr>
                <a:cxnSpLocks/>
                <a:stCxn id="153" idx="6"/>
                <a:endCxn id="159" idx="2"/>
              </p:cNvCxnSpPr>
              <p:nvPr/>
            </p:nvCxnSpPr>
            <p:spPr>
              <a:xfrm flipV="1">
                <a:off x="8261520" y="3514726"/>
                <a:ext cx="1608344" cy="118672"/>
              </a:xfrm>
              <a:prstGeom prst="line">
                <a:avLst/>
              </a:prstGeom>
              <a:ln w="1905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FE176674-60D1-EE14-847F-E0A30BFD2BE7}"/>
                </a:ext>
              </a:extLst>
            </p:cNvPr>
            <p:cNvSpPr txBox="1"/>
            <p:nvPr/>
          </p:nvSpPr>
          <p:spPr>
            <a:xfrm>
              <a:off x="8475868" y="3008704"/>
              <a:ext cx="2460696" cy="291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/>
                <a:t>几何邻近性 ≠ 图结构邻近性</a:t>
              </a:r>
            </a:p>
          </p:txBody>
        </p:sp>
      </p:grpSp>
      <p:sp>
        <p:nvSpPr>
          <p:cNvPr id="272" name="文本框 271">
            <a:extLst>
              <a:ext uri="{FF2B5EF4-FFF2-40B4-BE49-F238E27FC236}">
                <a16:creationId xmlns:a16="http://schemas.microsoft.com/office/drawing/2014/main" id="{C08ACB41-20CC-D453-C0CE-A952BFAE0B9D}"/>
              </a:ext>
            </a:extLst>
          </p:cNvPr>
          <p:cNvSpPr txBox="1"/>
          <p:nvPr/>
        </p:nvSpPr>
        <p:spPr>
          <a:xfrm>
            <a:off x="1424722" y="6052162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空间划分与图遍历查询存在</a:t>
            </a:r>
            <a:r>
              <a:rPr lang="zh-CN" altLang="en-US" b="1" dirty="0">
                <a:solidFill>
                  <a:srgbClr val="C00000"/>
                </a:solidFill>
              </a:rPr>
              <a:t>错配</a:t>
            </a:r>
          </a:p>
        </p:txBody>
      </p:sp>
      <p:grpSp>
        <p:nvGrpSpPr>
          <p:cNvPr id="326" name="组合 325">
            <a:extLst>
              <a:ext uri="{FF2B5EF4-FFF2-40B4-BE49-F238E27FC236}">
                <a16:creationId xmlns:a16="http://schemas.microsoft.com/office/drawing/2014/main" id="{28105FBA-3927-0397-27B1-6BA0A2A78348}"/>
              </a:ext>
            </a:extLst>
          </p:cNvPr>
          <p:cNvGrpSpPr/>
          <p:nvPr/>
        </p:nvGrpSpPr>
        <p:grpSpPr>
          <a:xfrm>
            <a:off x="9167843" y="2153435"/>
            <a:ext cx="2129224" cy="1876469"/>
            <a:chOff x="2983043" y="2083633"/>
            <a:chExt cx="3912432" cy="3447997"/>
          </a:xfrm>
        </p:grpSpPr>
        <p:grpSp>
          <p:nvGrpSpPr>
            <p:cNvPr id="327" name="组合 326">
              <a:extLst>
                <a:ext uri="{FF2B5EF4-FFF2-40B4-BE49-F238E27FC236}">
                  <a16:creationId xmlns:a16="http://schemas.microsoft.com/office/drawing/2014/main" id="{27E68F36-ACF9-7D71-1309-8E94CEC4A418}"/>
                </a:ext>
              </a:extLst>
            </p:cNvPr>
            <p:cNvGrpSpPr/>
            <p:nvPr/>
          </p:nvGrpSpPr>
          <p:grpSpPr>
            <a:xfrm>
              <a:off x="2983043" y="2083633"/>
              <a:ext cx="1379095" cy="1379095"/>
              <a:chOff x="2983043" y="2083633"/>
              <a:chExt cx="1379095" cy="1379095"/>
            </a:xfrm>
          </p:grpSpPr>
          <p:sp>
            <p:nvSpPr>
              <p:cNvPr id="344" name="椭圆 343">
                <a:extLst>
                  <a:ext uri="{FF2B5EF4-FFF2-40B4-BE49-F238E27FC236}">
                    <a16:creationId xmlns:a16="http://schemas.microsoft.com/office/drawing/2014/main" id="{4BD97759-CC3D-9FCC-D2D2-0957318672E7}"/>
                  </a:ext>
                </a:extLst>
              </p:cNvPr>
              <p:cNvSpPr/>
              <p:nvPr/>
            </p:nvSpPr>
            <p:spPr>
              <a:xfrm>
                <a:off x="2983043" y="2083633"/>
                <a:ext cx="1379095" cy="137909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5" name="椭圆 344">
                <a:extLst>
                  <a:ext uri="{FF2B5EF4-FFF2-40B4-BE49-F238E27FC236}">
                    <a16:creationId xmlns:a16="http://schemas.microsoft.com/office/drawing/2014/main" id="{7F6CA83D-23E3-A7AC-B318-22F805A5ECD7}"/>
                  </a:ext>
                </a:extLst>
              </p:cNvPr>
              <p:cNvSpPr/>
              <p:nvPr/>
            </p:nvSpPr>
            <p:spPr>
              <a:xfrm>
                <a:off x="3627619" y="2728209"/>
                <a:ext cx="89941" cy="8994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8" name="组合 327">
              <a:extLst>
                <a:ext uri="{FF2B5EF4-FFF2-40B4-BE49-F238E27FC236}">
                  <a16:creationId xmlns:a16="http://schemas.microsoft.com/office/drawing/2014/main" id="{CF92E6F4-CDAF-309B-EE2E-9C6D3313B6F1}"/>
                </a:ext>
              </a:extLst>
            </p:cNvPr>
            <p:cNvGrpSpPr/>
            <p:nvPr/>
          </p:nvGrpSpPr>
          <p:grpSpPr>
            <a:xfrm>
              <a:off x="4979232" y="2470878"/>
              <a:ext cx="1916243" cy="1916243"/>
              <a:chOff x="5743732" y="2355954"/>
              <a:chExt cx="1916243" cy="1916243"/>
            </a:xfrm>
          </p:grpSpPr>
          <p:sp>
            <p:nvSpPr>
              <p:cNvPr id="342" name="椭圆 341">
                <a:extLst>
                  <a:ext uri="{FF2B5EF4-FFF2-40B4-BE49-F238E27FC236}">
                    <a16:creationId xmlns:a16="http://schemas.microsoft.com/office/drawing/2014/main" id="{B0AB91CE-112A-3619-D8B6-91545888AB5D}"/>
                  </a:ext>
                </a:extLst>
              </p:cNvPr>
              <p:cNvSpPr/>
              <p:nvPr/>
            </p:nvSpPr>
            <p:spPr>
              <a:xfrm>
                <a:off x="5743732" y="2355954"/>
                <a:ext cx="1916243" cy="1916243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3" name="椭圆 342">
                <a:extLst>
                  <a:ext uri="{FF2B5EF4-FFF2-40B4-BE49-F238E27FC236}">
                    <a16:creationId xmlns:a16="http://schemas.microsoft.com/office/drawing/2014/main" id="{FEC9BF21-97D3-BBB1-C41D-D705A18D6FE7}"/>
                  </a:ext>
                </a:extLst>
              </p:cNvPr>
              <p:cNvSpPr/>
              <p:nvPr/>
            </p:nvSpPr>
            <p:spPr>
              <a:xfrm>
                <a:off x="6656882" y="3269104"/>
                <a:ext cx="89941" cy="8994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9" name="组合 328">
              <a:extLst>
                <a:ext uri="{FF2B5EF4-FFF2-40B4-BE49-F238E27FC236}">
                  <a16:creationId xmlns:a16="http://schemas.microsoft.com/office/drawing/2014/main" id="{ABD89A32-8898-83B7-0F60-7BCB83DF4101}"/>
                </a:ext>
              </a:extLst>
            </p:cNvPr>
            <p:cNvGrpSpPr/>
            <p:nvPr/>
          </p:nvGrpSpPr>
          <p:grpSpPr>
            <a:xfrm>
              <a:off x="3523938" y="3762790"/>
              <a:ext cx="1768840" cy="1768840"/>
              <a:chOff x="3672590" y="4019862"/>
              <a:chExt cx="1768840" cy="1768840"/>
            </a:xfrm>
          </p:grpSpPr>
          <p:sp>
            <p:nvSpPr>
              <p:cNvPr id="340" name="椭圆 339">
                <a:extLst>
                  <a:ext uri="{FF2B5EF4-FFF2-40B4-BE49-F238E27FC236}">
                    <a16:creationId xmlns:a16="http://schemas.microsoft.com/office/drawing/2014/main" id="{52AD0254-1C89-C2BD-690E-6A6351264D9C}"/>
                  </a:ext>
                </a:extLst>
              </p:cNvPr>
              <p:cNvSpPr/>
              <p:nvPr/>
            </p:nvSpPr>
            <p:spPr>
              <a:xfrm>
                <a:off x="3672590" y="4019862"/>
                <a:ext cx="1768840" cy="176884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1" name="椭圆 340">
                <a:extLst>
                  <a:ext uri="{FF2B5EF4-FFF2-40B4-BE49-F238E27FC236}">
                    <a16:creationId xmlns:a16="http://schemas.microsoft.com/office/drawing/2014/main" id="{7962078F-2BF1-99ED-ABEA-1061BCB080C5}"/>
                  </a:ext>
                </a:extLst>
              </p:cNvPr>
              <p:cNvSpPr/>
              <p:nvPr/>
            </p:nvSpPr>
            <p:spPr>
              <a:xfrm>
                <a:off x="4512039" y="4859311"/>
                <a:ext cx="89941" cy="8994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0" name="椭圆 329">
              <a:extLst>
                <a:ext uri="{FF2B5EF4-FFF2-40B4-BE49-F238E27FC236}">
                  <a16:creationId xmlns:a16="http://schemas.microsoft.com/office/drawing/2014/main" id="{FC09400E-C0A7-F388-9B45-02DB95024708}"/>
                </a:ext>
              </a:extLst>
            </p:cNvPr>
            <p:cNvSpPr/>
            <p:nvPr/>
          </p:nvSpPr>
          <p:spPr>
            <a:xfrm>
              <a:off x="4769372" y="3429000"/>
              <a:ext cx="89941" cy="8994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1" name="直接箭头连接符 330">
              <a:extLst>
                <a:ext uri="{FF2B5EF4-FFF2-40B4-BE49-F238E27FC236}">
                  <a16:creationId xmlns:a16="http://schemas.microsoft.com/office/drawing/2014/main" id="{266DC2EA-2906-1C87-E465-44061DA438EA}"/>
                </a:ext>
              </a:extLst>
            </p:cNvPr>
            <p:cNvCxnSpPr>
              <a:cxnSpLocks/>
              <a:stCxn id="330" idx="1"/>
              <a:endCxn id="345" idx="5"/>
            </p:cNvCxnSpPr>
            <p:nvPr/>
          </p:nvCxnSpPr>
          <p:spPr>
            <a:xfrm flipH="1" flipV="1">
              <a:off x="3704388" y="2804978"/>
              <a:ext cx="1078156" cy="637194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直接箭头连接符 331">
              <a:extLst>
                <a:ext uri="{FF2B5EF4-FFF2-40B4-BE49-F238E27FC236}">
                  <a16:creationId xmlns:a16="http://schemas.microsoft.com/office/drawing/2014/main" id="{35A096BC-2111-C28D-7608-4BAD97053ADB}"/>
                </a:ext>
              </a:extLst>
            </p:cNvPr>
            <p:cNvCxnSpPr>
              <a:cxnSpLocks/>
              <a:stCxn id="330" idx="6"/>
              <a:endCxn id="343" idx="2"/>
            </p:cNvCxnSpPr>
            <p:nvPr/>
          </p:nvCxnSpPr>
          <p:spPr>
            <a:xfrm flipV="1">
              <a:off x="4859313" y="3428999"/>
              <a:ext cx="1033069" cy="44972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直接箭头连接符 332">
              <a:extLst>
                <a:ext uri="{FF2B5EF4-FFF2-40B4-BE49-F238E27FC236}">
                  <a16:creationId xmlns:a16="http://schemas.microsoft.com/office/drawing/2014/main" id="{48D8E0D4-BDE0-8098-D18D-012185275328}"/>
                </a:ext>
              </a:extLst>
            </p:cNvPr>
            <p:cNvCxnSpPr>
              <a:cxnSpLocks/>
              <a:stCxn id="330" idx="4"/>
              <a:endCxn id="341" idx="0"/>
            </p:cNvCxnSpPr>
            <p:nvPr/>
          </p:nvCxnSpPr>
          <p:spPr>
            <a:xfrm flipH="1">
              <a:off x="4408358" y="3518941"/>
              <a:ext cx="405985" cy="1083298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椭圆 333">
              <a:extLst>
                <a:ext uri="{FF2B5EF4-FFF2-40B4-BE49-F238E27FC236}">
                  <a16:creationId xmlns:a16="http://schemas.microsoft.com/office/drawing/2014/main" id="{4D215F63-27DE-5AC7-D0DC-20EA122184A0}"/>
                </a:ext>
              </a:extLst>
            </p:cNvPr>
            <p:cNvSpPr/>
            <p:nvPr/>
          </p:nvSpPr>
          <p:spPr>
            <a:xfrm>
              <a:off x="6604000" y="2849275"/>
              <a:ext cx="82550" cy="8255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5" name="椭圆 334">
              <a:extLst>
                <a:ext uri="{FF2B5EF4-FFF2-40B4-BE49-F238E27FC236}">
                  <a16:creationId xmlns:a16="http://schemas.microsoft.com/office/drawing/2014/main" id="{57B2F972-08CE-55C3-781F-D1AD44557B53}"/>
                </a:ext>
              </a:extLst>
            </p:cNvPr>
            <p:cNvSpPr/>
            <p:nvPr/>
          </p:nvSpPr>
          <p:spPr>
            <a:xfrm>
              <a:off x="3717560" y="3342753"/>
              <a:ext cx="82550" cy="8255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6" name="椭圆 335">
              <a:extLst>
                <a:ext uri="{FF2B5EF4-FFF2-40B4-BE49-F238E27FC236}">
                  <a16:creationId xmlns:a16="http://schemas.microsoft.com/office/drawing/2014/main" id="{1BA1355B-0234-57FC-F383-4F63779809A7}"/>
                </a:ext>
              </a:extLst>
            </p:cNvPr>
            <p:cNvSpPr/>
            <p:nvPr/>
          </p:nvSpPr>
          <p:spPr>
            <a:xfrm>
              <a:off x="4453328" y="3813257"/>
              <a:ext cx="82550" cy="8255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7" name="直接箭头连接符 336">
              <a:extLst>
                <a:ext uri="{FF2B5EF4-FFF2-40B4-BE49-F238E27FC236}">
                  <a16:creationId xmlns:a16="http://schemas.microsoft.com/office/drawing/2014/main" id="{5DD5074D-5346-F941-AA1C-F2BC9486ECE2}"/>
                </a:ext>
              </a:extLst>
            </p:cNvPr>
            <p:cNvCxnSpPr>
              <a:cxnSpLocks/>
              <a:stCxn id="330" idx="7"/>
              <a:endCxn id="334" idx="2"/>
            </p:cNvCxnSpPr>
            <p:nvPr/>
          </p:nvCxnSpPr>
          <p:spPr>
            <a:xfrm flipV="1">
              <a:off x="4846141" y="2890550"/>
              <a:ext cx="1757859" cy="551622"/>
            </a:xfrm>
            <a:prstGeom prst="straightConnector1">
              <a:avLst/>
            </a:prstGeom>
            <a:ln w="28575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直接箭头连接符 337">
              <a:extLst>
                <a:ext uri="{FF2B5EF4-FFF2-40B4-BE49-F238E27FC236}">
                  <a16:creationId xmlns:a16="http://schemas.microsoft.com/office/drawing/2014/main" id="{43562441-2C01-E20B-EA0B-C6592B70DB93}"/>
                </a:ext>
              </a:extLst>
            </p:cNvPr>
            <p:cNvCxnSpPr>
              <a:stCxn id="330" idx="3"/>
              <a:endCxn id="336" idx="7"/>
            </p:cNvCxnSpPr>
            <p:nvPr/>
          </p:nvCxnSpPr>
          <p:spPr>
            <a:xfrm flipH="1">
              <a:off x="4523789" y="3505769"/>
              <a:ext cx="258755" cy="319577"/>
            </a:xfrm>
            <a:prstGeom prst="straightConnector1">
              <a:avLst/>
            </a:prstGeom>
            <a:ln w="28575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直接箭头连接符 338">
              <a:extLst>
                <a:ext uri="{FF2B5EF4-FFF2-40B4-BE49-F238E27FC236}">
                  <a16:creationId xmlns:a16="http://schemas.microsoft.com/office/drawing/2014/main" id="{6AAA7C65-D412-BE95-B710-B80C99AA49BA}"/>
                </a:ext>
              </a:extLst>
            </p:cNvPr>
            <p:cNvCxnSpPr>
              <a:stCxn id="330" idx="2"/>
              <a:endCxn id="335" idx="6"/>
            </p:cNvCxnSpPr>
            <p:nvPr/>
          </p:nvCxnSpPr>
          <p:spPr>
            <a:xfrm flipH="1" flipV="1">
              <a:off x="3800110" y="3384028"/>
              <a:ext cx="969262" cy="89943"/>
            </a:xfrm>
            <a:prstGeom prst="straightConnector1">
              <a:avLst/>
            </a:prstGeom>
            <a:ln w="28575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4" name="矩形: 圆角 273">
            <a:extLst>
              <a:ext uri="{FF2B5EF4-FFF2-40B4-BE49-F238E27FC236}">
                <a16:creationId xmlns:a16="http://schemas.microsoft.com/office/drawing/2014/main" id="{F75E005C-6FBD-95EC-8978-1C09D19666E4}"/>
              </a:ext>
            </a:extLst>
          </p:cNvPr>
          <p:cNvSpPr/>
          <p:nvPr/>
        </p:nvSpPr>
        <p:spPr>
          <a:xfrm>
            <a:off x="5369316" y="1722663"/>
            <a:ext cx="6464985" cy="2441123"/>
          </a:xfrm>
          <a:prstGeom prst="roundRect">
            <a:avLst>
              <a:gd name="adj" fmla="val 644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936ADFD6-8846-110D-6305-F716C9FD6E8C}"/>
              </a:ext>
            </a:extLst>
          </p:cNvPr>
          <p:cNvSpPr txBox="1"/>
          <p:nvPr/>
        </p:nvSpPr>
        <p:spPr>
          <a:xfrm>
            <a:off x="5647153" y="1797218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全量分片搜索产生计算浪费</a:t>
            </a:r>
          </a:p>
        </p:txBody>
      </p:sp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BDD753FC-3DAF-43CC-8775-2D281DD6DB24}"/>
              </a:ext>
            </a:extLst>
          </p:cNvPr>
          <p:cNvGrpSpPr/>
          <p:nvPr/>
        </p:nvGrpSpPr>
        <p:grpSpPr>
          <a:xfrm>
            <a:off x="5605373" y="2028556"/>
            <a:ext cx="2942737" cy="1677659"/>
            <a:chOff x="5597924" y="1504819"/>
            <a:chExt cx="3289809" cy="1875525"/>
          </a:xfrm>
        </p:grpSpPr>
        <p:grpSp>
          <p:nvGrpSpPr>
            <p:cNvPr id="347" name="组合 346">
              <a:extLst>
                <a:ext uri="{FF2B5EF4-FFF2-40B4-BE49-F238E27FC236}">
                  <a16:creationId xmlns:a16="http://schemas.microsoft.com/office/drawing/2014/main" id="{BFDD3913-25B6-C581-A7F9-EFEFBEF29906}"/>
                </a:ext>
              </a:extLst>
            </p:cNvPr>
            <p:cNvGrpSpPr/>
            <p:nvPr/>
          </p:nvGrpSpPr>
          <p:grpSpPr>
            <a:xfrm>
              <a:off x="5597924" y="2249651"/>
              <a:ext cx="3289809" cy="1130693"/>
              <a:chOff x="7086123" y="5002018"/>
              <a:chExt cx="3360160" cy="1154872"/>
            </a:xfrm>
          </p:grpSpPr>
          <p:sp>
            <p:nvSpPr>
              <p:cNvPr id="352" name="圆柱体 351">
                <a:extLst>
                  <a:ext uri="{FF2B5EF4-FFF2-40B4-BE49-F238E27FC236}">
                    <a16:creationId xmlns:a16="http://schemas.microsoft.com/office/drawing/2014/main" id="{C485B431-1E57-7BB3-E5FE-9396F08A184C}"/>
                  </a:ext>
                </a:extLst>
              </p:cNvPr>
              <p:cNvSpPr/>
              <p:nvPr/>
            </p:nvSpPr>
            <p:spPr>
              <a:xfrm>
                <a:off x="9448208" y="5002018"/>
                <a:ext cx="998075" cy="1154872"/>
              </a:xfrm>
              <a:prstGeom prst="can">
                <a:avLst>
                  <a:gd name="adj" fmla="val 916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3" name="圆柱体 352">
                <a:extLst>
                  <a:ext uri="{FF2B5EF4-FFF2-40B4-BE49-F238E27FC236}">
                    <a16:creationId xmlns:a16="http://schemas.microsoft.com/office/drawing/2014/main" id="{3117A6D7-1298-3261-0D2B-3DFC06CA417A}"/>
                  </a:ext>
                </a:extLst>
              </p:cNvPr>
              <p:cNvSpPr/>
              <p:nvPr/>
            </p:nvSpPr>
            <p:spPr>
              <a:xfrm>
                <a:off x="8266071" y="5002018"/>
                <a:ext cx="998075" cy="1154872"/>
              </a:xfrm>
              <a:prstGeom prst="can">
                <a:avLst>
                  <a:gd name="adj" fmla="val 916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4" name="圆柱体 353">
                <a:extLst>
                  <a:ext uri="{FF2B5EF4-FFF2-40B4-BE49-F238E27FC236}">
                    <a16:creationId xmlns:a16="http://schemas.microsoft.com/office/drawing/2014/main" id="{EE71B79D-207E-6C17-E36A-D0581F02A684}"/>
                  </a:ext>
                </a:extLst>
              </p:cNvPr>
              <p:cNvSpPr/>
              <p:nvPr/>
            </p:nvSpPr>
            <p:spPr>
              <a:xfrm>
                <a:off x="7086123" y="5002018"/>
                <a:ext cx="998075" cy="1154872"/>
              </a:xfrm>
              <a:prstGeom prst="can">
                <a:avLst>
                  <a:gd name="adj" fmla="val 9165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48" name="文本框 347">
              <a:extLst>
                <a:ext uri="{FF2B5EF4-FFF2-40B4-BE49-F238E27FC236}">
                  <a16:creationId xmlns:a16="http://schemas.microsoft.com/office/drawing/2014/main" id="{6DF36579-AC45-00D5-4471-F326933E5084}"/>
                </a:ext>
              </a:extLst>
            </p:cNvPr>
            <p:cNvSpPr txBox="1"/>
            <p:nvPr/>
          </p:nvSpPr>
          <p:spPr>
            <a:xfrm>
              <a:off x="6741732" y="1504819"/>
              <a:ext cx="1000047" cy="451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/>
                <a:t>Query</a:t>
              </a:r>
            </a:p>
          </p:txBody>
        </p:sp>
      </p:grpSp>
      <p:cxnSp>
        <p:nvCxnSpPr>
          <p:cNvPr id="349" name="直接箭头连接符 348">
            <a:extLst>
              <a:ext uri="{FF2B5EF4-FFF2-40B4-BE49-F238E27FC236}">
                <a16:creationId xmlns:a16="http://schemas.microsoft.com/office/drawing/2014/main" id="{0BBC9D5C-BBE5-9080-BCAC-3418F936F0BD}"/>
              </a:ext>
            </a:extLst>
          </p:cNvPr>
          <p:cNvCxnSpPr>
            <a:stCxn id="348" idx="2"/>
            <a:endCxn id="354" idx="1"/>
          </p:cNvCxnSpPr>
          <p:nvPr/>
        </p:nvCxnSpPr>
        <p:spPr>
          <a:xfrm flipH="1">
            <a:off x="6042417" y="2432870"/>
            <a:ext cx="1033365" cy="2619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直接箭头连接符 349">
            <a:extLst>
              <a:ext uri="{FF2B5EF4-FFF2-40B4-BE49-F238E27FC236}">
                <a16:creationId xmlns:a16="http://schemas.microsoft.com/office/drawing/2014/main" id="{B1AF7EEA-5427-0195-EE43-6F92F08A1674}"/>
              </a:ext>
            </a:extLst>
          </p:cNvPr>
          <p:cNvCxnSpPr>
            <a:stCxn id="348" idx="2"/>
            <a:endCxn id="353" idx="1"/>
          </p:cNvCxnSpPr>
          <p:nvPr/>
        </p:nvCxnSpPr>
        <p:spPr>
          <a:xfrm>
            <a:off x="7075782" y="2432870"/>
            <a:ext cx="1" cy="2619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直接箭头连接符 350">
            <a:extLst>
              <a:ext uri="{FF2B5EF4-FFF2-40B4-BE49-F238E27FC236}">
                <a16:creationId xmlns:a16="http://schemas.microsoft.com/office/drawing/2014/main" id="{99170D8D-B018-0951-E894-DFB98797E02A}"/>
              </a:ext>
            </a:extLst>
          </p:cNvPr>
          <p:cNvCxnSpPr>
            <a:cxnSpLocks/>
            <a:stCxn id="348" idx="2"/>
            <a:endCxn id="352" idx="1"/>
          </p:cNvCxnSpPr>
          <p:nvPr/>
        </p:nvCxnSpPr>
        <p:spPr>
          <a:xfrm>
            <a:off x="7075782" y="2432870"/>
            <a:ext cx="1035285" cy="2619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文本框 354">
            <a:extLst>
              <a:ext uri="{FF2B5EF4-FFF2-40B4-BE49-F238E27FC236}">
                <a16:creationId xmlns:a16="http://schemas.microsoft.com/office/drawing/2014/main" id="{0AA0F14A-8713-C811-5159-F98B5FC76547}"/>
              </a:ext>
            </a:extLst>
          </p:cNvPr>
          <p:cNvSpPr txBox="1"/>
          <p:nvPr/>
        </p:nvSpPr>
        <p:spPr>
          <a:xfrm>
            <a:off x="8879645" y="1797218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静态路由不适应真实搜索</a:t>
            </a:r>
          </a:p>
        </p:txBody>
      </p:sp>
      <p:cxnSp>
        <p:nvCxnSpPr>
          <p:cNvPr id="360" name="直接连接符 359">
            <a:extLst>
              <a:ext uri="{FF2B5EF4-FFF2-40B4-BE49-F238E27FC236}">
                <a16:creationId xmlns:a16="http://schemas.microsoft.com/office/drawing/2014/main" id="{14F4557C-41DD-8C3E-17F4-8944943C7FF0}"/>
              </a:ext>
            </a:extLst>
          </p:cNvPr>
          <p:cNvCxnSpPr>
            <a:cxnSpLocks/>
          </p:cNvCxnSpPr>
          <p:nvPr/>
        </p:nvCxnSpPr>
        <p:spPr>
          <a:xfrm>
            <a:off x="8761466" y="1981884"/>
            <a:ext cx="0" cy="1913628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文本框 363">
            <a:extLst>
              <a:ext uri="{FF2B5EF4-FFF2-40B4-BE49-F238E27FC236}">
                <a16:creationId xmlns:a16="http://schemas.microsoft.com/office/drawing/2014/main" id="{AF985F95-120B-8362-14B6-30052BA90BD4}"/>
              </a:ext>
            </a:extLst>
          </p:cNvPr>
          <p:cNvSpPr txBox="1"/>
          <p:nvPr/>
        </p:nvSpPr>
        <p:spPr>
          <a:xfrm>
            <a:off x="7610838" y="4229249"/>
            <a:ext cx="2332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全量</a:t>
            </a:r>
            <a:r>
              <a:rPr lang="en-US" altLang="zh-CN" b="1" dirty="0"/>
              <a:t>/</a:t>
            </a:r>
            <a:r>
              <a:rPr lang="zh-CN" altLang="en-US" b="1" dirty="0"/>
              <a:t>静态路由不适用</a:t>
            </a:r>
          </a:p>
        </p:txBody>
      </p:sp>
      <p:sp>
        <p:nvSpPr>
          <p:cNvPr id="366" name="内容占位符 2">
            <a:extLst>
              <a:ext uri="{FF2B5EF4-FFF2-40B4-BE49-F238E27FC236}">
                <a16:creationId xmlns:a16="http://schemas.microsoft.com/office/drawing/2014/main" id="{EAD9E650-59A2-CDCC-8532-A066D5770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64452"/>
            <a:ext cx="10515600" cy="4209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>
                <a:solidFill>
                  <a:srgbClr val="C00000"/>
                </a:solidFill>
              </a:rPr>
              <a:t>关键原因</a:t>
            </a:r>
            <a:r>
              <a:rPr lang="en-US" altLang="zh-CN" sz="2400" dirty="0">
                <a:solidFill>
                  <a:srgbClr val="C00000"/>
                </a:solidFill>
              </a:rPr>
              <a:t>2</a:t>
            </a:r>
            <a:r>
              <a:rPr lang="zh-CN" altLang="en-US" sz="2400" dirty="0">
                <a:solidFill>
                  <a:srgbClr val="C00000"/>
                </a:solidFill>
              </a:rPr>
              <a:t>：分片方式不适应图搜索方式</a:t>
            </a:r>
          </a:p>
        </p:txBody>
      </p:sp>
      <p:sp>
        <p:nvSpPr>
          <p:cNvPr id="368" name="文本框 367">
            <a:extLst>
              <a:ext uri="{FF2B5EF4-FFF2-40B4-BE49-F238E27FC236}">
                <a16:creationId xmlns:a16="http://schemas.microsoft.com/office/drawing/2014/main" id="{C0A6DC00-0798-B4E7-5EB9-FC5B8686ED19}"/>
              </a:ext>
            </a:extLst>
          </p:cNvPr>
          <p:cNvSpPr txBox="1"/>
          <p:nvPr/>
        </p:nvSpPr>
        <p:spPr>
          <a:xfrm>
            <a:off x="5273172" y="4486749"/>
            <a:ext cx="641149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分析：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+mn-ea"/>
              </a:rPr>
              <a:t>索引构建与在线路由之间不对称，两者遵循不同的标准</a:t>
            </a:r>
            <a:endParaRPr lang="en-US" altLang="zh-CN" sz="2400" b="1" dirty="0">
              <a:latin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分片遵循的是空间距离上邻近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查询遵循的是图遍历连通上邻近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FBE49F-AAC2-70A3-8892-C7E53F1BC55D}"/>
              </a:ext>
            </a:extLst>
          </p:cNvPr>
          <p:cNvSpPr txBox="1"/>
          <p:nvPr/>
        </p:nvSpPr>
        <p:spPr>
          <a:xfrm>
            <a:off x="7748612" y="3783565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hashing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3A14E9-1B5E-5CE9-9EEF-6B811CBBD6F6}"/>
              </a:ext>
            </a:extLst>
          </p:cNvPr>
          <p:cNvSpPr txBox="1"/>
          <p:nvPr/>
        </p:nvSpPr>
        <p:spPr>
          <a:xfrm>
            <a:off x="10783730" y="3789790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K-means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A31E2A-48BE-33BF-D322-210BA78DD57E}"/>
              </a:ext>
            </a:extLst>
          </p:cNvPr>
          <p:cNvSpPr txBox="1"/>
          <p:nvPr/>
        </p:nvSpPr>
        <p:spPr>
          <a:xfrm>
            <a:off x="1446148" y="2078681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L1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05279E-8987-49F9-B947-59CCF01BADE7}"/>
              </a:ext>
            </a:extLst>
          </p:cNvPr>
          <p:cNvSpPr txBox="1"/>
          <p:nvPr/>
        </p:nvSpPr>
        <p:spPr>
          <a:xfrm>
            <a:off x="1440793" y="2509790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6816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7162A-F0A6-151D-12DC-633A0357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8D7FE-CC10-3BB5-A876-BD09A001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研究概览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7BAE9D-EE7A-E151-3FEE-7403CBB40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研究背景</a:t>
            </a:r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  <a:p>
            <a:r>
              <a:rPr lang="zh-CN" altLang="en-US" sz="2800" dirty="0">
                <a:latin typeface="+mn-ea"/>
              </a:rPr>
              <a:t>研究内容</a:t>
            </a:r>
            <a:endParaRPr lang="en-US" altLang="zh-CN" sz="2800" dirty="0">
              <a:latin typeface="+mn-ea"/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实验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+mn-ea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577253-EDFA-881F-215F-81B6BDA1E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3114-2061-4842-97A6-B5DACC79B906}" type="datetime1">
              <a:rPr lang="zh-CN" altLang="en-US" smtClean="0"/>
              <a:t>2026/7/13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705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90D2AF-2EC3-4E00-E614-09C772407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49"/>
            <a:ext cx="10515600" cy="1325563"/>
          </a:xfrm>
        </p:spPr>
        <p:txBody>
          <a:bodyPr/>
          <a:lstStyle/>
          <a:p>
            <a:r>
              <a:rPr lang="en-US" altLang="zh-CN" dirty="0"/>
              <a:t>Orion</a:t>
            </a:r>
            <a:r>
              <a:rPr lang="zh-CN" altLang="en-US" dirty="0"/>
              <a:t>系统设计：概览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10810E-8AC8-6DE6-7169-52EB7ADAC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42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>
                <a:solidFill>
                  <a:srgbClr val="C00000"/>
                </a:solidFill>
              </a:rPr>
              <a:t>核心观点：</a:t>
            </a:r>
            <a:r>
              <a:rPr lang="zh-CN" altLang="en-US" sz="2800" b="1" dirty="0">
                <a:solidFill>
                  <a:srgbClr val="C00000"/>
                </a:solidFill>
              </a:rPr>
              <a:t>离线索引构建</a:t>
            </a:r>
            <a:r>
              <a:rPr lang="zh-CN" altLang="en-US" sz="2800" dirty="0">
                <a:solidFill>
                  <a:srgbClr val="C00000"/>
                </a:solidFill>
              </a:rPr>
              <a:t>与</a:t>
            </a:r>
            <a:r>
              <a:rPr lang="zh-CN" altLang="en-US" sz="2800" b="1" dirty="0">
                <a:solidFill>
                  <a:srgbClr val="C00000"/>
                </a:solidFill>
              </a:rPr>
              <a:t>在线路由查询</a:t>
            </a:r>
            <a:r>
              <a:rPr lang="zh-CN" altLang="en-US" sz="2800" dirty="0">
                <a:solidFill>
                  <a:srgbClr val="C00000"/>
                </a:solidFill>
              </a:rPr>
              <a:t>之间应具有严格的</a:t>
            </a:r>
            <a:r>
              <a:rPr lang="zh-CN" altLang="en-US" sz="2800" b="1" dirty="0">
                <a:solidFill>
                  <a:srgbClr val="C00000"/>
                </a:solidFill>
              </a:rPr>
              <a:t>对称性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sz="2800" b="0" dirty="0"/>
              <a:t>关键阶段：</a:t>
            </a:r>
            <a:endParaRPr lang="en-US" altLang="zh-CN" sz="2800" b="0" dirty="0"/>
          </a:p>
          <a:p>
            <a:pPr lvl="1"/>
            <a:r>
              <a:rPr lang="zh-CN" altLang="en-US" sz="2400" b="0" dirty="0"/>
              <a:t>阶段</a:t>
            </a:r>
            <a:r>
              <a:rPr lang="en-US" altLang="zh-CN" sz="2400" b="0" dirty="0"/>
              <a:t>Ⅰ</a:t>
            </a:r>
            <a:r>
              <a:rPr lang="zh-CN" altLang="en-US" sz="2400" b="0" dirty="0"/>
              <a:t>（离线）：拓扑感知的图索引构建</a:t>
            </a:r>
            <a:endParaRPr lang="en-US" altLang="zh-CN" sz="2400" b="0" dirty="0"/>
          </a:p>
          <a:p>
            <a:pPr lvl="1"/>
            <a:r>
              <a:rPr lang="zh-CN" altLang="en-US" sz="2400" b="0" dirty="0"/>
              <a:t>阶段</a:t>
            </a:r>
            <a:r>
              <a:rPr lang="en-US" altLang="zh-CN" sz="2400" b="0" dirty="0"/>
              <a:t>Ⅱ</a:t>
            </a:r>
            <a:r>
              <a:rPr lang="zh-CN" altLang="en-US" sz="2400" b="0" dirty="0"/>
              <a:t>（在线）：导航图引导的动态路由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D14A4A-E71D-113F-EBD4-E7E541B2A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3114-2061-4842-97A6-B5DACC79B906}" type="datetime1">
              <a:rPr lang="zh-CN" altLang="en-US" smtClean="0"/>
              <a:t>2026/7/13</a:t>
            </a:fld>
            <a:endParaRPr lang="zh-CN" altLang="en-US"/>
          </a:p>
        </p:txBody>
      </p:sp>
      <p:grpSp>
        <p:nvGrpSpPr>
          <p:cNvPr id="174" name="组合 173">
            <a:extLst>
              <a:ext uri="{FF2B5EF4-FFF2-40B4-BE49-F238E27FC236}">
                <a16:creationId xmlns:a16="http://schemas.microsoft.com/office/drawing/2014/main" id="{8826C454-26F8-14CF-8391-56061C3D92A1}"/>
              </a:ext>
            </a:extLst>
          </p:cNvPr>
          <p:cNvGrpSpPr/>
          <p:nvPr/>
        </p:nvGrpSpPr>
        <p:grpSpPr>
          <a:xfrm>
            <a:off x="806382" y="3084393"/>
            <a:ext cx="10547418" cy="3182263"/>
            <a:chOff x="487067" y="3068651"/>
            <a:chExt cx="10547418" cy="3182263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E98D3223-F373-9E3D-A35F-F515D66E1133}"/>
                </a:ext>
              </a:extLst>
            </p:cNvPr>
            <p:cNvSpPr/>
            <p:nvPr/>
          </p:nvSpPr>
          <p:spPr>
            <a:xfrm>
              <a:off x="5936342" y="3077030"/>
              <a:ext cx="5098143" cy="3173884"/>
            </a:xfrm>
            <a:prstGeom prst="roundRect">
              <a:avLst>
                <a:gd name="adj" fmla="val 798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F937BA4-1315-1728-48B5-A37A926CBB1E}"/>
                </a:ext>
              </a:extLst>
            </p:cNvPr>
            <p:cNvSpPr txBox="1"/>
            <p:nvPr/>
          </p:nvSpPr>
          <p:spPr>
            <a:xfrm>
              <a:off x="1546288" y="3068651"/>
              <a:ext cx="29546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7030A0"/>
                  </a:solidFill>
                </a:rPr>
                <a:t>离线的拓扑感知构建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3FE4B0AB-06B2-E50D-C968-5FC015315606}"/>
                </a:ext>
              </a:extLst>
            </p:cNvPr>
            <p:cNvSpPr txBox="1"/>
            <p:nvPr/>
          </p:nvSpPr>
          <p:spPr>
            <a:xfrm>
              <a:off x="6695725" y="3102182"/>
              <a:ext cx="32624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2060"/>
                  </a:solidFill>
                </a:rPr>
                <a:t>在线的图引导动态路由</a:t>
              </a: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9C9A3A94-0021-4BB8-083C-D879158ED80F}"/>
                </a:ext>
              </a:extLst>
            </p:cNvPr>
            <p:cNvSpPr/>
            <p:nvPr/>
          </p:nvSpPr>
          <p:spPr>
            <a:xfrm>
              <a:off x="518886" y="3077030"/>
              <a:ext cx="5098143" cy="3173884"/>
            </a:xfrm>
            <a:prstGeom prst="roundRect">
              <a:avLst>
                <a:gd name="adj" fmla="val 7983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0E099C82-7841-5C6C-D8E4-82D25AF44F70}"/>
                </a:ext>
              </a:extLst>
            </p:cNvPr>
            <p:cNvGrpSpPr/>
            <p:nvPr/>
          </p:nvGrpSpPr>
          <p:grpSpPr>
            <a:xfrm>
              <a:off x="593610" y="5572138"/>
              <a:ext cx="5112720" cy="646969"/>
              <a:chOff x="1167498" y="3525862"/>
              <a:chExt cx="3658724" cy="462978"/>
            </a:xfrm>
          </p:grpSpPr>
          <p:grpSp>
            <p:nvGrpSpPr>
              <p:cNvPr id="108" name="组合 107">
                <a:extLst>
                  <a:ext uri="{FF2B5EF4-FFF2-40B4-BE49-F238E27FC236}">
                    <a16:creationId xmlns:a16="http://schemas.microsoft.com/office/drawing/2014/main" id="{5D753EBA-114B-AC55-4253-71C5921F21DB}"/>
                  </a:ext>
                </a:extLst>
              </p:cNvPr>
              <p:cNvGrpSpPr/>
              <p:nvPr/>
            </p:nvGrpSpPr>
            <p:grpSpPr>
              <a:xfrm>
                <a:off x="1167498" y="3525862"/>
                <a:ext cx="3592713" cy="389073"/>
                <a:chOff x="1929763" y="4535425"/>
                <a:chExt cx="3795591" cy="411044"/>
              </a:xfrm>
            </p:grpSpPr>
            <p:grpSp>
              <p:nvGrpSpPr>
                <p:cNvPr id="110" name="组合 109">
                  <a:extLst>
                    <a:ext uri="{FF2B5EF4-FFF2-40B4-BE49-F238E27FC236}">
                      <a16:creationId xmlns:a16="http://schemas.microsoft.com/office/drawing/2014/main" id="{BD89D736-2700-A6CF-D5BC-8786FD2254C0}"/>
                    </a:ext>
                  </a:extLst>
                </p:cNvPr>
                <p:cNvGrpSpPr/>
                <p:nvPr/>
              </p:nvGrpSpPr>
              <p:grpSpPr>
                <a:xfrm>
                  <a:off x="1929763" y="4582167"/>
                  <a:ext cx="3795591" cy="312295"/>
                  <a:chOff x="2295524" y="1600200"/>
                  <a:chExt cx="9029701" cy="742950"/>
                </a:xfrm>
              </p:grpSpPr>
              <p:sp>
                <p:nvSpPr>
                  <p:cNvPr id="144" name="平行四边形 143">
                    <a:extLst>
                      <a:ext uri="{FF2B5EF4-FFF2-40B4-BE49-F238E27FC236}">
                        <a16:creationId xmlns:a16="http://schemas.microsoft.com/office/drawing/2014/main" id="{8D7F7A12-C205-0B2A-78F8-5D2E5D3B8686}"/>
                      </a:ext>
                    </a:extLst>
                  </p:cNvPr>
                  <p:cNvSpPr/>
                  <p:nvPr/>
                </p:nvSpPr>
                <p:spPr>
                  <a:xfrm>
                    <a:off x="2295524" y="1600200"/>
                    <a:ext cx="9029701" cy="742950"/>
                  </a:xfrm>
                  <a:prstGeom prst="parallelogram">
                    <a:avLst>
                      <a:gd name="adj" fmla="val 248077"/>
                    </a:avLst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5" name="椭圆 144">
                    <a:extLst>
                      <a:ext uri="{FF2B5EF4-FFF2-40B4-BE49-F238E27FC236}">
                        <a16:creationId xmlns:a16="http://schemas.microsoft.com/office/drawing/2014/main" id="{985E85C7-65EC-B34C-3B59-B8E2008D318B}"/>
                      </a:ext>
                    </a:extLst>
                  </p:cNvPr>
                  <p:cNvSpPr/>
                  <p:nvPr/>
                </p:nvSpPr>
                <p:spPr>
                  <a:xfrm>
                    <a:off x="6134100" y="2152650"/>
                    <a:ext cx="123825" cy="123825"/>
                  </a:xfrm>
                  <a:prstGeom prst="ellipse">
                    <a:avLst/>
                  </a:prstGeom>
                  <a:solidFill>
                    <a:srgbClr val="C0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6" name="椭圆 145">
                    <a:extLst>
                      <a:ext uri="{FF2B5EF4-FFF2-40B4-BE49-F238E27FC236}">
                        <a16:creationId xmlns:a16="http://schemas.microsoft.com/office/drawing/2014/main" id="{99BD6D62-F56A-454A-BA92-D71A13BC1975}"/>
                      </a:ext>
                    </a:extLst>
                  </p:cNvPr>
                  <p:cNvSpPr/>
                  <p:nvPr/>
                </p:nvSpPr>
                <p:spPr>
                  <a:xfrm>
                    <a:off x="10315575" y="1676400"/>
                    <a:ext cx="123825" cy="123825"/>
                  </a:xfrm>
                  <a:prstGeom prst="ellipse">
                    <a:avLst/>
                  </a:prstGeom>
                  <a:solidFill>
                    <a:srgbClr val="C0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7" name="椭圆 146">
                    <a:extLst>
                      <a:ext uri="{FF2B5EF4-FFF2-40B4-BE49-F238E27FC236}">
                        <a16:creationId xmlns:a16="http://schemas.microsoft.com/office/drawing/2014/main" id="{54646784-6FA4-599E-DC39-37554C32F923}"/>
                      </a:ext>
                    </a:extLst>
                  </p:cNvPr>
                  <p:cNvSpPr/>
                  <p:nvPr/>
                </p:nvSpPr>
                <p:spPr>
                  <a:xfrm>
                    <a:off x="4124325" y="1676400"/>
                    <a:ext cx="123825" cy="123825"/>
                  </a:xfrm>
                  <a:prstGeom prst="ellipse">
                    <a:avLst/>
                  </a:prstGeom>
                  <a:solidFill>
                    <a:srgbClr val="C0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11" name="椭圆 110">
                  <a:extLst>
                    <a:ext uri="{FF2B5EF4-FFF2-40B4-BE49-F238E27FC236}">
                      <a16:creationId xmlns:a16="http://schemas.microsoft.com/office/drawing/2014/main" id="{5BE7416A-C1D9-22E4-43E8-5AD3F9A0F333}"/>
                    </a:ext>
                  </a:extLst>
                </p:cNvPr>
                <p:cNvSpPr/>
                <p:nvPr/>
              </p:nvSpPr>
              <p:spPr>
                <a:xfrm>
                  <a:off x="3812060" y="4547692"/>
                  <a:ext cx="666066" cy="327347"/>
                </a:xfrm>
                <a:prstGeom prst="ellipse">
                  <a:avLst/>
                </a:prstGeom>
                <a:noFill/>
                <a:ln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2" name="椭圆 111">
                  <a:extLst>
                    <a:ext uri="{FF2B5EF4-FFF2-40B4-BE49-F238E27FC236}">
                      <a16:creationId xmlns:a16="http://schemas.microsoft.com/office/drawing/2014/main" id="{7ED35F1B-39BB-B295-C8B0-F13BF483E01F}"/>
                    </a:ext>
                  </a:extLst>
                </p:cNvPr>
                <p:cNvSpPr/>
                <p:nvPr/>
              </p:nvSpPr>
              <p:spPr>
                <a:xfrm>
                  <a:off x="2902684" y="4788361"/>
                  <a:ext cx="52049" cy="52049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3" name="椭圆 112">
                  <a:extLst>
                    <a:ext uri="{FF2B5EF4-FFF2-40B4-BE49-F238E27FC236}">
                      <a16:creationId xmlns:a16="http://schemas.microsoft.com/office/drawing/2014/main" id="{B5613AD7-8EFC-7BFE-534B-64CFA8DE068A}"/>
                    </a:ext>
                  </a:extLst>
                </p:cNvPr>
                <p:cNvSpPr/>
                <p:nvPr/>
              </p:nvSpPr>
              <p:spPr>
                <a:xfrm>
                  <a:off x="3343100" y="4614197"/>
                  <a:ext cx="52049" cy="52049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4" name="椭圆 113">
                  <a:extLst>
                    <a:ext uri="{FF2B5EF4-FFF2-40B4-BE49-F238E27FC236}">
                      <a16:creationId xmlns:a16="http://schemas.microsoft.com/office/drawing/2014/main" id="{170C819F-8454-78FD-EC3B-09105C69E790}"/>
                    </a:ext>
                  </a:extLst>
                </p:cNvPr>
                <p:cNvSpPr/>
                <p:nvPr/>
              </p:nvSpPr>
              <p:spPr>
                <a:xfrm>
                  <a:off x="4135850" y="4623873"/>
                  <a:ext cx="52049" cy="52049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5" name="椭圆 114">
                  <a:extLst>
                    <a:ext uri="{FF2B5EF4-FFF2-40B4-BE49-F238E27FC236}">
                      <a16:creationId xmlns:a16="http://schemas.microsoft.com/office/drawing/2014/main" id="{61D13E9E-BFEF-FE06-B453-4BB62FCA4ED6}"/>
                    </a:ext>
                  </a:extLst>
                </p:cNvPr>
                <p:cNvSpPr/>
                <p:nvPr/>
              </p:nvSpPr>
              <p:spPr>
                <a:xfrm>
                  <a:off x="5020688" y="4788361"/>
                  <a:ext cx="52049" cy="52049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6" name="椭圆 115">
                  <a:extLst>
                    <a:ext uri="{FF2B5EF4-FFF2-40B4-BE49-F238E27FC236}">
                      <a16:creationId xmlns:a16="http://schemas.microsoft.com/office/drawing/2014/main" id="{9057C21D-FA80-D2CC-EB90-500672AB8EBD}"/>
                    </a:ext>
                  </a:extLst>
                </p:cNvPr>
                <p:cNvSpPr/>
                <p:nvPr/>
              </p:nvSpPr>
              <p:spPr>
                <a:xfrm>
                  <a:off x="3834953" y="4644790"/>
                  <a:ext cx="52049" cy="52049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7" name="椭圆 116">
                  <a:extLst>
                    <a:ext uri="{FF2B5EF4-FFF2-40B4-BE49-F238E27FC236}">
                      <a16:creationId xmlns:a16="http://schemas.microsoft.com/office/drawing/2014/main" id="{B63D5F90-A140-A75E-9747-03F87586C407}"/>
                    </a:ext>
                  </a:extLst>
                </p:cNvPr>
                <p:cNvSpPr/>
                <p:nvPr/>
              </p:nvSpPr>
              <p:spPr>
                <a:xfrm>
                  <a:off x="4113980" y="4807610"/>
                  <a:ext cx="52049" cy="52049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8" name="椭圆 117">
                  <a:extLst>
                    <a:ext uri="{FF2B5EF4-FFF2-40B4-BE49-F238E27FC236}">
                      <a16:creationId xmlns:a16="http://schemas.microsoft.com/office/drawing/2014/main" id="{87863ADB-FAC4-821F-7CF8-12B2B25156D1}"/>
                    </a:ext>
                  </a:extLst>
                </p:cNvPr>
                <p:cNvSpPr/>
                <p:nvPr/>
              </p:nvSpPr>
              <p:spPr>
                <a:xfrm>
                  <a:off x="4318023" y="4675922"/>
                  <a:ext cx="52049" cy="52049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9" name="椭圆 118">
                  <a:extLst>
                    <a:ext uri="{FF2B5EF4-FFF2-40B4-BE49-F238E27FC236}">
                      <a16:creationId xmlns:a16="http://schemas.microsoft.com/office/drawing/2014/main" id="{9FE83A3F-1523-6585-75A7-A2F8CCA9DD2C}"/>
                    </a:ext>
                  </a:extLst>
                </p:cNvPr>
                <p:cNvSpPr/>
                <p:nvPr/>
              </p:nvSpPr>
              <p:spPr>
                <a:xfrm>
                  <a:off x="2444251" y="4748991"/>
                  <a:ext cx="52049" cy="52049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0" name="椭圆 119">
                  <a:extLst>
                    <a:ext uri="{FF2B5EF4-FFF2-40B4-BE49-F238E27FC236}">
                      <a16:creationId xmlns:a16="http://schemas.microsoft.com/office/drawing/2014/main" id="{E5198E8A-500E-3A62-1910-415958216E72}"/>
                    </a:ext>
                  </a:extLst>
                </p:cNvPr>
                <p:cNvSpPr/>
                <p:nvPr/>
              </p:nvSpPr>
              <p:spPr>
                <a:xfrm>
                  <a:off x="3104875" y="4675922"/>
                  <a:ext cx="52049" cy="52049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1" name="椭圆 120">
                  <a:extLst>
                    <a:ext uri="{FF2B5EF4-FFF2-40B4-BE49-F238E27FC236}">
                      <a16:creationId xmlns:a16="http://schemas.microsoft.com/office/drawing/2014/main" id="{D2DE87FA-D816-C004-8FF9-C028BDDE31B3}"/>
                    </a:ext>
                  </a:extLst>
                </p:cNvPr>
                <p:cNvSpPr/>
                <p:nvPr/>
              </p:nvSpPr>
              <p:spPr>
                <a:xfrm>
                  <a:off x="4728411" y="4606651"/>
                  <a:ext cx="52049" cy="52049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45AD3C70-74F0-67EA-7F50-BAB8111E9318}"/>
                    </a:ext>
                  </a:extLst>
                </p:cNvPr>
                <p:cNvSpPr/>
                <p:nvPr/>
              </p:nvSpPr>
              <p:spPr>
                <a:xfrm>
                  <a:off x="4754435" y="4736312"/>
                  <a:ext cx="52049" cy="52049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71C56072-9A33-CA61-9B93-E68BA770D079}"/>
                    </a:ext>
                  </a:extLst>
                </p:cNvPr>
                <p:cNvSpPr/>
                <p:nvPr/>
              </p:nvSpPr>
              <p:spPr>
                <a:xfrm>
                  <a:off x="3299674" y="4788361"/>
                  <a:ext cx="52049" cy="52049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4" name="直接连接符 123">
                  <a:extLst>
                    <a:ext uri="{FF2B5EF4-FFF2-40B4-BE49-F238E27FC236}">
                      <a16:creationId xmlns:a16="http://schemas.microsoft.com/office/drawing/2014/main" id="{4FD74942-71B6-4325-7BA7-C5ED1FCA6AB0}"/>
                    </a:ext>
                  </a:extLst>
                </p:cNvPr>
                <p:cNvCxnSpPr>
                  <a:stCxn id="119" idx="7"/>
                </p:cNvCxnSpPr>
                <p:nvPr/>
              </p:nvCxnSpPr>
              <p:spPr>
                <a:xfrm flipV="1">
                  <a:off x="2488677" y="4649897"/>
                  <a:ext cx="209813" cy="10671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直接连接符 124">
                  <a:extLst>
                    <a:ext uri="{FF2B5EF4-FFF2-40B4-BE49-F238E27FC236}">
                      <a16:creationId xmlns:a16="http://schemas.microsoft.com/office/drawing/2014/main" id="{BE254B98-8F14-9F97-E3D3-2C9FB4BE85AC}"/>
                    </a:ext>
                  </a:extLst>
                </p:cNvPr>
                <p:cNvCxnSpPr>
                  <a:stCxn id="112" idx="7"/>
                  <a:endCxn id="120" idx="2"/>
                </p:cNvCxnSpPr>
                <p:nvPr/>
              </p:nvCxnSpPr>
              <p:spPr>
                <a:xfrm flipV="1">
                  <a:off x="2947111" y="4701947"/>
                  <a:ext cx="157765" cy="940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>
                  <a:extLst>
                    <a:ext uri="{FF2B5EF4-FFF2-40B4-BE49-F238E27FC236}">
                      <a16:creationId xmlns:a16="http://schemas.microsoft.com/office/drawing/2014/main" id="{C7758819-570A-DB40-0024-6CBDB4F4FBC6}"/>
                    </a:ext>
                  </a:extLst>
                </p:cNvPr>
                <p:cNvCxnSpPr>
                  <a:stCxn id="147" idx="5"/>
                  <a:endCxn id="112" idx="1"/>
                </p:cNvCxnSpPr>
                <p:nvPr/>
              </p:nvCxnSpPr>
              <p:spPr>
                <a:xfrm>
                  <a:off x="2742917" y="4658624"/>
                  <a:ext cx="167389" cy="13736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>
                  <a:extLst>
                    <a:ext uri="{FF2B5EF4-FFF2-40B4-BE49-F238E27FC236}">
                      <a16:creationId xmlns:a16="http://schemas.microsoft.com/office/drawing/2014/main" id="{5D11DA5B-BD50-FCC8-C302-929D18AE7EBC}"/>
                    </a:ext>
                  </a:extLst>
                </p:cNvPr>
                <p:cNvCxnSpPr>
                  <a:stCxn id="120" idx="5"/>
                  <a:endCxn id="123" idx="2"/>
                </p:cNvCxnSpPr>
                <p:nvPr/>
              </p:nvCxnSpPr>
              <p:spPr>
                <a:xfrm>
                  <a:off x="3149302" y="4720349"/>
                  <a:ext cx="150372" cy="940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>
                  <a:extLst>
                    <a:ext uri="{FF2B5EF4-FFF2-40B4-BE49-F238E27FC236}">
                      <a16:creationId xmlns:a16="http://schemas.microsoft.com/office/drawing/2014/main" id="{4BFC7A8F-FB7D-FF58-CBD0-DD9DBDF20D36}"/>
                    </a:ext>
                  </a:extLst>
                </p:cNvPr>
                <p:cNvCxnSpPr>
                  <a:stCxn id="123" idx="7"/>
                  <a:endCxn id="113" idx="4"/>
                </p:cNvCxnSpPr>
                <p:nvPr/>
              </p:nvCxnSpPr>
              <p:spPr>
                <a:xfrm flipV="1">
                  <a:off x="3344101" y="4666246"/>
                  <a:ext cx="25024" cy="1297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>
                  <a:extLst>
                    <a:ext uri="{FF2B5EF4-FFF2-40B4-BE49-F238E27FC236}">
                      <a16:creationId xmlns:a16="http://schemas.microsoft.com/office/drawing/2014/main" id="{7DBEF009-3C9A-C778-D315-9E6EECB57495}"/>
                    </a:ext>
                  </a:extLst>
                </p:cNvPr>
                <p:cNvCxnSpPr>
                  <a:stCxn id="123" idx="6"/>
                  <a:endCxn id="145" idx="2"/>
                </p:cNvCxnSpPr>
                <p:nvPr/>
              </p:nvCxnSpPr>
              <p:spPr>
                <a:xfrm>
                  <a:off x="3351723" y="4814386"/>
                  <a:ext cx="191566" cy="2602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>
                  <a:extLst>
                    <a:ext uri="{FF2B5EF4-FFF2-40B4-BE49-F238E27FC236}">
                      <a16:creationId xmlns:a16="http://schemas.microsoft.com/office/drawing/2014/main" id="{E5BC6397-1A74-0346-50D8-B76829479EE1}"/>
                    </a:ext>
                  </a:extLst>
                </p:cNvPr>
                <p:cNvCxnSpPr>
                  <a:stCxn id="145" idx="7"/>
                  <a:endCxn id="116" idx="3"/>
                </p:cNvCxnSpPr>
                <p:nvPr/>
              </p:nvCxnSpPr>
              <p:spPr>
                <a:xfrm flipV="1">
                  <a:off x="3587717" y="4689216"/>
                  <a:ext cx="254859" cy="13279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连接符 130">
                  <a:extLst>
                    <a:ext uri="{FF2B5EF4-FFF2-40B4-BE49-F238E27FC236}">
                      <a16:creationId xmlns:a16="http://schemas.microsoft.com/office/drawing/2014/main" id="{3EA6A1FC-2E02-341A-7167-4670E38BE788}"/>
                    </a:ext>
                  </a:extLst>
                </p:cNvPr>
                <p:cNvCxnSpPr>
                  <a:stCxn id="113" idx="6"/>
                  <a:endCxn id="116" idx="1"/>
                </p:cNvCxnSpPr>
                <p:nvPr/>
              </p:nvCxnSpPr>
              <p:spPr>
                <a:xfrm>
                  <a:off x="3395150" y="4640222"/>
                  <a:ext cx="447426" cy="1219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连接符 131">
                  <a:extLst>
                    <a:ext uri="{FF2B5EF4-FFF2-40B4-BE49-F238E27FC236}">
                      <a16:creationId xmlns:a16="http://schemas.microsoft.com/office/drawing/2014/main" id="{CA15DB16-BEB9-C55A-E74C-9B0583FAEC9A}"/>
                    </a:ext>
                  </a:extLst>
                </p:cNvPr>
                <p:cNvCxnSpPr>
                  <a:stCxn id="116" idx="6"/>
                  <a:endCxn id="117" idx="2"/>
                </p:cNvCxnSpPr>
                <p:nvPr/>
              </p:nvCxnSpPr>
              <p:spPr>
                <a:xfrm>
                  <a:off x="3887002" y="4670814"/>
                  <a:ext cx="226978" cy="16282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直接连接符 132">
                  <a:extLst>
                    <a:ext uri="{FF2B5EF4-FFF2-40B4-BE49-F238E27FC236}">
                      <a16:creationId xmlns:a16="http://schemas.microsoft.com/office/drawing/2014/main" id="{4F1B2354-9571-3636-19CB-13B264B34DA0}"/>
                    </a:ext>
                  </a:extLst>
                </p:cNvPr>
                <p:cNvCxnSpPr>
                  <a:cxnSpLocks/>
                  <a:stCxn id="117" idx="0"/>
                  <a:endCxn id="114" idx="4"/>
                </p:cNvCxnSpPr>
                <p:nvPr/>
              </p:nvCxnSpPr>
              <p:spPr>
                <a:xfrm flipV="1">
                  <a:off x="4140005" y="4675922"/>
                  <a:ext cx="21871" cy="1316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直接连接符 133">
                  <a:extLst>
                    <a:ext uri="{FF2B5EF4-FFF2-40B4-BE49-F238E27FC236}">
                      <a16:creationId xmlns:a16="http://schemas.microsoft.com/office/drawing/2014/main" id="{80558BC5-E172-52F1-A6BA-306481969E93}"/>
                    </a:ext>
                  </a:extLst>
                </p:cNvPr>
                <p:cNvCxnSpPr>
                  <a:stCxn id="114" idx="6"/>
                  <a:endCxn id="118" idx="1"/>
                </p:cNvCxnSpPr>
                <p:nvPr/>
              </p:nvCxnSpPr>
              <p:spPr>
                <a:xfrm>
                  <a:off x="4187900" y="4649898"/>
                  <a:ext cx="137745" cy="3364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直接连接符 134">
                  <a:extLst>
                    <a:ext uri="{FF2B5EF4-FFF2-40B4-BE49-F238E27FC236}">
                      <a16:creationId xmlns:a16="http://schemas.microsoft.com/office/drawing/2014/main" id="{6C6BAB6C-D876-CA34-A82A-F098C7C6AC96}"/>
                    </a:ext>
                  </a:extLst>
                </p:cNvPr>
                <p:cNvCxnSpPr>
                  <a:endCxn id="121" idx="2"/>
                </p:cNvCxnSpPr>
                <p:nvPr/>
              </p:nvCxnSpPr>
              <p:spPr>
                <a:xfrm flipV="1">
                  <a:off x="4370072" y="4632676"/>
                  <a:ext cx="358339" cy="6927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直接连接符 135">
                  <a:extLst>
                    <a:ext uri="{FF2B5EF4-FFF2-40B4-BE49-F238E27FC236}">
                      <a16:creationId xmlns:a16="http://schemas.microsoft.com/office/drawing/2014/main" id="{476596B2-276D-D2B5-406B-5F7A97F6AAFB}"/>
                    </a:ext>
                  </a:extLst>
                </p:cNvPr>
                <p:cNvCxnSpPr>
                  <a:stCxn id="121" idx="4"/>
                  <a:endCxn id="122" idx="0"/>
                </p:cNvCxnSpPr>
                <p:nvPr/>
              </p:nvCxnSpPr>
              <p:spPr>
                <a:xfrm>
                  <a:off x="4754436" y="4658700"/>
                  <a:ext cx="26024" cy="776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直接连接符 136">
                  <a:extLst>
                    <a:ext uri="{FF2B5EF4-FFF2-40B4-BE49-F238E27FC236}">
                      <a16:creationId xmlns:a16="http://schemas.microsoft.com/office/drawing/2014/main" id="{2DDE34AF-B584-B48E-9C7D-80DBF2ABD48E}"/>
                    </a:ext>
                  </a:extLst>
                </p:cNvPr>
                <p:cNvCxnSpPr>
                  <a:stCxn id="122" idx="5"/>
                  <a:endCxn id="115" idx="3"/>
                </p:cNvCxnSpPr>
                <p:nvPr/>
              </p:nvCxnSpPr>
              <p:spPr>
                <a:xfrm>
                  <a:off x="4798862" y="4780739"/>
                  <a:ext cx="221825" cy="3364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连接符 137">
                  <a:extLst>
                    <a:ext uri="{FF2B5EF4-FFF2-40B4-BE49-F238E27FC236}">
                      <a16:creationId xmlns:a16="http://schemas.microsoft.com/office/drawing/2014/main" id="{CC2532EE-4503-0990-0FF0-517E6AFB51DA}"/>
                    </a:ext>
                  </a:extLst>
                </p:cNvPr>
                <p:cNvCxnSpPr>
                  <a:stCxn id="121" idx="7"/>
                  <a:endCxn id="146" idx="2"/>
                </p:cNvCxnSpPr>
                <p:nvPr/>
              </p:nvCxnSpPr>
              <p:spPr>
                <a:xfrm>
                  <a:off x="4772838" y="4614273"/>
                  <a:ext cx="528115" cy="2594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连接符 138">
                  <a:extLst>
                    <a:ext uri="{FF2B5EF4-FFF2-40B4-BE49-F238E27FC236}">
                      <a16:creationId xmlns:a16="http://schemas.microsoft.com/office/drawing/2014/main" id="{20C28CFD-6249-4D41-39BF-E6CA3673BA6D}"/>
                    </a:ext>
                  </a:extLst>
                </p:cNvPr>
                <p:cNvCxnSpPr>
                  <a:stCxn id="146" idx="3"/>
                  <a:endCxn id="115" idx="6"/>
                </p:cNvCxnSpPr>
                <p:nvPr/>
              </p:nvCxnSpPr>
              <p:spPr>
                <a:xfrm flipH="1">
                  <a:off x="5072737" y="4658624"/>
                  <a:ext cx="235838" cy="15576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连接符 139">
                  <a:extLst>
                    <a:ext uri="{FF2B5EF4-FFF2-40B4-BE49-F238E27FC236}">
                      <a16:creationId xmlns:a16="http://schemas.microsoft.com/office/drawing/2014/main" id="{25F7A14A-28CD-4584-9E25-C90D9B647559}"/>
                    </a:ext>
                  </a:extLst>
                </p:cNvPr>
                <p:cNvCxnSpPr>
                  <a:cxnSpLocks/>
                  <a:stCxn id="116" idx="7"/>
                  <a:endCxn id="114" idx="2"/>
                </p:cNvCxnSpPr>
                <p:nvPr/>
              </p:nvCxnSpPr>
              <p:spPr>
                <a:xfrm flipV="1">
                  <a:off x="3879380" y="4649898"/>
                  <a:ext cx="256471" cy="251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1" name="椭圆 140">
                  <a:extLst>
                    <a:ext uri="{FF2B5EF4-FFF2-40B4-BE49-F238E27FC236}">
                      <a16:creationId xmlns:a16="http://schemas.microsoft.com/office/drawing/2014/main" id="{6CC02D65-2846-00F5-ECAA-9C254C089269}"/>
                    </a:ext>
                  </a:extLst>
                </p:cNvPr>
                <p:cNvSpPr/>
                <p:nvPr/>
              </p:nvSpPr>
              <p:spPr>
                <a:xfrm>
                  <a:off x="2398708" y="4569309"/>
                  <a:ext cx="805262" cy="359628"/>
                </a:xfrm>
                <a:prstGeom prst="ellipse">
                  <a:avLst/>
                </a:prstGeom>
                <a:noFill/>
                <a:ln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2" name="椭圆 141">
                  <a:extLst>
                    <a:ext uri="{FF2B5EF4-FFF2-40B4-BE49-F238E27FC236}">
                      <a16:creationId xmlns:a16="http://schemas.microsoft.com/office/drawing/2014/main" id="{A20A09A6-5366-E6B9-2990-F8B4303EE0FD}"/>
                    </a:ext>
                  </a:extLst>
                </p:cNvPr>
                <p:cNvSpPr/>
                <p:nvPr/>
              </p:nvSpPr>
              <p:spPr>
                <a:xfrm>
                  <a:off x="3048701" y="4547692"/>
                  <a:ext cx="655532" cy="398777"/>
                </a:xfrm>
                <a:prstGeom prst="ellipse">
                  <a:avLst/>
                </a:prstGeom>
                <a:noFill/>
                <a:ln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3" name="椭圆 142">
                  <a:extLst>
                    <a:ext uri="{FF2B5EF4-FFF2-40B4-BE49-F238E27FC236}">
                      <a16:creationId xmlns:a16="http://schemas.microsoft.com/office/drawing/2014/main" id="{9F1E0289-78E8-CC57-B282-2F8856919AEE}"/>
                    </a:ext>
                  </a:extLst>
                </p:cNvPr>
                <p:cNvSpPr/>
                <p:nvPr/>
              </p:nvSpPr>
              <p:spPr>
                <a:xfrm>
                  <a:off x="4645818" y="4535425"/>
                  <a:ext cx="763065" cy="315529"/>
                </a:xfrm>
                <a:prstGeom prst="ellipse">
                  <a:avLst/>
                </a:prstGeom>
                <a:noFill/>
                <a:ln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51202F10-B57E-585D-3D6C-C069F7801A0D}"/>
                  </a:ext>
                </a:extLst>
              </p:cNvPr>
              <p:cNvSpPr txBox="1"/>
              <p:nvPr/>
            </p:nvSpPr>
            <p:spPr>
              <a:xfrm>
                <a:off x="4445071" y="3639249"/>
                <a:ext cx="381151" cy="3495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L</a:t>
                </a:r>
                <a:r>
                  <a:rPr lang="en-US" altLang="zh-CN" baseline="-25000" dirty="0"/>
                  <a:t>0</a:t>
                </a: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9B08B38-753C-F127-CFC9-BDA3C6FD9F22}"/>
                </a:ext>
              </a:extLst>
            </p:cNvPr>
            <p:cNvSpPr txBox="1"/>
            <p:nvPr/>
          </p:nvSpPr>
          <p:spPr>
            <a:xfrm>
              <a:off x="489189" y="3554759"/>
              <a:ext cx="522931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/>
                <a:t>步骤</a:t>
              </a:r>
              <a:r>
                <a:rPr lang="en-US" altLang="zh-CN" sz="2000" b="1" dirty="0"/>
                <a:t>1</a:t>
              </a:r>
              <a:r>
                <a:rPr lang="zh-CN" altLang="en-US" sz="2000" b="1" dirty="0"/>
                <a:t>：对数据集部分采样，构建上层导航图</a:t>
              </a:r>
              <a:endParaRPr lang="en-US" altLang="zh-CN" sz="2000" b="1" dirty="0"/>
            </a:p>
            <a:p>
              <a:r>
                <a:rPr lang="zh-CN" altLang="en-US" sz="2000" b="1" dirty="0"/>
                <a:t>步骤</a:t>
              </a:r>
              <a:r>
                <a:rPr lang="en-US" altLang="zh-CN" sz="2000" b="1" dirty="0"/>
                <a:t>2</a:t>
              </a:r>
              <a:r>
                <a:rPr lang="zh-CN" altLang="en-US" sz="2000" b="1" dirty="0"/>
                <a:t>：对</a:t>
              </a:r>
              <a:r>
                <a:rPr lang="en-US" altLang="zh-CN" sz="2000" b="1" dirty="0"/>
                <a:t>L1</a:t>
              </a:r>
              <a:r>
                <a:rPr lang="zh-CN" altLang="en-US" sz="2000" b="1" dirty="0"/>
                <a:t>节点进行聚类，并基于自搜微调</a:t>
              </a: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ED2C292C-7117-5AAC-16E4-19B090FBD779}"/>
                </a:ext>
              </a:extLst>
            </p:cNvPr>
            <p:cNvGrpSpPr/>
            <p:nvPr/>
          </p:nvGrpSpPr>
          <p:grpSpPr>
            <a:xfrm>
              <a:off x="526583" y="4232580"/>
              <a:ext cx="4994066" cy="602745"/>
              <a:chOff x="1440872" y="2954107"/>
              <a:chExt cx="8974051" cy="1083098"/>
            </a:xfrm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FE26D9C5-4A48-1A3D-022B-B05BAFA4FCC6}"/>
                  </a:ext>
                </a:extLst>
              </p:cNvPr>
              <p:cNvGrpSpPr/>
              <p:nvPr/>
            </p:nvGrpSpPr>
            <p:grpSpPr>
              <a:xfrm>
                <a:off x="1440872" y="3152503"/>
                <a:ext cx="8974051" cy="738370"/>
                <a:chOff x="2295523" y="2481263"/>
                <a:chExt cx="9029701" cy="742950"/>
              </a:xfrm>
            </p:grpSpPr>
            <p:grpSp>
              <p:nvGrpSpPr>
                <p:cNvPr id="93" name="组合 92">
                  <a:extLst>
                    <a:ext uri="{FF2B5EF4-FFF2-40B4-BE49-F238E27FC236}">
                      <a16:creationId xmlns:a16="http://schemas.microsoft.com/office/drawing/2014/main" id="{FB343A29-1725-3B32-8B31-A71B13A4FF36}"/>
                    </a:ext>
                  </a:extLst>
                </p:cNvPr>
                <p:cNvGrpSpPr/>
                <p:nvPr/>
              </p:nvGrpSpPr>
              <p:grpSpPr>
                <a:xfrm>
                  <a:off x="2295523" y="2481263"/>
                  <a:ext cx="9029701" cy="742950"/>
                  <a:chOff x="2295524" y="1600200"/>
                  <a:chExt cx="9029701" cy="742950"/>
                </a:xfrm>
              </p:grpSpPr>
              <p:sp>
                <p:nvSpPr>
                  <p:cNvPr id="103" name="平行四边形 102">
                    <a:extLst>
                      <a:ext uri="{FF2B5EF4-FFF2-40B4-BE49-F238E27FC236}">
                        <a16:creationId xmlns:a16="http://schemas.microsoft.com/office/drawing/2014/main" id="{0EA1942B-137E-DBFC-CEA3-9E273FF6039C}"/>
                      </a:ext>
                    </a:extLst>
                  </p:cNvPr>
                  <p:cNvSpPr/>
                  <p:nvPr/>
                </p:nvSpPr>
                <p:spPr>
                  <a:xfrm>
                    <a:off x="2295524" y="1600200"/>
                    <a:ext cx="9029701" cy="742950"/>
                  </a:xfrm>
                  <a:prstGeom prst="parallelogram">
                    <a:avLst>
                      <a:gd name="adj" fmla="val 248077"/>
                    </a:avLst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4" name="椭圆 103">
                    <a:extLst>
                      <a:ext uri="{FF2B5EF4-FFF2-40B4-BE49-F238E27FC236}">
                        <a16:creationId xmlns:a16="http://schemas.microsoft.com/office/drawing/2014/main" id="{EE79312A-749C-BF02-9D5F-D3E4F608825F}"/>
                      </a:ext>
                    </a:extLst>
                  </p:cNvPr>
                  <p:cNvSpPr/>
                  <p:nvPr/>
                </p:nvSpPr>
                <p:spPr>
                  <a:xfrm>
                    <a:off x="6134100" y="2152650"/>
                    <a:ext cx="123825" cy="123825"/>
                  </a:xfrm>
                  <a:prstGeom prst="ellipse">
                    <a:avLst/>
                  </a:prstGeom>
                  <a:solidFill>
                    <a:srgbClr val="C0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5" name="椭圆 104">
                    <a:extLst>
                      <a:ext uri="{FF2B5EF4-FFF2-40B4-BE49-F238E27FC236}">
                        <a16:creationId xmlns:a16="http://schemas.microsoft.com/office/drawing/2014/main" id="{2F1F5A80-7FC5-5A96-626C-2ABF3203F7AE}"/>
                      </a:ext>
                    </a:extLst>
                  </p:cNvPr>
                  <p:cNvSpPr/>
                  <p:nvPr/>
                </p:nvSpPr>
                <p:spPr>
                  <a:xfrm>
                    <a:off x="10315575" y="1676400"/>
                    <a:ext cx="123825" cy="123825"/>
                  </a:xfrm>
                  <a:prstGeom prst="ellipse">
                    <a:avLst/>
                  </a:prstGeom>
                  <a:solidFill>
                    <a:srgbClr val="C0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6" name="椭圆 105">
                    <a:extLst>
                      <a:ext uri="{FF2B5EF4-FFF2-40B4-BE49-F238E27FC236}">
                        <a16:creationId xmlns:a16="http://schemas.microsoft.com/office/drawing/2014/main" id="{CCCFB5C7-1806-741C-EEE7-68FDEDD3F5B1}"/>
                      </a:ext>
                    </a:extLst>
                  </p:cNvPr>
                  <p:cNvSpPr/>
                  <p:nvPr/>
                </p:nvSpPr>
                <p:spPr>
                  <a:xfrm>
                    <a:off x="4124325" y="1676400"/>
                    <a:ext cx="123825" cy="123825"/>
                  </a:xfrm>
                  <a:prstGeom prst="ellipse">
                    <a:avLst/>
                  </a:prstGeom>
                  <a:solidFill>
                    <a:srgbClr val="C0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7" name="直接连接符 106">
                    <a:extLst>
                      <a:ext uri="{FF2B5EF4-FFF2-40B4-BE49-F238E27FC236}">
                        <a16:creationId xmlns:a16="http://schemas.microsoft.com/office/drawing/2014/main" id="{1CC0F0A5-0A29-0A4B-131D-3B14CE80B0B2}"/>
                      </a:ext>
                    </a:extLst>
                  </p:cNvPr>
                  <p:cNvCxnSpPr>
                    <a:cxnSpLocks/>
                    <a:stCxn id="106" idx="6"/>
                    <a:endCxn id="95" idx="2"/>
                  </p:cNvCxnSpPr>
                  <p:nvPr/>
                </p:nvCxnSpPr>
                <p:spPr>
                  <a:xfrm>
                    <a:off x="4248150" y="1738313"/>
                    <a:ext cx="1409700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4" name="椭圆 93">
                  <a:extLst>
                    <a:ext uri="{FF2B5EF4-FFF2-40B4-BE49-F238E27FC236}">
                      <a16:creationId xmlns:a16="http://schemas.microsoft.com/office/drawing/2014/main" id="{64A5AF84-2B98-A8F1-C622-3DEE678B19E8}"/>
                    </a:ext>
                  </a:extLst>
                </p:cNvPr>
                <p:cNvSpPr/>
                <p:nvPr/>
              </p:nvSpPr>
              <p:spPr>
                <a:xfrm>
                  <a:off x="4610099" y="2971800"/>
                  <a:ext cx="123825" cy="123825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5" name="椭圆 94">
                  <a:extLst>
                    <a:ext uri="{FF2B5EF4-FFF2-40B4-BE49-F238E27FC236}">
                      <a16:creationId xmlns:a16="http://schemas.microsoft.com/office/drawing/2014/main" id="{5C70ABE0-1E8D-7C5A-8B85-FFC4A5BDA4E0}"/>
                    </a:ext>
                  </a:extLst>
                </p:cNvPr>
                <p:cNvSpPr/>
                <p:nvPr/>
              </p:nvSpPr>
              <p:spPr>
                <a:xfrm>
                  <a:off x="5657849" y="2557463"/>
                  <a:ext cx="123825" cy="123825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94083CD6-17A4-9021-9E4B-13E8786647A2}"/>
                    </a:ext>
                  </a:extLst>
                </p:cNvPr>
                <p:cNvSpPr/>
                <p:nvPr/>
              </p:nvSpPr>
              <p:spPr>
                <a:xfrm>
                  <a:off x="7543799" y="2580482"/>
                  <a:ext cx="123825" cy="123825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6213AB35-E764-94B6-9ACF-56FC64D62F60}"/>
                    </a:ext>
                  </a:extLst>
                </p:cNvPr>
                <p:cNvSpPr/>
                <p:nvPr/>
              </p:nvSpPr>
              <p:spPr>
                <a:xfrm>
                  <a:off x="9648824" y="2971800"/>
                  <a:ext cx="123825" cy="123825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98" name="直接连接符 97">
                  <a:extLst>
                    <a:ext uri="{FF2B5EF4-FFF2-40B4-BE49-F238E27FC236}">
                      <a16:creationId xmlns:a16="http://schemas.microsoft.com/office/drawing/2014/main" id="{8922CCEB-8E0D-27B6-F52F-078DC0A3C0E5}"/>
                    </a:ext>
                  </a:extLst>
                </p:cNvPr>
                <p:cNvCxnSpPr>
                  <a:cxnSpLocks/>
                  <a:stCxn id="106" idx="5"/>
                  <a:endCxn id="94" idx="1"/>
                </p:cNvCxnSpPr>
                <p:nvPr/>
              </p:nvCxnSpPr>
              <p:spPr>
                <a:xfrm>
                  <a:off x="4230015" y="2663154"/>
                  <a:ext cx="398218" cy="3267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接连接符 98">
                  <a:extLst>
                    <a:ext uri="{FF2B5EF4-FFF2-40B4-BE49-F238E27FC236}">
                      <a16:creationId xmlns:a16="http://schemas.microsoft.com/office/drawing/2014/main" id="{4EBFB396-E9BC-B5E7-F3DB-C568A32F48DC}"/>
                    </a:ext>
                  </a:extLst>
                </p:cNvPr>
                <p:cNvCxnSpPr>
                  <a:cxnSpLocks/>
                  <a:stCxn id="95" idx="5"/>
                  <a:endCxn id="104" idx="0"/>
                </p:cNvCxnSpPr>
                <p:nvPr/>
              </p:nvCxnSpPr>
              <p:spPr>
                <a:xfrm>
                  <a:off x="5763540" y="2663154"/>
                  <a:ext cx="432472" cy="370559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接连接符 99">
                  <a:extLst>
                    <a:ext uri="{FF2B5EF4-FFF2-40B4-BE49-F238E27FC236}">
                      <a16:creationId xmlns:a16="http://schemas.microsoft.com/office/drawing/2014/main" id="{8E6A0DA8-312A-3956-C6E5-8A57B23C4F15}"/>
                    </a:ext>
                  </a:extLst>
                </p:cNvPr>
                <p:cNvCxnSpPr>
                  <a:cxnSpLocks/>
                  <a:stCxn id="104" idx="7"/>
                  <a:endCxn id="96" idx="2"/>
                </p:cNvCxnSpPr>
                <p:nvPr/>
              </p:nvCxnSpPr>
              <p:spPr>
                <a:xfrm flipV="1">
                  <a:off x="6239790" y="2642395"/>
                  <a:ext cx="1304009" cy="40945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直接连接符 100">
                  <a:extLst>
                    <a:ext uri="{FF2B5EF4-FFF2-40B4-BE49-F238E27FC236}">
                      <a16:creationId xmlns:a16="http://schemas.microsoft.com/office/drawing/2014/main" id="{66E7C3CE-CEEA-8E07-4909-303DE8473FFA}"/>
                    </a:ext>
                  </a:extLst>
                </p:cNvPr>
                <p:cNvCxnSpPr>
                  <a:cxnSpLocks/>
                  <a:stCxn id="97" idx="7"/>
                  <a:endCxn id="105" idx="4"/>
                </p:cNvCxnSpPr>
                <p:nvPr/>
              </p:nvCxnSpPr>
              <p:spPr>
                <a:xfrm flipV="1">
                  <a:off x="9754515" y="2663154"/>
                  <a:ext cx="579193" cy="3267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直接连接符 101">
                  <a:extLst>
                    <a:ext uri="{FF2B5EF4-FFF2-40B4-BE49-F238E27FC236}">
                      <a16:creationId xmlns:a16="http://schemas.microsoft.com/office/drawing/2014/main" id="{BBC0CE4C-7282-C254-8F0B-D719F32FD5C4}"/>
                    </a:ext>
                  </a:extLst>
                </p:cNvPr>
                <p:cNvCxnSpPr>
                  <a:cxnSpLocks/>
                  <a:stCxn id="94" idx="7"/>
                  <a:endCxn id="95" idx="3"/>
                </p:cNvCxnSpPr>
                <p:nvPr/>
              </p:nvCxnSpPr>
              <p:spPr>
                <a:xfrm flipV="1">
                  <a:off x="4715790" y="2663154"/>
                  <a:ext cx="960193" cy="3267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3E757F5A-A702-041F-6D00-D07278D67F08}"/>
                  </a:ext>
                </a:extLst>
              </p:cNvPr>
              <p:cNvCxnSpPr>
                <a:cxnSpLocks/>
                <a:stCxn id="96" idx="6"/>
                <a:endCxn id="97" idx="2"/>
              </p:cNvCxnSpPr>
              <p:nvPr/>
            </p:nvCxnSpPr>
            <p:spPr>
              <a:xfrm>
                <a:off x="6779865" y="3312641"/>
                <a:ext cx="1968990" cy="3889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F6733269-8C0F-DB7F-A6EE-6E7B36961872}"/>
                  </a:ext>
                </a:extLst>
              </p:cNvPr>
              <p:cNvSpPr/>
              <p:nvPr/>
            </p:nvSpPr>
            <p:spPr>
              <a:xfrm>
                <a:off x="3081347" y="2954107"/>
                <a:ext cx="2558968" cy="1083098"/>
              </a:xfrm>
              <a:prstGeom prst="ellipse">
                <a:avLst/>
              </a:prstGeom>
              <a:noFill/>
              <a:ln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F203053C-F3C8-1D17-5AF3-89DF9831B386}"/>
                  </a:ext>
                </a:extLst>
              </p:cNvPr>
              <p:cNvSpPr/>
              <p:nvPr/>
            </p:nvSpPr>
            <p:spPr>
              <a:xfrm>
                <a:off x="6072303" y="3018989"/>
                <a:ext cx="1279484" cy="541549"/>
              </a:xfrm>
              <a:prstGeom prst="ellipse">
                <a:avLst/>
              </a:prstGeom>
              <a:noFill/>
              <a:ln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36891D30-C408-5DC4-1EFB-811B1A84D76F}"/>
                  </a:ext>
                </a:extLst>
              </p:cNvPr>
              <p:cNvSpPr/>
              <p:nvPr/>
            </p:nvSpPr>
            <p:spPr>
              <a:xfrm>
                <a:off x="8165560" y="3086239"/>
                <a:ext cx="1744501" cy="738370"/>
              </a:xfrm>
              <a:prstGeom prst="ellipse">
                <a:avLst/>
              </a:prstGeom>
              <a:noFill/>
              <a:ln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AFF6BA9-CFD1-BA33-C6BA-CDD41724EF2F}"/>
                </a:ext>
              </a:extLst>
            </p:cNvPr>
            <p:cNvSpPr txBox="1"/>
            <p:nvPr/>
          </p:nvSpPr>
          <p:spPr>
            <a:xfrm>
              <a:off x="487067" y="4805260"/>
              <a:ext cx="518506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步骤</a:t>
              </a:r>
              <a:r>
                <a:rPr lang="en-US" altLang="zh-CN" sz="2000" b="1" dirty="0"/>
                <a:t>3</a:t>
              </a:r>
              <a:r>
                <a:rPr lang="zh-CN" altLang="en-US" sz="2000" b="1" dirty="0"/>
                <a:t>：基于导航图搜索进行分区</a:t>
              </a:r>
              <a:endParaRPr lang="en-US" altLang="zh-CN" sz="2000" b="1" dirty="0"/>
            </a:p>
            <a:p>
              <a:r>
                <a:rPr lang="zh-CN" altLang="en-US" sz="2000" b="1" dirty="0"/>
                <a:t>步骤</a:t>
              </a:r>
              <a:r>
                <a:rPr lang="en-US" altLang="zh-CN" sz="2000" b="1" dirty="0"/>
                <a:t>4</a:t>
              </a:r>
              <a:r>
                <a:rPr lang="zh-CN" altLang="en-US" sz="2000" b="1" dirty="0"/>
                <a:t>：分片本地图构建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980D525-AE19-A7C1-56DA-772774B89F2F}"/>
                </a:ext>
              </a:extLst>
            </p:cNvPr>
            <p:cNvSpPr txBox="1"/>
            <p:nvPr/>
          </p:nvSpPr>
          <p:spPr>
            <a:xfrm>
              <a:off x="5911463" y="3554859"/>
              <a:ext cx="503960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以导航图搜索结果作为各分片的</a:t>
              </a:r>
              <a:r>
                <a:rPr lang="en-US" altLang="zh-CN" sz="2000" b="1" dirty="0"/>
                <a:t>entry point</a:t>
              </a:r>
              <a:r>
                <a:rPr lang="zh-CN" altLang="en-US" sz="2000" b="1" dirty="0"/>
                <a:t>，并根据</a:t>
              </a:r>
              <a:r>
                <a:rPr lang="en-US" altLang="zh-CN" sz="2000" b="1" dirty="0"/>
                <a:t>ep</a:t>
              </a:r>
              <a:r>
                <a:rPr lang="zh-CN" altLang="en-US" sz="2000" b="1" dirty="0"/>
                <a:t>的数量调整分片的搜索程度</a:t>
              </a:r>
            </a:p>
          </p:txBody>
        </p: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61F93D6B-60D4-6B7B-BC3B-AC7D5EFFE43C}"/>
                </a:ext>
              </a:extLst>
            </p:cNvPr>
            <p:cNvGrpSpPr/>
            <p:nvPr/>
          </p:nvGrpSpPr>
          <p:grpSpPr>
            <a:xfrm>
              <a:off x="6054439" y="4415911"/>
              <a:ext cx="4963364" cy="1333226"/>
              <a:chOff x="6017846" y="4161912"/>
              <a:chExt cx="4963364" cy="1333226"/>
            </a:xfrm>
          </p:grpSpPr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E76E08B2-820F-3E05-E6CB-7C42A381B46B}"/>
                  </a:ext>
                </a:extLst>
              </p:cNvPr>
              <p:cNvGrpSpPr/>
              <p:nvPr/>
            </p:nvGrpSpPr>
            <p:grpSpPr>
              <a:xfrm>
                <a:off x="6017846" y="4161912"/>
                <a:ext cx="4963364" cy="1333226"/>
                <a:chOff x="7067315" y="3501347"/>
                <a:chExt cx="3096052" cy="831641"/>
              </a:xfrm>
            </p:grpSpPr>
            <p:grpSp>
              <p:nvGrpSpPr>
                <p:cNvPr id="49" name="组合 48">
                  <a:extLst>
                    <a:ext uri="{FF2B5EF4-FFF2-40B4-BE49-F238E27FC236}">
                      <a16:creationId xmlns:a16="http://schemas.microsoft.com/office/drawing/2014/main" id="{DB8CB72A-F2F5-424B-0F33-0D4674EA6FFA}"/>
                    </a:ext>
                  </a:extLst>
                </p:cNvPr>
                <p:cNvGrpSpPr/>
                <p:nvPr/>
              </p:nvGrpSpPr>
              <p:grpSpPr>
                <a:xfrm>
                  <a:off x="7067315" y="3920158"/>
                  <a:ext cx="3096052" cy="353896"/>
                  <a:chOff x="3337967" y="1600200"/>
                  <a:chExt cx="6499695" cy="742950"/>
                </a:xfrm>
              </p:grpSpPr>
              <p:sp>
                <p:nvSpPr>
                  <p:cNvPr id="86" name="平行四边形 85">
                    <a:extLst>
                      <a:ext uri="{FF2B5EF4-FFF2-40B4-BE49-F238E27FC236}">
                        <a16:creationId xmlns:a16="http://schemas.microsoft.com/office/drawing/2014/main" id="{0BA18375-1C51-0C4B-F09D-6EF595BBFBDD}"/>
                      </a:ext>
                    </a:extLst>
                  </p:cNvPr>
                  <p:cNvSpPr/>
                  <p:nvPr/>
                </p:nvSpPr>
                <p:spPr>
                  <a:xfrm>
                    <a:off x="3337967" y="1600200"/>
                    <a:ext cx="6499695" cy="742950"/>
                  </a:xfrm>
                  <a:prstGeom prst="parallelogram">
                    <a:avLst>
                      <a:gd name="adj" fmla="val 248077"/>
                    </a:avLst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7" name="椭圆 86">
                    <a:extLst>
                      <a:ext uri="{FF2B5EF4-FFF2-40B4-BE49-F238E27FC236}">
                        <a16:creationId xmlns:a16="http://schemas.microsoft.com/office/drawing/2014/main" id="{932DD7B8-42A7-AA11-5614-C14D34D6FEA7}"/>
                      </a:ext>
                    </a:extLst>
                  </p:cNvPr>
                  <p:cNvSpPr/>
                  <p:nvPr/>
                </p:nvSpPr>
                <p:spPr>
                  <a:xfrm>
                    <a:off x="6134100" y="2152650"/>
                    <a:ext cx="123825" cy="123825"/>
                  </a:xfrm>
                  <a:prstGeom prst="ellipse">
                    <a:avLst/>
                  </a:prstGeom>
                  <a:solidFill>
                    <a:srgbClr val="0070C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BBC7B2F1-5B04-6857-192E-61650A5C1E92}"/>
                    </a:ext>
                  </a:extLst>
                </p:cNvPr>
                <p:cNvSpPr/>
                <p:nvPr/>
              </p:nvSpPr>
              <p:spPr>
                <a:xfrm>
                  <a:off x="8703792" y="3881091"/>
                  <a:ext cx="754790" cy="370952"/>
                </a:xfrm>
                <a:prstGeom prst="ellipse">
                  <a:avLst/>
                </a:prstGeom>
                <a:noFill/>
                <a:ln>
                  <a:solidFill>
                    <a:srgbClr val="0070C0"/>
                  </a:solidFill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6D4D4563-6AD3-FF2C-ACDD-35F859544001}"/>
                    </a:ext>
                  </a:extLst>
                </p:cNvPr>
                <p:cNvSpPr/>
                <p:nvPr/>
              </p:nvSpPr>
              <p:spPr>
                <a:xfrm>
                  <a:off x="7673281" y="4153820"/>
                  <a:ext cx="58983" cy="58983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2" name="椭圆 51">
                  <a:extLst>
                    <a:ext uri="{FF2B5EF4-FFF2-40B4-BE49-F238E27FC236}">
                      <a16:creationId xmlns:a16="http://schemas.microsoft.com/office/drawing/2014/main" id="{B59A549D-C242-6DD4-4796-72F6693CE49A}"/>
                    </a:ext>
                  </a:extLst>
                </p:cNvPr>
                <p:cNvSpPr/>
                <p:nvPr/>
              </p:nvSpPr>
              <p:spPr>
                <a:xfrm>
                  <a:off x="8172364" y="3956455"/>
                  <a:ext cx="58983" cy="58983"/>
                </a:xfrm>
                <a:prstGeom prst="ellipse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3A64AB3E-527E-E039-66B9-93AF9B4669AF}"/>
                    </a:ext>
                  </a:extLst>
                </p:cNvPr>
                <p:cNvSpPr/>
                <p:nvPr/>
              </p:nvSpPr>
              <p:spPr>
                <a:xfrm>
                  <a:off x="9070713" y="3967420"/>
                  <a:ext cx="58983" cy="58983"/>
                </a:xfrm>
                <a:prstGeom prst="ellipse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54" name="组合 53">
                  <a:extLst>
                    <a:ext uri="{FF2B5EF4-FFF2-40B4-BE49-F238E27FC236}">
                      <a16:creationId xmlns:a16="http://schemas.microsoft.com/office/drawing/2014/main" id="{F0CFFF8B-F359-BC70-F736-EBEE36D2EF2F}"/>
                    </a:ext>
                  </a:extLst>
                </p:cNvPr>
                <p:cNvGrpSpPr/>
                <p:nvPr/>
              </p:nvGrpSpPr>
              <p:grpSpPr>
                <a:xfrm>
                  <a:off x="7067315" y="3501347"/>
                  <a:ext cx="3096052" cy="353896"/>
                  <a:chOff x="3337966" y="2481263"/>
                  <a:chExt cx="6499695" cy="742950"/>
                </a:xfrm>
              </p:grpSpPr>
              <p:grpSp>
                <p:nvGrpSpPr>
                  <p:cNvPr id="77" name="组合 76">
                    <a:extLst>
                      <a:ext uri="{FF2B5EF4-FFF2-40B4-BE49-F238E27FC236}">
                        <a16:creationId xmlns:a16="http://schemas.microsoft.com/office/drawing/2014/main" id="{DE208744-8C92-6AF6-3611-567E5C78A8FA}"/>
                      </a:ext>
                    </a:extLst>
                  </p:cNvPr>
                  <p:cNvGrpSpPr/>
                  <p:nvPr/>
                </p:nvGrpSpPr>
                <p:grpSpPr>
                  <a:xfrm>
                    <a:off x="3337966" y="2481263"/>
                    <a:ext cx="6499695" cy="742950"/>
                    <a:chOff x="3337967" y="1600200"/>
                    <a:chExt cx="6499695" cy="742950"/>
                  </a:xfrm>
                </p:grpSpPr>
                <p:sp>
                  <p:nvSpPr>
                    <p:cNvPr id="84" name="平行四边形 83">
                      <a:extLst>
                        <a:ext uri="{FF2B5EF4-FFF2-40B4-BE49-F238E27FC236}">
                          <a16:creationId xmlns:a16="http://schemas.microsoft.com/office/drawing/2014/main" id="{846A3408-DE9B-A5CF-E368-DA9D98CC22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967" y="1600200"/>
                      <a:ext cx="6499695" cy="742950"/>
                    </a:xfrm>
                    <a:prstGeom prst="parallelogram">
                      <a:avLst>
                        <a:gd name="adj" fmla="val 248077"/>
                      </a:avLst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85" name="椭圆 84">
                      <a:extLst>
                        <a:ext uri="{FF2B5EF4-FFF2-40B4-BE49-F238E27FC236}">
                          <a16:creationId xmlns:a16="http://schemas.microsoft.com/office/drawing/2014/main" id="{ED294C15-E29E-6AF6-7E28-5C495AD146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4100" y="2152650"/>
                      <a:ext cx="123825" cy="123825"/>
                    </a:xfrm>
                    <a:prstGeom prst="ellipse">
                      <a:avLst/>
                    </a:prstGeom>
                    <a:solidFill>
                      <a:srgbClr val="0070C0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78" name="椭圆 77">
                    <a:extLst>
                      <a:ext uri="{FF2B5EF4-FFF2-40B4-BE49-F238E27FC236}">
                        <a16:creationId xmlns:a16="http://schemas.microsoft.com/office/drawing/2014/main" id="{1684BCED-367E-018E-9396-D96A6A25A822}"/>
                      </a:ext>
                    </a:extLst>
                  </p:cNvPr>
                  <p:cNvSpPr/>
                  <p:nvPr/>
                </p:nvSpPr>
                <p:spPr>
                  <a:xfrm>
                    <a:off x="4610099" y="2971800"/>
                    <a:ext cx="123825" cy="123825"/>
                  </a:xfrm>
                  <a:prstGeom prst="ellipse">
                    <a:avLst/>
                  </a:prstGeom>
                  <a:solidFill>
                    <a:srgbClr val="00B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9" name="椭圆 78">
                    <a:extLst>
                      <a:ext uri="{FF2B5EF4-FFF2-40B4-BE49-F238E27FC236}">
                        <a16:creationId xmlns:a16="http://schemas.microsoft.com/office/drawing/2014/main" id="{F8AF85C2-28A3-FC3C-8646-8C73FF9DB327}"/>
                      </a:ext>
                    </a:extLst>
                  </p:cNvPr>
                  <p:cNvSpPr/>
                  <p:nvPr/>
                </p:nvSpPr>
                <p:spPr>
                  <a:xfrm>
                    <a:off x="5657849" y="2557463"/>
                    <a:ext cx="123825" cy="123825"/>
                  </a:xfrm>
                  <a:prstGeom prst="ellipse">
                    <a:avLst/>
                  </a:prstGeom>
                  <a:solidFill>
                    <a:srgbClr val="0070C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0" name="椭圆 79">
                    <a:extLst>
                      <a:ext uri="{FF2B5EF4-FFF2-40B4-BE49-F238E27FC236}">
                        <a16:creationId xmlns:a16="http://schemas.microsoft.com/office/drawing/2014/main" id="{C752C5EB-3838-99CE-A32E-6FA99A2282BA}"/>
                      </a:ext>
                    </a:extLst>
                  </p:cNvPr>
                  <p:cNvSpPr/>
                  <p:nvPr/>
                </p:nvSpPr>
                <p:spPr>
                  <a:xfrm>
                    <a:off x="7543799" y="2580482"/>
                    <a:ext cx="123825" cy="123825"/>
                  </a:xfrm>
                  <a:prstGeom prst="ellipse">
                    <a:avLst/>
                  </a:prstGeom>
                  <a:solidFill>
                    <a:srgbClr val="0070C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81" name="直接连接符 80">
                    <a:extLst>
                      <a:ext uri="{FF2B5EF4-FFF2-40B4-BE49-F238E27FC236}">
                        <a16:creationId xmlns:a16="http://schemas.microsoft.com/office/drawing/2014/main" id="{75FD5C0E-754F-5B3D-B1A4-24ED4316E7E4}"/>
                      </a:ext>
                    </a:extLst>
                  </p:cNvPr>
                  <p:cNvCxnSpPr>
                    <a:cxnSpLocks/>
                    <a:stCxn id="79" idx="5"/>
                    <a:endCxn id="85" idx="0"/>
                  </p:cNvCxnSpPr>
                  <p:nvPr/>
                </p:nvCxnSpPr>
                <p:spPr>
                  <a:xfrm>
                    <a:off x="5763540" y="2663154"/>
                    <a:ext cx="432472" cy="370559"/>
                  </a:xfrm>
                  <a:prstGeom prst="line">
                    <a:avLst/>
                  </a:prstGeom>
                  <a:ln w="19050">
                    <a:solidFill>
                      <a:srgbClr val="7030A0"/>
                    </a:solidFill>
                    <a:headEnd type="arrow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直接连接符 81">
                    <a:extLst>
                      <a:ext uri="{FF2B5EF4-FFF2-40B4-BE49-F238E27FC236}">
                        <a16:creationId xmlns:a16="http://schemas.microsoft.com/office/drawing/2014/main" id="{05D00E97-DF5D-D198-D528-4782821DE402}"/>
                      </a:ext>
                    </a:extLst>
                  </p:cNvPr>
                  <p:cNvCxnSpPr>
                    <a:cxnSpLocks/>
                    <a:stCxn id="85" idx="7"/>
                    <a:endCxn id="80" idx="2"/>
                  </p:cNvCxnSpPr>
                  <p:nvPr/>
                </p:nvCxnSpPr>
                <p:spPr>
                  <a:xfrm flipV="1">
                    <a:off x="6239790" y="2642395"/>
                    <a:ext cx="1304009" cy="409452"/>
                  </a:xfrm>
                  <a:prstGeom prst="line">
                    <a:avLst/>
                  </a:prstGeom>
                  <a:ln w="19050">
                    <a:solidFill>
                      <a:srgbClr val="7030A0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直接连接符 82">
                    <a:extLst>
                      <a:ext uri="{FF2B5EF4-FFF2-40B4-BE49-F238E27FC236}">
                        <a16:creationId xmlns:a16="http://schemas.microsoft.com/office/drawing/2014/main" id="{E5B35FBD-BAAC-ECBA-828D-57D21D664AEA}"/>
                      </a:ext>
                    </a:extLst>
                  </p:cNvPr>
                  <p:cNvCxnSpPr>
                    <a:cxnSpLocks/>
                    <a:stCxn id="78" idx="7"/>
                    <a:endCxn id="79" idx="3"/>
                  </p:cNvCxnSpPr>
                  <p:nvPr/>
                </p:nvCxnSpPr>
                <p:spPr>
                  <a:xfrm flipV="1">
                    <a:off x="4715790" y="2663154"/>
                    <a:ext cx="960193" cy="32678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A52611AD-762B-EC7C-4F11-70F6E0B97C79}"/>
                    </a:ext>
                  </a:extLst>
                </p:cNvPr>
                <p:cNvSpPr/>
                <p:nvPr/>
              </p:nvSpPr>
              <p:spPr>
                <a:xfrm>
                  <a:off x="8729735" y="3991123"/>
                  <a:ext cx="58983" cy="58983"/>
                </a:xfrm>
                <a:prstGeom prst="ellipse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椭圆 55">
                  <a:extLst>
                    <a:ext uri="{FF2B5EF4-FFF2-40B4-BE49-F238E27FC236}">
                      <a16:creationId xmlns:a16="http://schemas.microsoft.com/office/drawing/2014/main" id="{4C50B15B-4924-7816-F6F6-556215F1D7C4}"/>
                    </a:ext>
                  </a:extLst>
                </p:cNvPr>
                <p:cNvSpPr/>
                <p:nvPr/>
              </p:nvSpPr>
              <p:spPr>
                <a:xfrm>
                  <a:off x="9045930" y="4175633"/>
                  <a:ext cx="58983" cy="58983"/>
                </a:xfrm>
                <a:prstGeom prst="ellipse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8734ECA3-FE99-7D44-DB9E-85FEBDE66E84}"/>
                    </a:ext>
                  </a:extLst>
                </p:cNvPr>
                <p:cNvSpPr/>
                <p:nvPr/>
              </p:nvSpPr>
              <p:spPr>
                <a:xfrm>
                  <a:off x="9277152" y="4026403"/>
                  <a:ext cx="58983" cy="58983"/>
                </a:xfrm>
                <a:prstGeom prst="ellipse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9FC5BB26-2B5A-5FC3-8D8E-ECD850AC3B73}"/>
                    </a:ext>
                  </a:extLst>
                </p:cNvPr>
                <p:cNvSpPr/>
                <p:nvPr/>
              </p:nvSpPr>
              <p:spPr>
                <a:xfrm>
                  <a:off x="7902405" y="4026403"/>
                  <a:ext cx="58983" cy="58983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F902B11F-410E-6588-6AC4-44B3A2BDFCD0}"/>
                    </a:ext>
                  </a:extLst>
                </p:cNvPr>
                <p:cNvSpPr/>
                <p:nvPr/>
              </p:nvSpPr>
              <p:spPr>
                <a:xfrm>
                  <a:off x="9742207" y="3947904"/>
                  <a:ext cx="58983" cy="58983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>
                  <a:extLst>
                    <a:ext uri="{FF2B5EF4-FFF2-40B4-BE49-F238E27FC236}">
                      <a16:creationId xmlns:a16="http://schemas.microsoft.com/office/drawing/2014/main" id="{EA7D7758-4D13-6142-DE5B-ED62D78FCBC7}"/>
                    </a:ext>
                  </a:extLst>
                </p:cNvPr>
                <p:cNvSpPr/>
                <p:nvPr/>
              </p:nvSpPr>
              <p:spPr>
                <a:xfrm>
                  <a:off x="8123153" y="4153820"/>
                  <a:ext cx="58983" cy="58983"/>
                </a:xfrm>
                <a:prstGeom prst="ellipse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61" name="直接连接符 60">
                  <a:extLst>
                    <a:ext uri="{FF2B5EF4-FFF2-40B4-BE49-F238E27FC236}">
                      <a16:creationId xmlns:a16="http://schemas.microsoft.com/office/drawing/2014/main" id="{04012553-B9A7-F06C-1BAF-9CAC8E19E6D6}"/>
                    </a:ext>
                  </a:extLst>
                </p:cNvPr>
                <p:cNvCxnSpPr>
                  <a:stCxn id="51" idx="7"/>
                  <a:endCxn id="58" idx="2"/>
                </p:cNvCxnSpPr>
                <p:nvPr/>
              </p:nvCxnSpPr>
              <p:spPr>
                <a:xfrm flipV="1">
                  <a:off x="7723625" y="4055894"/>
                  <a:ext cx="178780" cy="10656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直接连接符 61">
                  <a:extLst>
                    <a:ext uri="{FF2B5EF4-FFF2-40B4-BE49-F238E27FC236}">
                      <a16:creationId xmlns:a16="http://schemas.microsoft.com/office/drawing/2014/main" id="{CD97C35C-6775-3BC3-E940-A0E585B95151}"/>
                    </a:ext>
                  </a:extLst>
                </p:cNvPr>
                <p:cNvCxnSpPr>
                  <a:stCxn id="58" idx="5"/>
                  <a:endCxn id="60" idx="2"/>
                </p:cNvCxnSpPr>
                <p:nvPr/>
              </p:nvCxnSpPr>
              <p:spPr>
                <a:xfrm>
                  <a:off x="7952750" y="4076747"/>
                  <a:ext cx="170403" cy="10656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连接符 62">
                  <a:extLst>
                    <a:ext uri="{FF2B5EF4-FFF2-40B4-BE49-F238E27FC236}">
                      <a16:creationId xmlns:a16="http://schemas.microsoft.com/office/drawing/2014/main" id="{3B8D3DF7-8B52-8385-B571-806983882A6D}"/>
                    </a:ext>
                  </a:extLst>
                </p:cNvPr>
                <p:cNvCxnSpPr>
                  <a:stCxn id="60" idx="7"/>
                  <a:endCxn id="52" idx="4"/>
                </p:cNvCxnSpPr>
                <p:nvPr/>
              </p:nvCxnSpPr>
              <p:spPr>
                <a:xfrm flipV="1">
                  <a:off x="8173497" y="4015438"/>
                  <a:ext cx="28358" cy="147020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连接符 63">
                  <a:extLst>
                    <a:ext uri="{FF2B5EF4-FFF2-40B4-BE49-F238E27FC236}">
                      <a16:creationId xmlns:a16="http://schemas.microsoft.com/office/drawing/2014/main" id="{CBE542D1-EC0F-C786-353C-FF74B0BE41BA}"/>
                    </a:ext>
                  </a:extLst>
                </p:cNvPr>
                <p:cNvCxnSpPr>
                  <a:stCxn id="60" idx="6"/>
                  <a:endCxn id="87" idx="2"/>
                </p:cNvCxnSpPr>
                <p:nvPr/>
              </p:nvCxnSpPr>
              <p:spPr>
                <a:xfrm>
                  <a:off x="8182135" y="4183312"/>
                  <a:ext cx="217084" cy="29492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>
                  <a:extLst>
                    <a:ext uri="{FF2B5EF4-FFF2-40B4-BE49-F238E27FC236}">
                      <a16:creationId xmlns:a16="http://schemas.microsoft.com/office/drawing/2014/main" id="{D9E08B8B-9ABC-73C3-B338-36EE64E8A602}"/>
                    </a:ext>
                  </a:extLst>
                </p:cNvPr>
                <p:cNvCxnSpPr>
                  <a:stCxn id="87" idx="7"/>
                  <a:endCxn id="55" idx="3"/>
                </p:cNvCxnSpPr>
                <p:nvPr/>
              </p:nvCxnSpPr>
              <p:spPr>
                <a:xfrm flipV="1">
                  <a:off x="8449564" y="4041468"/>
                  <a:ext cx="288808" cy="150482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>
                  <a:extLst>
                    <a:ext uri="{FF2B5EF4-FFF2-40B4-BE49-F238E27FC236}">
                      <a16:creationId xmlns:a16="http://schemas.microsoft.com/office/drawing/2014/main" id="{9C80B265-EE41-AF42-B3C5-A0358441B2A5}"/>
                    </a:ext>
                  </a:extLst>
                </p:cNvPr>
                <p:cNvCxnSpPr>
                  <a:stCxn id="52" idx="6"/>
                  <a:endCxn id="55" idx="1"/>
                </p:cNvCxnSpPr>
                <p:nvPr/>
              </p:nvCxnSpPr>
              <p:spPr>
                <a:xfrm>
                  <a:off x="8231346" y="3985947"/>
                  <a:ext cx="507026" cy="13814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>
                  <a:extLst>
                    <a:ext uri="{FF2B5EF4-FFF2-40B4-BE49-F238E27FC236}">
                      <a16:creationId xmlns:a16="http://schemas.microsoft.com/office/drawing/2014/main" id="{79F9DB99-1B3A-CC8C-4EEC-AF7035697E50}"/>
                    </a:ext>
                  </a:extLst>
                </p:cNvPr>
                <p:cNvCxnSpPr>
                  <a:stCxn id="55" idx="6"/>
                  <a:endCxn id="56" idx="2"/>
                </p:cNvCxnSpPr>
                <p:nvPr/>
              </p:nvCxnSpPr>
              <p:spPr>
                <a:xfrm>
                  <a:off x="8788717" y="4020615"/>
                  <a:ext cx="257213" cy="18451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连接符 67">
                  <a:extLst>
                    <a:ext uri="{FF2B5EF4-FFF2-40B4-BE49-F238E27FC236}">
                      <a16:creationId xmlns:a16="http://schemas.microsoft.com/office/drawing/2014/main" id="{FF8FAB63-D94C-5E25-2EE8-AA6998C915C4}"/>
                    </a:ext>
                  </a:extLst>
                </p:cNvPr>
                <p:cNvCxnSpPr>
                  <a:cxnSpLocks/>
                  <a:stCxn id="56" idx="0"/>
                  <a:endCxn id="53" idx="4"/>
                </p:cNvCxnSpPr>
                <p:nvPr/>
              </p:nvCxnSpPr>
              <p:spPr>
                <a:xfrm flipV="1">
                  <a:off x="9075421" y="4026403"/>
                  <a:ext cx="24784" cy="149230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接连接符 68">
                  <a:extLst>
                    <a:ext uri="{FF2B5EF4-FFF2-40B4-BE49-F238E27FC236}">
                      <a16:creationId xmlns:a16="http://schemas.microsoft.com/office/drawing/2014/main" id="{BC72B419-7D65-D113-6084-1389ECA59B4F}"/>
                    </a:ext>
                  </a:extLst>
                </p:cNvPr>
                <p:cNvCxnSpPr>
                  <a:stCxn id="53" idx="6"/>
                  <a:endCxn id="57" idx="1"/>
                </p:cNvCxnSpPr>
                <p:nvPr/>
              </p:nvCxnSpPr>
              <p:spPr>
                <a:xfrm>
                  <a:off x="9129696" y="3996912"/>
                  <a:ext cx="156094" cy="38129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接连接符 69">
                  <a:extLst>
                    <a:ext uri="{FF2B5EF4-FFF2-40B4-BE49-F238E27FC236}">
                      <a16:creationId xmlns:a16="http://schemas.microsoft.com/office/drawing/2014/main" id="{743C540A-8209-4DEE-9C5D-83A0E897BBB8}"/>
                    </a:ext>
                  </a:extLst>
                </p:cNvPr>
                <p:cNvCxnSpPr>
                  <a:endCxn id="59" idx="2"/>
                </p:cNvCxnSpPr>
                <p:nvPr/>
              </p:nvCxnSpPr>
              <p:spPr>
                <a:xfrm flipV="1">
                  <a:off x="9336135" y="3977396"/>
                  <a:ext cx="406072" cy="7849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接连接符 70">
                  <a:extLst>
                    <a:ext uri="{FF2B5EF4-FFF2-40B4-BE49-F238E27FC236}">
                      <a16:creationId xmlns:a16="http://schemas.microsoft.com/office/drawing/2014/main" id="{5AC3C909-B88B-0A22-2341-9E1E7DC80527}"/>
                    </a:ext>
                  </a:extLst>
                </p:cNvPr>
                <p:cNvCxnSpPr>
                  <a:cxnSpLocks/>
                  <a:stCxn id="55" idx="7"/>
                  <a:endCxn id="53" idx="2"/>
                </p:cNvCxnSpPr>
                <p:nvPr/>
              </p:nvCxnSpPr>
              <p:spPr>
                <a:xfrm flipV="1">
                  <a:off x="8780079" y="3996912"/>
                  <a:ext cx="290634" cy="2849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2" name="椭圆 71">
                  <a:extLst>
                    <a:ext uri="{FF2B5EF4-FFF2-40B4-BE49-F238E27FC236}">
                      <a16:creationId xmlns:a16="http://schemas.microsoft.com/office/drawing/2014/main" id="{7C2EFC1F-CDB2-DA83-CE4D-99C8C8E6715B}"/>
                    </a:ext>
                  </a:extLst>
                </p:cNvPr>
                <p:cNvSpPr/>
                <p:nvPr/>
              </p:nvSpPr>
              <p:spPr>
                <a:xfrm>
                  <a:off x="7838748" y="3881091"/>
                  <a:ext cx="742853" cy="451897"/>
                </a:xfrm>
                <a:prstGeom prst="ellipse">
                  <a:avLst/>
                </a:prstGeom>
                <a:noFill/>
                <a:ln>
                  <a:solidFill>
                    <a:srgbClr val="0070C0"/>
                  </a:solidFill>
                  <a:prstDash val="lg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星形: 五角 72">
                  <a:extLst>
                    <a:ext uri="{FF2B5EF4-FFF2-40B4-BE49-F238E27FC236}">
                      <a16:creationId xmlns:a16="http://schemas.microsoft.com/office/drawing/2014/main" id="{D3F74524-2797-0436-866C-0E6743B75058}"/>
                    </a:ext>
                  </a:extLst>
                </p:cNvPr>
                <p:cNvSpPr/>
                <p:nvPr/>
              </p:nvSpPr>
              <p:spPr>
                <a:xfrm>
                  <a:off x="8610196" y="3606937"/>
                  <a:ext cx="58983" cy="58983"/>
                </a:xfrm>
                <a:prstGeom prst="star5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星形: 五角 73">
                  <a:extLst>
                    <a:ext uri="{FF2B5EF4-FFF2-40B4-BE49-F238E27FC236}">
                      <a16:creationId xmlns:a16="http://schemas.microsoft.com/office/drawing/2014/main" id="{EC6B2D79-DEFD-9951-4975-DDE9EC4E112E}"/>
                    </a:ext>
                  </a:extLst>
                </p:cNvPr>
                <p:cNvSpPr/>
                <p:nvPr/>
              </p:nvSpPr>
              <p:spPr>
                <a:xfrm>
                  <a:off x="8610196" y="4030432"/>
                  <a:ext cx="58983" cy="58983"/>
                </a:xfrm>
                <a:prstGeom prst="star5">
                  <a:avLst/>
                </a:prstGeom>
                <a:solidFill>
                  <a:srgbClr val="FFFF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C7AA6ED3-7279-81E7-B582-C1C7D5631F86}"/>
                    </a:ext>
                  </a:extLst>
                </p:cNvPr>
                <p:cNvSpPr txBox="1"/>
                <p:nvPr/>
              </p:nvSpPr>
              <p:spPr>
                <a:xfrm>
                  <a:off x="7332996" y="3508662"/>
                  <a:ext cx="197918" cy="1759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b="1" dirty="0"/>
                    <a:t>L</a:t>
                  </a:r>
                  <a:r>
                    <a:rPr lang="en-US" altLang="zh-CN" b="1" baseline="-25000" dirty="0"/>
                    <a:t>1</a:t>
                  </a:r>
                  <a:endParaRPr lang="zh-CN" altLang="en-US" b="1" baseline="-25000" dirty="0"/>
                </a:p>
              </p:txBody>
            </p:sp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F2037966-3F9C-8B9E-1F4B-41B44A22CBBC}"/>
                    </a:ext>
                  </a:extLst>
                </p:cNvPr>
                <p:cNvSpPr txBox="1"/>
                <p:nvPr/>
              </p:nvSpPr>
              <p:spPr>
                <a:xfrm>
                  <a:off x="7333671" y="3944576"/>
                  <a:ext cx="197918" cy="1759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b="1" dirty="0"/>
                    <a:t>L</a:t>
                  </a:r>
                  <a:r>
                    <a:rPr lang="en-US" altLang="zh-CN" b="1" baseline="-25000" dirty="0"/>
                    <a:t>0</a:t>
                  </a:r>
                  <a:endParaRPr lang="zh-CN" altLang="en-US" b="1" baseline="-25000" dirty="0"/>
                </a:p>
              </p:txBody>
            </p:sp>
          </p:grp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C5FB5B90-78AE-1A06-BF6D-F7EC4BD9816A}"/>
                  </a:ext>
                </a:extLst>
              </p:cNvPr>
              <p:cNvCxnSpPr>
                <a:stCxn id="79" idx="4"/>
                <a:endCxn id="52" idx="0"/>
              </p:cNvCxnSpPr>
              <p:nvPr/>
            </p:nvCxnSpPr>
            <p:spPr>
              <a:xfrm>
                <a:off x="7836658" y="4314658"/>
                <a:ext cx="1" cy="57685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9BACD754-8A39-1F70-BB2E-32BD32885F7F}"/>
                  </a:ext>
                </a:extLst>
              </p:cNvPr>
              <p:cNvCxnSpPr>
                <a:stCxn id="85" idx="4"/>
                <a:endCxn id="87" idx="0"/>
              </p:cNvCxnSpPr>
              <p:nvPr/>
            </p:nvCxnSpPr>
            <p:spPr>
              <a:xfrm>
                <a:off x="8200337" y="4678337"/>
                <a:ext cx="0" cy="57685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2B9E0ADB-79BF-2A9E-786E-6F76B6BF84C5}"/>
                  </a:ext>
                </a:extLst>
              </p:cNvPr>
              <p:cNvCxnSpPr>
                <a:stCxn id="80" idx="4"/>
                <a:endCxn id="53" idx="0"/>
              </p:cNvCxnSpPr>
              <p:nvPr/>
            </p:nvCxnSpPr>
            <p:spPr>
              <a:xfrm>
                <a:off x="9276826" y="4332236"/>
                <a:ext cx="0" cy="57685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E755F930-9AFF-D055-65A9-0A0D5A322F10}"/>
                  </a:ext>
                </a:extLst>
              </p:cNvPr>
              <p:cNvSpPr txBox="1"/>
              <p:nvPr/>
            </p:nvSpPr>
            <p:spPr>
              <a:xfrm>
                <a:off x="7289857" y="4433250"/>
                <a:ext cx="944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C00000"/>
                    </a:solidFill>
                  </a:rPr>
                  <a:t>#EP = 2</a:t>
                </a:r>
                <a:endParaRPr lang="zh-CN" altLang="en-US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02596AC3-F6B5-761C-AC29-53B3F4BE14E8}"/>
                  </a:ext>
                </a:extLst>
              </p:cNvPr>
              <p:cNvSpPr txBox="1"/>
              <p:nvPr/>
            </p:nvSpPr>
            <p:spPr>
              <a:xfrm>
                <a:off x="9231859" y="4258031"/>
                <a:ext cx="944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solidFill>
                      <a:srgbClr val="C00000"/>
                    </a:solidFill>
                  </a:rPr>
                  <a:t>#EP = 1</a:t>
                </a:r>
                <a:endParaRPr lang="zh-CN" altLang="en-US" b="1" dirty="0">
                  <a:solidFill>
                    <a:srgbClr val="C0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03216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6E9065-63BE-7FF1-DF43-2C707135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87"/>
            <a:ext cx="10515600" cy="1325563"/>
          </a:xfrm>
        </p:spPr>
        <p:txBody>
          <a:bodyPr/>
          <a:lstStyle/>
          <a:p>
            <a:r>
              <a:rPr lang="zh-CN" altLang="en-US" dirty="0"/>
              <a:t>拓扑感知导航图构建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1164D5-182E-BCFB-44A4-51865BD7F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764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b="0" dirty="0"/>
              <a:t>Orion</a:t>
            </a:r>
            <a:r>
              <a:rPr lang="zh-CN" altLang="en-US" sz="2800" b="0" dirty="0"/>
              <a:t>从数据集</a:t>
            </a:r>
            <a:r>
              <a:rPr lang="en-US" altLang="zh-CN" sz="2800" i="1" dirty="0"/>
              <a:t>D</a:t>
            </a:r>
            <a:r>
              <a:rPr lang="zh-CN" altLang="en-US" sz="2800" b="0" dirty="0"/>
              <a:t>中采样较小子集</a:t>
            </a:r>
            <a:r>
              <a:rPr lang="en-US" altLang="zh-CN" sz="2800" i="1" dirty="0"/>
              <a:t>S</a:t>
            </a:r>
            <a:r>
              <a:rPr lang="zh-CN" altLang="en-US" sz="2800" b="0" dirty="0"/>
              <a:t>，构建标准的</a:t>
            </a:r>
            <a:r>
              <a:rPr lang="en-US" altLang="zh-CN" sz="2800" b="0" dirty="0"/>
              <a:t>HNSW</a:t>
            </a:r>
            <a:r>
              <a:rPr lang="zh-CN" altLang="en-US" sz="2800" b="0" dirty="0"/>
              <a:t>导航图</a:t>
            </a:r>
            <a:endParaRPr lang="en-US" altLang="zh-CN" sz="2800" b="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0" dirty="0"/>
              <a:t>导航图</a:t>
            </a:r>
            <a:r>
              <a:rPr lang="en-US" altLang="zh-CN" sz="2800" b="0" dirty="0"/>
              <a:t>tagging</a:t>
            </a:r>
            <a:r>
              <a:rPr lang="zh-CN" altLang="en-US" sz="2800" b="0" dirty="0"/>
              <a:t>初始化</a:t>
            </a:r>
            <a:endParaRPr lang="en-US" altLang="zh-CN" sz="2800" b="0" dirty="0"/>
          </a:p>
          <a:p>
            <a:pPr lvl="1"/>
            <a:r>
              <a:rPr lang="zh-CN" altLang="en-US" sz="2400" b="0" dirty="0"/>
              <a:t>导航图底层应用</a:t>
            </a:r>
            <a:r>
              <a:rPr lang="zh-CN" altLang="en-US" sz="2400" b="0" dirty="0">
                <a:solidFill>
                  <a:srgbClr val="C00000"/>
                </a:solidFill>
              </a:rPr>
              <a:t>轻量聚类算法</a:t>
            </a:r>
            <a:r>
              <a:rPr lang="zh-CN" altLang="en-US" sz="2400" b="0" dirty="0"/>
              <a:t>生成</a:t>
            </a:r>
            <a:r>
              <a:rPr lang="en-US" altLang="zh-CN" sz="2400" b="0" dirty="0"/>
              <a:t>M</a:t>
            </a:r>
            <a:r>
              <a:rPr lang="zh-CN" altLang="en-US" sz="2400" b="0" dirty="0"/>
              <a:t>个聚类</a:t>
            </a:r>
            <a:endParaRPr lang="en-US" altLang="zh-CN" sz="2400" b="0" dirty="0"/>
          </a:p>
          <a:p>
            <a:pPr lvl="1"/>
            <a:r>
              <a:rPr lang="zh-CN" altLang="en-US" sz="2400" b="0" dirty="0"/>
              <a:t>依据其所在聚类设置</a:t>
            </a:r>
            <a:r>
              <a:rPr lang="en-US" altLang="zh-CN" sz="2400" b="0" dirty="0"/>
              <a:t>tag</a:t>
            </a:r>
            <a:r>
              <a:rPr lang="zh-CN" altLang="en-US" sz="2400" b="0" dirty="0"/>
              <a:t>（</a:t>
            </a:r>
            <a:r>
              <a:rPr lang="en-US" altLang="zh-CN" sz="2400" b="0" dirty="0"/>
              <a:t>Shard ID</a:t>
            </a:r>
            <a:r>
              <a:rPr lang="zh-CN" altLang="en-US" sz="2400" b="0" dirty="0"/>
              <a:t>）</a:t>
            </a:r>
            <a:endParaRPr lang="en-US" altLang="zh-CN" sz="2400" b="0" dirty="0"/>
          </a:p>
          <a:p>
            <a:pPr lvl="1"/>
            <a:r>
              <a:rPr lang="zh-CN" altLang="en-US" sz="2400" dirty="0"/>
              <a:t>问题：</a:t>
            </a:r>
            <a:r>
              <a:rPr lang="zh-CN" altLang="en-US" sz="2400" b="0" dirty="0"/>
              <a:t>基础的空间划分结果，忽略了</a:t>
            </a:r>
            <a:r>
              <a:rPr lang="en-US" altLang="zh-CN" sz="2400" b="0" dirty="0"/>
              <a:t>HNSW</a:t>
            </a:r>
            <a:r>
              <a:rPr lang="zh-CN" altLang="en-US" sz="2400" b="0" dirty="0"/>
              <a:t>中真实连接关系</a:t>
            </a:r>
            <a:endParaRPr lang="en-US" altLang="zh-CN" sz="2400" b="0" dirty="0"/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0" dirty="0"/>
              <a:t>拓扑感知微调</a:t>
            </a:r>
            <a:endParaRPr lang="en-US" altLang="zh-CN" sz="2800" b="0" dirty="0"/>
          </a:p>
          <a:p>
            <a:pPr lvl="1"/>
            <a:r>
              <a:rPr lang="zh-CN" altLang="en-US" sz="2400" b="0" dirty="0"/>
              <a:t>基于空间划分结果进行</a:t>
            </a:r>
            <a:r>
              <a:rPr lang="zh-CN" altLang="en-US" sz="2400" b="0" dirty="0">
                <a:solidFill>
                  <a:srgbClr val="C00000"/>
                </a:solidFill>
              </a:rPr>
              <a:t>自搜索</a:t>
            </a:r>
            <a:endParaRPr lang="en-US" altLang="zh-CN" sz="2400" b="0" dirty="0">
              <a:solidFill>
                <a:srgbClr val="C00000"/>
              </a:solidFill>
            </a:endParaRPr>
          </a:p>
          <a:p>
            <a:pPr lvl="1"/>
            <a:r>
              <a:rPr lang="zh-CN" altLang="en-US" sz="2400" b="0" dirty="0"/>
              <a:t>根据拓扑邻居</a:t>
            </a:r>
            <a:r>
              <a:rPr lang="en-US" altLang="zh-CN" sz="2400" b="0" dirty="0"/>
              <a:t>tag</a:t>
            </a:r>
            <a:r>
              <a:rPr lang="zh-CN" altLang="en-US" sz="2400" b="0" dirty="0"/>
              <a:t>采取</a:t>
            </a:r>
            <a:r>
              <a:rPr lang="zh-CN" altLang="en-US" sz="2400" b="0" dirty="0">
                <a:solidFill>
                  <a:srgbClr val="C00000"/>
                </a:solidFill>
              </a:rPr>
              <a:t>多数一致性</a:t>
            </a:r>
            <a:r>
              <a:rPr lang="zh-CN" altLang="en-US" sz="2400" b="0" dirty="0"/>
              <a:t>更新自身</a:t>
            </a:r>
            <a:r>
              <a:rPr lang="en-US" altLang="zh-CN" sz="2400" b="0" dirty="0"/>
              <a:t>tag</a:t>
            </a:r>
          </a:p>
          <a:p>
            <a:pPr lvl="1"/>
            <a:r>
              <a:rPr lang="zh-CN" altLang="en-US" sz="2400" b="0" dirty="0"/>
              <a:t>确保高度连通子图不会被切分到不同工作节点，维持高内聚性</a:t>
            </a:r>
            <a:endParaRPr lang="en-US" altLang="zh-CN" sz="2400" b="0" dirty="0"/>
          </a:p>
          <a:p>
            <a:pPr marL="0" indent="0">
              <a:buNone/>
            </a:pPr>
            <a:endParaRPr lang="en-US" altLang="zh-CN" sz="280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46D759-E994-B4B9-B564-BF3DD3DDA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3114-2061-4842-97A6-B5DACC79B906}" type="datetime1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675827-F879-BB76-43D7-7A42AE54DF41}"/>
              </a:ext>
            </a:extLst>
          </p:cNvPr>
          <p:cNvSpPr txBox="1"/>
          <p:nvPr/>
        </p:nvSpPr>
        <p:spPr>
          <a:xfrm>
            <a:off x="2431752" y="58089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基础空间划分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BC5AE26-4C24-BCE7-8CB8-4965DB37002F}"/>
              </a:ext>
            </a:extLst>
          </p:cNvPr>
          <p:cNvSpPr txBox="1"/>
          <p:nvPr/>
        </p:nvSpPr>
        <p:spPr>
          <a:xfrm>
            <a:off x="7840175" y="575126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拓扑感知微调</a:t>
            </a: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CF93CB10-7E3F-0B8A-5FBD-AF7D0A760EBD}"/>
              </a:ext>
            </a:extLst>
          </p:cNvPr>
          <p:cNvGrpSpPr/>
          <p:nvPr/>
        </p:nvGrpSpPr>
        <p:grpSpPr>
          <a:xfrm>
            <a:off x="838200" y="5156149"/>
            <a:ext cx="5055722" cy="610186"/>
            <a:chOff x="1440872" y="2954107"/>
            <a:chExt cx="8974051" cy="1083098"/>
          </a:xfrm>
        </p:grpSpPr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24DEEE7E-2103-7A23-F7CB-E7D2DADE541C}"/>
                </a:ext>
              </a:extLst>
            </p:cNvPr>
            <p:cNvGrpSpPr/>
            <p:nvPr/>
          </p:nvGrpSpPr>
          <p:grpSpPr>
            <a:xfrm>
              <a:off x="1440872" y="3152503"/>
              <a:ext cx="8974051" cy="738370"/>
              <a:chOff x="2295523" y="2481263"/>
              <a:chExt cx="9029701" cy="742950"/>
            </a:xfrm>
          </p:grpSpPr>
          <p:grpSp>
            <p:nvGrpSpPr>
              <p:cNvPr id="127" name="组合 126">
                <a:extLst>
                  <a:ext uri="{FF2B5EF4-FFF2-40B4-BE49-F238E27FC236}">
                    <a16:creationId xmlns:a16="http://schemas.microsoft.com/office/drawing/2014/main" id="{754D6907-6F39-5600-746E-8F3214088FE0}"/>
                  </a:ext>
                </a:extLst>
              </p:cNvPr>
              <p:cNvGrpSpPr/>
              <p:nvPr/>
            </p:nvGrpSpPr>
            <p:grpSpPr>
              <a:xfrm>
                <a:off x="2295523" y="2481263"/>
                <a:ext cx="9029701" cy="742950"/>
                <a:chOff x="2295524" y="1600200"/>
                <a:chExt cx="9029701" cy="742950"/>
              </a:xfrm>
            </p:grpSpPr>
            <p:sp>
              <p:nvSpPr>
                <p:cNvPr id="137" name="平行四边形 136">
                  <a:extLst>
                    <a:ext uri="{FF2B5EF4-FFF2-40B4-BE49-F238E27FC236}">
                      <a16:creationId xmlns:a16="http://schemas.microsoft.com/office/drawing/2014/main" id="{5000E8BF-37B2-E53B-D54E-BC6DBD2E83EF}"/>
                    </a:ext>
                  </a:extLst>
                </p:cNvPr>
                <p:cNvSpPr/>
                <p:nvPr/>
              </p:nvSpPr>
              <p:spPr>
                <a:xfrm>
                  <a:off x="2295524" y="1600200"/>
                  <a:ext cx="9029701" cy="742950"/>
                </a:xfrm>
                <a:prstGeom prst="parallelogram">
                  <a:avLst>
                    <a:gd name="adj" fmla="val 248077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8" name="椭圆 137">
                  <a:extLst>
                    <a:ext uri="{FF2B5EF4-FFF2-40B4-BE49-F238E27FC236}">
                      <a16:creationId xmlns:a16="http://schemas.microsoft.com/office/drawing/2014/main" id="{DFC59096-0FE0-5845-B971-F6DFACEDB393}"/>
                    </a:ext>
                  </a:extLst>
                </p:cNvPr>
                <p:cNvSpPr/>
                <p:nvPr/>
              </p:nvSpPr>
              <p:spPr>
                <a:xfrm>
                  <a:off x="6134100" y="2152650"/>
                  <a:ext cx="123825" cy="12382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9" name="椭圆 138">
                  <a:extLst>
                    <a:ext uri="{FF2B5EF4-FFF2-40B4-BE49-F238E27FC236}">
                      <a16:creationId xmlns:a16="http://schemas.microsoft.com/office/drawing/2014/main" id="{05E8F780-56B7-DBA5-57E7-8564F2276476}"/>
                    </a:ext>
                  </a:extLst>
                </p:cNvPr>
                <p:cNvSpPr/>
                <p:nvPr/>
              </p:nvSpPr>
              <p:spPr>
                <a:xfrm>
                  <a:off x="10315575" y="1676400"/>
                  <a:ext cx="123825" cy="12382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0" name="椭圆 139">
                  <a:extLst>
                    <a:ext uri="{FF2B5EF4-FFF2-40B4-BE49-F238E27FC236}">
                      <a16:creationId xmlns:a16="http://schemas.microsoft.com/office/drawing/2014/main" id="{D9B8529E-9B98-C724-B5CB-C5725516095F}"/>
                    </a:ext>
                  </a:extLst>
                </p:cNvPr>
                <p:cNvSpPr/>
                <p:nvPr/>
              </p:nvSpPr>
              <p:spPr>
                <a:xfrm>
                  <a:off x="4124325" y="1676400"/>
                  <a:ext cx="123825" cy="12382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41" name="直接连接符 140">
                  <a:extLst>
                    <a:ext uri="{FF2B5EF4-FFF2-40B4-BE49-F238E27FC236}">
                      <a16:creationId xmlns:a16="http://schemas.microsoft.com/office/drawing/2014/main" id="{C4E8A180-3B4D-CFB8-6681-ACC7B5DA9C6D}"/>
                    </a:ext>
                  </a:extLst>
                </p:cNvPr>
                <p:cNvCxnSpPr>
                  <a:cxnSpLocks/>
                  <a:stCxn id="140" idx="6"/>
                  <a:endCxn id="129" idx="2"/>
                </p:cNvCxnSpPr>
                <p:nvPr/>
              </p:nvCxnSpPr>
              <p:spPr>
                <a:xfrm>
                  <a:off x="4248150" y="1738313"/>
                  <a:ext cx="14097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8" name="椭圆 127">
                <a:extLst>
                  <a:ext uri="{FF2B5EF4-FFF2-40B4-BE49-F238E27FC236}">
                    <a16:creationId xmlns:a16="http://schemas.microsoft.com/office/drawing/2014/main" id="{6FF0A5B1-EAE6-6221-E053-57D03E515540}"/>
                  </a:ext>
                </a:extLst>
              </p:cNvPr>
              <p:cNvSpPr/>
              <p:nvPr/>
            </p:nvSpPr>
            <p:spPr>
              <a:xfrm>
                <a:off x="4610099" y="2971800"/>
                <a:ext cx="123825" cy="123825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071A1BE7-6B84-C916-C5C9-AE6E736186A1}"/>
                  </a:ext>
                </a:extLst>
              </p:cNvPr>
              <p:cNvSpPr/>
              <p:nvPr/>
            </p:nvSpPr>
            <p:spPr>
              <a:xfrm>
                <a:off x="5657849" y="2557463"/>
                <a:ext cx="123825" cy="123825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AAAA45D5-C95A-D112-9DEC-D385DCBE9D1B}"/>
                  </a:ext>
                </a:extLst>
              </p:cNvPr>
              <p:cNvSpPr/>
              <p:nvPr/>
            </p:nvSpPr>
            <p:spPr>
              <a:xfrm>
                <a:off x="7543799" y="2580482"/>
                <a:ext cx="123825" cy="123825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C4774A72-2A5F-FC61-EF60-5250B615061D}"/>
                  </a:ext>
                </a:extLst>
              </p:cNvPr>
              <p:cNvSpPr/>
              <p:nvPr/>
            </p:nvSpPr>
            <p:spPr>
              <a:xfrm>
                <a:off x="9648824" y="2971800"/>
                <a:ext cx="123825" cy="123825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BD17F688-4EEF-96DF-9D3B-A708A1A6D217}"/>
                  </a:ext>
                </a:extLst>
              </p:cNvPr>
              <p:cNvCxnSpPr>
                <a:cxnSpLocks/>
                <a:stCxn id="140" idx="5"/>
                <a:endCxn id="128" idx="1"/>
              </p:cNvCxnSpPr>
              <p:nvPr/>
            </p:nvCxnSpPr>
            <p:spPr>
              <a:xfrm>
                <a:off x="4230015" y="2663154"/>
                <a:ext cx="398218" cy="3267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直接连接符 132">
                <a:extLst>
                  <a:ext uri="{FF2B5EF4-FFF2-40B4-BE49-F238E27FC236}">
                    <a16:creationId xmlns:a16="http://schemas.microsoft.com/office/drawing/2014/main" id="{DAE05310-7FBD-A2A2-3920-351458BD88B0}"/>
                  </a:ext>
                </a:extLst>
              </p:cNvPr>
              <p:cNvCxnSpPr>
                <a:cxnSpLocks/>
                <a:stCxn id="129" idx="5"/>
                <a:endCxn id="138" idx="0"/>
              </p:cNvCxnSpPr>
              <p:nvPr/>
            </p:nvCxnSpPr>
            <p:spPr>
              <a:xfrm>
                <a:off x="5763540" y="2663154"/>
                <a:ext cx="432472" cy="37055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>
                <a:extLst>
                  <a:ext uri="{FF2B5EF4-FFF2-40B4-BE49-F238E27FC236}">
                    <a16:creationId xmlns:a16="http://schemas.microsoft.com/office/drawing/2014/main" id="{C8ED9857-928E-A2BB-8B57-49FB6AAC9D0E}"/>
                  </a:ext>
                </a:extLst>
              </p:cNvPr>
              <p:cNvCxnSpPr>
                <a:cxnSpLocks/>
                <a:stCxn id="138" idx="7"/>
                <a:endCxn id="130" idx="2"/>
              </p:cNvCxnSpPr>
              <p:nvPr/>
            </p:nvCxnSpPr>
            <p:spPr>
              <a:xfrm flipV="1">
                <a:off x="6239790" y="2642395"/>
                <a:ext cx="1304009" cy="40945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连接符 134">
                <a:extLst>
                  <a:ext uri="{FF2B5EF4-FFF2-40B4-BE49-F238E27FC236}">
                    <a16:creationId xmlns:a16="http://schemas.microsoft.com/office/drawing/2014/main" id="{AD002ABF-DD51-6B8D-9808-AD4806A283ED}"/>
                  </a:ext>
                </a:extLst>
              </p:cNvPr>
              <p:cNvCxnSpPr>
                <a:cxnSpLocks/>
                <a:stCxn id="131" idx="7"/>
                <a:endCxn id="139" idx="4"/>
              </p:cNvCxnSpPr>
              <p:nvPr/>
            </p:nvCxnSpPr>
            <p:spPr>
              <a:xfrm flipV="1">
                <a:off x="9754515" y="2663154"/>
                <a:ext cx="579193" cy="3267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261EA41D-3730-A086-BE59-2F44BB0F4133}"/>
                  </a:ext>
                </a:extLst>
              </p:cNvPr>
              <p:cNvCxnSpPr>
                <a:cxnSpLocks/>
                <a:stCxn id="128" idx="7"/>
                <a:endCxn id="129" idx="3"/>
              </p:cNvCxnSpPr>
              <p:nvPr/>
            </p:nvCxnSpPr>
            <p:spPr>
              <a:xfrm flipV="1">
                <a:off x="4715790" y="2663154"/>
                <a:ext cx="960193" cy="3267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5C659A4A-5DFE-A1B7-108B-948CAA10510F}"/>
                </a:ext>
              </a:extLst>
            </p:cNvPr>
            <p:cNvCxnSpPr>
              <a:cxnSpLocks/>
              <a:stCxn id="130" idx="6"/>
              <a:endCxn id="131" idx="2"/>
            </p:cNvCxnSpPr>
            <p:nvPr/>
          </p:nvCxnSpPr>
          <p:spPr>
            <a:xfrm>
              <a:off x="6779865" y="3312641"/>
              <a:ext cx="1968990" cy="38890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D0779C51-E0BF-4530-F340-01360E20CFCF}"/>
                </a:ext>
              </a:extLst>
            </p:cNvPr>
            <p:cNvSpPr/>
            <p:nvPr/>
          </p:nvSpPr>
          <p:spPr>
            <a:xfrm>
              <a:off x="3081347" y="2954107"/>
              <a:ext cx="2558968" cy="1083098"/>
            </a:xfrm>
            <a:prstGeom prst="ellipse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56810C60-9DCE-E594-33A2-329DD4E00C1A}"/>
                </a:ext>
              </a:extLst>
            </p:cNvPr>
            <p:cNvSpPr/>
            <p:nvPr/>
          </p:nvSpPr>
          <p:spPr>
            <a:xfrm>
              <a:off x="6072303" y="3018989"/>
              <a:ext cx="1279484" cy="541549"/>
            </a:xfrm>
            <a:prstGeom prst="ellipse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CAEEB0B2-C9C7-3BAA-982B-30D03C531E9F}"/>
                </a:ext>
              </a:extLst>
            </p:cNvPr>
            <p:cNvSpPr/>
            <p:nvPr/>
          </p:nvSpPr>
          <p:spPr>
            <a:xfrm>
              <a:off x="8165560" y="3086239"/>
              <a:ext cx="1744501" cy="738370"/>
            </a:xfrm>
            <a:prstGeom prst="ellipse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4136D77D-3288-1E10-401B-2ED7FFB4BADD}"/>
              </a:ext>
            </a:extLst>
          </p:cNvPr>
          <p:cNvGrpSpPr/>
          <p:nvPr/>
        </p:nvGrpSpPr>
        <p:grpSpPr>
          <a:xfrm>
            <a:off x="6943558" y="5105936"/>
            <a:ext cx="3388793" cy="581982"/>
            <a:chOff x="3231018" y="2096157"/>
            <a:chExt cx="4928732" cy="846447"/>
          </a:xfrm>
        </p:grpSpPr>
        <p:sp>
          <p:nvSpPr>
            <p:cNvPr id="144" name="平行四边形 143">
              <a:extLst>
                <a:ext uri="{FF2B5EF4-FFF2-40B4-BE49-F238E27FC236}">
                  <a16:creationId xmlns:a16="http://schemas.microsoft.com/office/drawing/2014/main" id="{7BE3AA21-790A-9CD7-891A-5BA6FEC58220}"/>
                </a:ext>
              </a:extLst>
            </p:cNvPr>
            <p:cNvSpPr/>
            <p:nvPr/>
          </p:nvSpPr>
          <p:spPr>
            <a:xfrm>
              <a:off x="3231018" y="2154080"/>
              <a:ext cx="4909683" cy="730601"/>
            </a:xfrm>
            <a:prstGeom prst="parallelogram">
              <a:avLst>
                <a:gd name="adj" fmla="val 164639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任意多边形: 形状 144">
              <a:extLst>
                <a:ext uri="{FF2B5EF4-FFF2-40B4-BE49-F238E27FC236}">
                  <a16:creationId xmlns:a16="http://schemas.microsoft.com/office/drawing/2014/main" id="{54D9F1F7-0845-4FEE-D1E8-798873B14AA7}"/>
                </a:ext>
              </a:extLst>
            </p:cNvPr>
            <p:cNvSpPr/>
            <p:nvPr/>
          </p:nvSpPr>
          <p:spPr>
            <a:xfrm>
              <a:off x="5486400" y="2146300"/>
              <a:ext cx="2673350" cy="450850"/>
            </a:xfrm>
            <a:custGeom>
              <a:avLst/>
              <a:gdLst>
                <a:gd name="connsiteX0" fmla="*/ 0 w 2673350"/>
                <a:gd name="connsiteY0" fmla="*/ 387350 h 450850"/>
                <a:gd name="connsiteX1" fmla="*/ 412750 w 2673350"/>
                <a:gd name="connsiteY1" fmla="*/ 0 h 450850"/>
                <a:gd name="connsiteX2" fmla="*/ 2673350 w 2673350"/>
                <a:gd name="connsiteY2" fmla="*/ 0 h 450850"/>
                <a:gd name="connsiteX3" fmla="*/ 1917700 w 2673350"/>
                <a:gd name="connsiteY3" fmla="*/ 450850 h 450850"/>
                <a:gd name="connsiteX4" fmla="*/ 0 w 2673350"/>
                <a:gd name="connsiteY4" fmla="*/ 387350 h 450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3350" h="450850">
                  <a:moveTo>
                    <a:pt x="0" y="387350"/>
                  </a:moveTo>
                  <a:lnTo>
                    <a:pt x="412750" y="0"/>
                  </a:lnTo>
                  <a:lnTo>
                    <a:pt x="2673350" y="0"/>
                  </a:lnTo>
                  <a:lnTo>
                    <a:pt x="1917700" y="450850"/>
                  </a:lnTo>
                  <a:lnTo>
                    <a:pt x="0" y="38735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任意多边形: 形状 145">
              <a:extLst>
                <a:ext uri="{FF2B5EF4-FFF2-40B4-BE49-F238E27FC236}">
                  <a16:creationId xmlns:a16="http://schemas.microsoft.com/office/drawing/2014/main" id="{3D22298C-3641-6629-8521-D379BAF45317}"/>
                </a:ext>
              </a:extLst>
            </p:cNvPr>
            <p:cNvSpPr/>
            <p:nvPr/>
          </p:nvSpPr>
          <p:spPr>
            <a:xfrm>
              <a:off x="3232150" y="2146300"/>
              <a:ext cx="2660650" cy="736600"/>
            </a:xfrm>
            <a:custGeom>
              <a:avLst/>
              <a:gdLst>
                <a:gd name="connsiteX0" fmla="*/ 2660650 w 2660650"/>
                <a:gd name="connsiteY0" fmla="*/ 0 h 736600"/>
                <a:gd name="connsiteX1" fmla="*/ 1206500 w 2660650"/>
                <a:gd name="connsiteY1" fmla="*/ 6350 h 736600"/>
                <a:gd name="connsiteX2" fmla="*/ 0 w 2660650"/>
                <a:gd name="connsiteY2" fmla="*/ 736600 h 736600"/>
                <a:gd name="connsiteX3" fmla="*/ 603250 w 2660650"/>
                <a:gd name="connsiteY3" fmla="*/ 736600 h 736600"/>
                <a:gd name="connsiteX4" fmla="*/ 2241550 w 2660650"/>
                <a:gd name="connsiteY4" fmla="*/ 400050 h 736600"/>
                <a:gd name="connsiteX5" fmla="*/ 2660650 w 2660650"/>
                <a:gd name="connsiteY5" fmla="*/ 0 h 736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60650" h="736600">
                  <a:moveTo>
                    <a:pt x="2660650" y="0"/>
                  </a:moveTo>
                  <a:lnTo>
                    <a:pt x="1206500" y="6350"/>
                  </a:lnTo>
                  <a:lnTo>
                    <a:pt x="0" y="736600"/>
                  </a:lnTo>
                  <a:lnTo>
                    <a:pt x="603250" y="736600"/>
                  </a:lnTo>
                  <a:lnTo>
                    <a:pt x="2241550" y="400050"/>
                  </a:lnTo>
                  <a:lnTo>
                    <a:pt x="2660650" y="0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任意多边形: 形状 146">
              <a:extLst>
                <a:ext uri="{FF2B5EF4-FFF2-40B4-BE49-F238E27FC236}">
                  <a16:creationId xmlns:a16="http://schemas.microsoft.com/office/drawing/2014/main" id="{46DAFA4C-0367-F7F5-9F1E-4D111D3221E8}"/>
                </a:ext>
              </a:extLst>
            </p:cNvPr>
            <p:cNvSpPr/>
            <p:nvPr/>
          </p:nvSpPr>
          <p:spPr>
            <a:xfrm>
              <a:off x="3848100" y="2540000"/>
              <a:ext cx="3549650" cy="342900"/>
            </a:xfrm>
            <a:custGeom>
              <a:avLst/>
              <a:gdLst>
                <a:gd name="connsiteX0" fmla="*/ 1631950 w 3549650"/>
                <a:gd name="connsiteY0" fmla="*/ 0 h 342900"/>
                <a:gd name="connsiteX1" fmla="*/ 3549650 w 3549650"/>
                <a:gd name="connsiteY1" fmla="*/ 63500 h 342900"/>
                <a:gd name="connsiteX2" fmla="*/ 3105150 w 3549650"/>
                <a:gd name="connsiteY2" fmla="*/ 342900 h 342900"/>
                <a:gd name="connsiteX3" fmla="*/ 0 w 3549650"/>
                <a:gd name="connsiteY3" fmla="*/ 342900 h 342900"/>
                <a:gd name="connsiteX4" fmla="*/ 1631950 w 3549650"/>
                <a:gd name="connsiteY4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9650" h="342900">
                  <a:moveTo>
                    <a:pt x="1631950" y="0"/>
                  </a:moveTo>
                  <a:lnTo>
                    <a:pt x="3549650" y="63500"/>
                  </a:lnTo>
                  <a:lnTo>
                    <a:pt x="3105150" y="342900"/>
                  </a:lnTo>
                  <a:lnTo>
                    <a:pt x="0" y="342900"/>
                  </a:lnTo>
                  <a:lnTo>
                    <a:pt x="1631950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0E1CEB1C-397F-2D95-93ED-CAC01B33F8E4}"/>
                </a:ext>
              </a:extLst>
            </p:cNvPr>
            <p:cNvSpPr/>
            <p:nvPr/>
          </p:nvSpPr>
          <p:spPr>
            <a:xfrm>
              <a:off x="4711335" y="2174156"/>
              <a:ext cx="121767" cy="12176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id="{AC07FA3D-77ED-0D3F-E4BA-11B2EF3EE8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2700" y="2546149"/>
              <a:ext cx="1646358" cy="338530"/>
            </a:xfrm>
            <a:prstGeom prst="line">
              <a:avLst/>
            </a:prstGeom>
            <a:ln w="127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连接符 149">
              <a:extLst>
                <a:ext uri="{FF2B5EF4-FFF2-40B4-BE49-F238E27FC236}">
                  <a16:creationId xmlns:a16="http://schemas.microsoft.com/office/drawing/2014/main" id="{01940645-A5EA-F166-8B1B-93F8600BD5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9059" y="2154080"/>
              <a:ext cx="428322" cy="392069"/>
            </a:xfrm>
            <a:prstGeom prst="line">
              <a:avLst/>
            </a:prstGeom>
            <a:ln w="127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连接符 150">
              <a:extLst>
                <a:ext uri="{FF2B5EF4-FFF2-40B4-BE49-F238E27FC236}">
                  <a16:creationId xmlns:a16="http://schemas.microsoft.com/office/drawing/2014/main" id="{1B6F56A4-FB96-2F73-118D-8D2789530956}"/>
                </a:ext>
              </a:extLst>
            </p:cNvPr>
            <p:cNvCxnSpPr>
              <a:cxnSpLocks/>
            </p:cNvCxnSpPr>
            <p:nvPr/>
          </p:nvCxnSpPr>
          <p:spPr>
            <a:xfrm>
              <a:off x="5469059" y="2546149"/>
              <a:ext cx="1915991" cy="56707"/>
            </a:xfrm>
            <a:prstGeom prst="line">
              <a:avLst/>
            </a:prstGeom>
            <a:ln w="127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15F76C53-E82A-0DA7-BD11-9E9BB2E032CF}"/>
                </a:ext>
              </a:extLst>
            </p:cNvPr>
            <p:cNvSpPr/>
            <p:nvPr/>
          </p:nvSpPr>
          <p:spPr>
            <a:xfrm>
              <a:off x="5812880" y="2287142"/>
              <a:ext cx="121767" cy="12176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D9E4B5F6-A536-2A88-890A-1358E320DDCF}"/>
                </a:ext>
              </a:extLst>
            </p:cNvPr>
            <p:cNvSpPr/>
            <p:nvPr/>
          </p:nvSpPr>
          <p:spPr>
            <a:xfrm>
              <a:off x="5183016" y="2720419"/>
              <a:ext cx="121767" cy="12176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1338666D-9AC1-1281-2FEA-646DF4474690}"/>
                </a:ext>
              </a:extLst>
            </p:cNvPr>
            <p:cNvSpPr/>
            <p:nvPr/>
          </p:nvSpPr>
          <p:spPr>
            <a:xfrm>
              <a:off x="6188283" y="2733155"/>
              <a:ext cx="121767" cy="12176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id="{4AE47D4C-25E9-282D-4CF2-DDB3567F7AC4}"/>
                </a:ext>
              </a:extLst>
            </p:cNvPr>
            <p:cNvSpPr/>
            <p:nvPr/>
          </p:nvSpPr>
          <p:spPr>
            <a:xfrm>
              <a:off x="6545613" y="2397611"/>
              <a:ext cx="121767" cy="12176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椭圆 155">
              <a:extLst>
                <a:ext uri="{FF2B5EF4-FFF2-40B4-BE49-F238E27FC236}">
                  <a16:creationId xmlns:a16="http://schemas.microsoft.com/office/drawing/2014/main" id="{8FA4051C-ED38-43A3-577D-A44FD9E8194C}"/>
                </a:ext>
              </a:extLst>
            </p:cNvPr>
            <p:cNvSpPr/>
            <p:nvPr/>
          </p:nvSpPr>
          <p:spPr>
            <a:xfrm>
              <a:off x="4359576" y="2558491"/>
              <a:ext cx="121767" cy="12176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B1573B3F-D0A6-F02B-38F1-C4245032DC99}"/>
                </a:ext>
              </a:extLst>
            </p:cNvPr>
            <p:cNvSpPr/>
            <p:nvPr/>
          </p:nvSpPr>
          <p:spPr>
            <a:xfrm>
              <a:off x="6810212" y="2207239"/>
              <a:ext cx="121767" cy="12176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8" name="直接连接符 157">
              <a:extLst>
                <a:ext uri="{FF2B5EF4-FFF2-40B4-BE49-F238E27FC236}">
                  <a16:creationId xmlns:a16="http://schemas.microsoft.com/office/drawing/2014/main" id="{71B8ACA7-E6CF-731D-043C-0CD52971AF7D}"/>
                </a:ext>
              </a:extLst>
            </p:cNvPr>
            <p:cNvCxnSpPr>
              <a:stCxn id="148" idx="6"/>
              <a:endCxn id="152" idx="2"/>
            </p:cNvCxnSpPr>
            <p:nvPr/>
          </p:nvCxnSpPr>
          <p:spPr>
            <a:xfrm>
              <a:off x="4833101" y="2235040"/>
              <a:ext cx="979778" cy="112987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连接符 158">
              <a:extLst>
                <a:ext uri="{FF2B5EF4-FFF2-40B4-BE49-F238E27FC236}">
                  <a16:creationId xmlns:a16="http://schemas.microsoft.com/office/drawing/2014/main" id="{FC74D7B0-52AA-2CDD-1767-E8FFD1C2A078}"/>
                </a:ext>
              </a:extLst>
            </p:cNvPr>
            <p:cNvCxnSpPr>
              <a:stCxn id="152" idx="3"/>
              <a:endCxn id="153" idx="7"/>
            </p:cNvCxnSpPr>
            <p:nvPr/>
          </p:nvCxnSpPr>
          <p:spPr>
            <a:xfrm flipH="1">
              <a:off x="5286950" y="2391078"/>
              <a:ext cx="543761" cy="347173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连接符 159">
              <a:extLst>
                <a:ext uri="{FF2B5EF4-FFF2-40B4-BE49-F238E27FC236}">
                  <a16:creationId xmlns:a16="http://schemas.microsoft.com/office/drawing/2014/main" id="{F2F793B4-68AE-0782-25D0-7295356B0494}"/>
                </a:ext>
              </a:extLst>
            </p:cNvPr>
            <p:cNvCxnSpPr>
              <a:stCxn id="152" idx="6"/>
              <a:endCxn id="155" idx="2"/>
            </p:cNvCxnSpPr>
            <p:nvPr/>
          </p:nvCxnSpPr>
          <p:spPr>
            <a:xfrm>
              <a:off x="5934646" y="2348027"/>
              <a:ext cx="610966" cy="110469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A2B08549-05D1-8A24-48F0-DBFE1D246965}"/>
                </a:ext>
              </a:extLst>
            </p:cNvPr>
            <p:cNvCxnSpPr>
              <a:stCxn id="155" idx="7"/>
              <a:endCxn id="157" idx="3"/>
            </p:cNvCxnSpPr>
            <p:nvPr/>
          </p:nvCxnSpPr>
          <p:spPr>
            <a:xfrm flipV="1">
              <a:off x="6649547" y="2311174"/>
              <a:ext cx="178496" cy="10427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A6211248-84CC-07CF-ECB4-3070E1B5D948}"/>
                </a:ext>
              </a:extLst>
            </p:cNvPr>
            <p:cNvSpPr txBox="1"/>
            <p:nvPr/>
          </p:nvSpPr>
          <p:spPr>
            <a:xfrm>
              <a:off x="6531875" y="2573272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S1</a:t>
              </a:r>
              <a:endParaRPr lang="zh-CN" altLang="en-US" dirty="0"/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F1DA4F78-EE51-F63C-E8B3-7814BEC8BF65}"/>
                </a:ext>
              </a:extLst>
            </p:cNvPr>
            <p:cNvSpPr txBox="1"/>
            <p:nvPr/>
          </p:nvSpPr>
          <p:spPr>
            <a:xfrm>
              <a:off x="4202681" y="2196164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S0</a:t>
              </a:r>
              <a:endParaRPr lang="zh-CN" altLang="en-US" dirty="0"/>
            </a:p>
          </p:txBody>
        </p: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id="{A86C6B79-CE21-E2D0-7338-96E8FC6E21CF}"/>
                </a:ext>
              </a:extLst>
            </p:cNvPr>
            <p:cNvSpPr txBox="1"/>
            <p:nvPr/>
          </p:nvSpPr>
          <p:spPr>
            <a:xfrm>
              <a:off x="7382280" y="2096157"/>
              <a:ext cx="428323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S2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0588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3C7108-7B56-DAD8-AC9F-A00DC7AAC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/>
              <a:t>拓扑感知数据分区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DBED9-81C9-C0D5-9398-40FC9EAC9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840" y="1514652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2800" b="0" dirty="0">
                <a:latin typeface="+mn-ea"/>
              </a:rPr>
              <a:t>以往的</a:t>
            </a:r>
            <a:r>
              <a:rPr lang="zh-CN" altLang="en-US" sz="2800" dirty="0">
                <a:solidFill>
                  <a:srgbClr val="C00000"/>
                </a:solidFill>
                <a:latin typeface="+mn-ea"/>
              </a:rPr>
              <a:t>划分与查询之间存在错配</a:t>
            </a:r>
            <a:r>
              <a:rPr lang="en-US" altLang="zh-CN" sz="2800" dirty="0">
                <a:latin typeface="+mn-ea"/>
              </a:rPr>
              <a:t>,</a:t>
            </a:r>
            <a:r>
              <a:rPr lang="en-US" altLang="zh-CN" sz="2800" b="0" dirty="0">
                <a:latin typeface="+mn-ea"/>
              </a:rPr>
              <a:t>Orion</a:t>
            </a:r>
            <a:r>
              <a:rPr lang="zh-CN" altLang="en-US" sz="2800" b="0" dirty="0">
                <a:latin typeface="+mn-ea"/>
              </a:rPr>
              <a:t>通过模拟路由来确定划分</a:t>
            </a:r>
            <a:endParaRPr lang="en-US" altLang="zh-CN" sz="2800" b="0" dirty="0">
              <a:latin typeface="+mn-ea"/>
            </a:endParaRPr>
          </a:p>
          <a:p>
            <a:pPr lvl="1"/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HNSW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的搜索从上到下，下层搜索范围收敛于上层结果附近</a:t>
            </a:r>
          </a:p>
          <a:p>
            <a:pPr lvl="1"/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根据进入底层的入口点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tag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，划分到对应的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Shard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上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lvl="1"/>
            <a:r>
              <a:rPr lang="zh-CN" altLang="en-US" b="0" dirty="0"/>
              <a:t>支撑更细粒度更精准的</a:t>
            </a:r>
            <a:r>
              <a:rPr lang="zh-CN" altLang="en-US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多分配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6FA03D-FC8E-0688-1230-49B41A0B3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3114-2061-4842-97A6-B5DACC79B906}" type="datetime1">
              <a:rPr lang="zh-CN" altLang="en-US" smtClean="0"/>
              <a:t>2026/7/13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079B4B3-6A27-60D1-EE60-F0330E7F337A}"/>
              </a:ext>
            </a:extLst>
          </p:cNvPr>
          <p:cNvGrpSpPr/>
          <p:nvPr/>
        </p:nvGrpSpPr>
        <p:grpSpPr>
          <a:xfrm>
            <a:off x="1256115" y="3491515"/>
            <a:ext cx="9679769" cy="1950435"/>
            <a:chOff x="1410464" y="3283658"/>
            <a:chExt cx="9679769" cy="1950435"/>
          </a:xfrm>
        </p:grpSpPr>
        <p:sp>
          <p:nvSpPr>
            <p:cNvPr id="6" name="箭头: 下 5">
              <a:extLst>
                <a:ext uri="{FF2B5EF4-FFF2-40B4-BE49-F238E27FC236}">
                  <a16:creationId xmlns:a16="http://schemas.microsoft.com/office/drawing/2014/main" id="{2D26D414-E2F6-CF5B-9A40-BDD3BA9BB81D}"/>
                </a:ext>
              </a:extLst>
            </p:cNvPr>
            <p:cNvSpPr/>
            <p:nvPr/>
          </p:nvSpPr>
          <p:spPr>
            <a:xfrm>
              <a:off x="1410464" y="4142761"/>
              <a:ext cx="212263" cy="428531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星形: 五角 6">
              <a:extLst>
                <a:ext uri="{FF2B5EF4-FFF2-40B4-BE49-F238E27FC236}">
                  <a16:creationId xmlns:a16="http://schemas.microsoft.com/office/drawing/2014/main" id="{72167E97-904A-FE1B-8846-A5AA8E368339}"/>
                </a:ext>
              </a:extLst>
            </p:cNvPr>
            <p:cNvSpPr/>
            <p:nvPr/>
          </p:nvSpPr>
          <p:spPr>
            <a:xfrm>
              <a:off x="1454684" y="3955796"/>
              <a:ext cx="123825" cy="123825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3C8897F-129F-2251-4DDC-9D979BCA0548}"/>
                </a:ext>
              </a:extLst>
            </p:cNvPr>
            <p:cNvGrpSpPr/>
            <p:nvPr/>
          </p:nvGrpSpPr>
          <p:grpSpPr>
            <a:xfrm>
              <a:off x="2060531" y="4367419"/>
              <a:ext cx="9029701" cy="742950"/>
              <a:chOff x="2295524" y="1600200"/>
              <a:chExt cx="9029701" cy="742950"/>
            </a:xfrm>
          </p:grpSpPr>
          <p:sp>
            <p:nvSpPr>
              <p:cNvPr id="76" name="平行四边形 75">
                <a:extLst>
                  <a:ext uri="{FF2B5EF4-FFF2-40B4-BE49-F238E27FC236}">
                    <a16:creationId xmlns:a16="http://schemas.microsoft.com/office/drawing/2014/main" id="{C5A76734-EECC-34F4-E82D-124DC0547B2B}"/>
                  </a:ext>
                </a:extLst>
              </p:cNvPr>
              <p:cNvSpPr/>
              <p:nvPr/>
            </p:nvSpPr>
            <p:spPr>
              <a:xfrm>
                <a:off x="2295524" y="1600200"/>
                <a:ext cx="9029701" cy="742950"/>
              </a:xfrm>
              <a:prstGeom prst="parallelogram">
                <a:avLst>
                  <a:gd name="adj" fmla="val 24807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25A6F33E-8292-EEEB-F1DC-A909C9638889}"/>
                  </a:ext>
                </a:extLst>
              </p:cNvPr>
              <p:cNvSpPr/>
              <p:nvPr/>
            </p:nvSpPr>
            <p:spPr>
              <a:xfrm>
                <a:off x="6134100" y="2152650"/>
                <a:ext cx="123825" cy="123825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47637D04-4E1D-A435-2FAA-EA4775B25F55}"/>
                  </a:ext>
                </a:extLst>
              </p:cNvPr>
              <p:cNvSpPr/>
              <p:nvPr/>
            </p:nvSpPr>
            <p:spPr>
              <a:xfrm>
                <a:off x="10315575" y="1676400"/>
                <a:ext cx="123825" cy="123825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B070C47E-3602-CD2C-E408-C8566F8C99F9}"/>
                  </a:ext>
                </a:extLst>
              </p:cNvPr>
              <p:cNvSpPr/>
              <p:nvPr/>
            </p:nvSpPr>
            <p:spPr>
              <a:xfrm>
                <a:off x="4124325" y="1676400"/>
                <a:ext cx="123825" cy="123825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C02028EE-F5C8-B2D3-3CDC-8A2D2BA92845}"/>
                </a:ext>
              </a:extLst>
            </p:cNvPr>
            <p:cNvSpPr/>
            <p:nvPr/>
          </p:nvSpPr>
          <p:spPr>
            <a:xfrm>
              <a:off x="6538510" y="4285403"/>
              <a:ext cx="1584569" cy="778758"/>
            </a:xfrm>
            <a:prstGeom prst="ellipse">
              <a:avLst/>
            </a:prstGeom>
            <a:solidFill>
              <a:srgbClr val="FBE5D6">
                <a:alpha val="4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EBEB23A-20AA-9980-2E15-90866B9306A0}"/>
                </a:ext>
              </a:extLst>
            </p:cNvPr>
            <p:cNvSpPr/>
            <p:nvPr/>
          </p:nvSpPr>
          <p:spPr>
            <a:xfrm>
              <a:off x="4375107" y="4857956"/>
              <a:ext cx="123825" cy="12382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38206B1E-0265-DAFE-E096-F1BF0DD64382}"/>
                </a:ext>
              </a:extLst>
            </p:cNvPr>
            <p:cNvSpPr/>
            <p:nvPr/>
          </p:nvSpPr>
          <p:spPr>
            <a:xfrm>
              <a:off x="5422857" y="4443619"/>
              <a:ext cx="123825" cy="12382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4A5ED809-5ADE-3809-6132-C73A869A4295}"/>
                </a:ext>
              </a:extLst>
            </p:cNvPr>
            <p:cNvSpPr/>
            <p:nvPr/>
          </p:nvSpPr>
          <p:spPr>
            <a:xfrm>
              <a:off x="7308807" y="4466638"/>
              <a:ext cx="123825" cy="12382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94043046-EA9B-E5CA-AA3C-B4236F95EA9F}"/>
                </a:ext>
              </a:extLst>
            </p:cNvPr>
            <p:cNvSpPr/>
            <p:nvPr/>
          </p:nvSpPr>
          <p:spPr>
            <a:xfrm>
              <a:off x="9413832" y="4857956"/>
              <a:ext cx="123825" cy="123825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A4CC5F52-3E07-1900-6604-04866CDF5735}"/>
                </a:ext>
              </a:extLst>
            </p:cNvPr>
            <p:cNvGrpSpPr/>
            <p:nvPr/>
          </p:nvGrpSpPr>
          <p:grpSpPr>
            <a:xfrm>
              <a:off x="2060532" y="3488189"/>
              <a:ext cx="9029701" cy="742950"/>
              <a:chOff x="2295523" y="2481263"/>
              <a:chExt cx="9029701" cy="742950"/>
            </a:xfrm>
          </p:grpSpPr>
          <p:grpSp>
            <p:nvGrpSpPr>
              <p:cNvPr id="61" name="组合 60">
                <a:extLst>
                  <a:ext uri="{FF2B5EF4-FFF2-40B4-BE49-F238E27FC236}">
                    <a16:creationId xmlns:a16="http://schemas.microsoft.com/office/drawing/2014/main" id="{458D765C-CADE-9A20-5A03-E4E01266B4D9}"/>
                  </a:ext>
                </a:extLst>
              </p:cNvPr>
              <p:cNvGrpSpPr/>
              <p:nvPr/>
            </p:nvGrpSpPr>
            <p:grpSpPr>
              <a:xfrm>
                <a:off x="2295523" y="2481263"/>
                <a:ext cx="9029701" cy="742950"/>
                <a:chOff x="2295524" y="1600200"/>
                <a:chExt cx="9029701" cy="742950"/>
              </a:xfrm>
            </p:grpSpPr>
            <p:sp>
              <p:nvSpPr>
                <p:cNvPr id="71" name="平行四边形 70">
                  <a:extLst>
                    <a:ext uri="{FF2B5EF4-FFF2-40B4-BE49-F238E27FC236}">
                      <a16:creationId xmlns:a16="http://schemas.microsoft.com/office/drawing/2014/main" id="{EFFCB1FE-2045-3404-AD3C-20ACA3B1B9E4}"/>
                    </a:ext>
                  </a:extLst>
                </p:cNvPr>
                <p:cNvSpPr/>
                <p:nvPr/>
              </p:nvSpPr>
              <p:spPr>
                <a:xfrm>
                  <a:off x="2295524" y="1600200"/>
                  <a:ext cx="9029701" cy="742950"/>
                </a:xfrm>
                <a:prstGeom prst="parallelogram">
                  <a:avLst>
                    <a:gd name="adj" fmla="val 248077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 71">
                  <a:extLst>
                    <a:ext uri="{FF2B5EF4-FFF2-40B4-BE49-F238E27FC236}">
                      <a16:creationId xmlns:a16="http://schemas.microsoft.com/office/drawing/2014/main" id="{D604B4F1-5129-7F3A-12F1-DD1860A76C5C}"/>
                    </a:ext>
                  </a:extLst>
                </p:cNvPr>
                <p:cNvSpPr/>
                <p:nvPr/>
              </p:nvSpPr>
              <p:spPr>
                <a:xfrm>
                  <a:off x="6134100" y="2152650"/>
                  <a:ext cx="123825" cy="12382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椭圆 72">
                  <a:extLst>
                    <a:ext uri="{FF2B5EF4-FFF2-40B4-BE49-F238E27FC236}">
                      <a16:creationId xmlns:a16="http://schemas.microsoft.com/office/drawing/2014/main" id="{2E7CACC4-62F5-45BA-67B0-63AAF9655E43}"/>
                    </a:ext>
                  </a:extLst>
                </p:cNvPr>
                <p:cNvSpPr/>
                <p:nvPr/>
              </p:nvSpPr>
              <p:spPr>
                <a:xfrm>
                  <a:off x="10315575" y="1676400"/>
                  <a:ext cx="123825" cy="12382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>
                  <a:extLst>
                    <a:ext uri="{FF2B5EF4-FFF2-40B4-BE49-F238E27FC236}">
                      <a16:creationId xmlns:a16="http://schemas.microsoft.com/office/drawing/2014/main" id="{05C90729-A150-ADCA-C5B8-A437A65100A3}"/>
                    </a:ext>
                  </a:extLst>
                </p:cNvPr>
                <p:cNvSpPr/>
                <p:nvPr/>
              </p:nvSpPr>
              <p:spPr>
                <a:xfrm>
                  <a:off x="4124325" y="1676400"/>
                  <a:ext cx="123825" cy="12382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5" name="直接连接符 74">
                  <a:extLst>
                    <a:ext uri="{FF2B5EF4-FFF2-40B4-BE49-F238E27FC236}">
                      <a16:creationId xmlns:a16="http://schemas.microsoft.com/office/drawing/2014/main" id="{0F736358-8377-B827-02B2-C52EA35FC70F}"/>
                    </a:ext>
                  </a:extLst>
                </p:cNvPr>
                <p:cNvCxnSpPr>
                  <a:cxnSpLocks/>
                  <a:stCxn id="74" idx="6"/>
                  <a:endCxn id="63" idx="2"/>
                </p:cNvCxnSpPr>
                <p:nvPr/>
              </p:nvCxnSpPr>
              <p:spPr>
                <a:xfrm>
                  <a:off x="4248150" y="1738313"/>
                  <a:ext cx="14097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E8065AAD-C75E-CAEE-2AF7-75A06B884DA9}"/>
                  </a:ext>
                </a:extLst>
              </p:cNvPr>
              <p:cNvSpPr/>
              <p:nvPr/>
            </p:nvSpPr>
            <p:spPr>
              <a:xfrm>
                <a:off x="4610099" y="2971800"/>
                <a:ext cx="123825" cy="123825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A0C86994-3A08-4575-BDDD-177ABDD63614}"/>
                  </a:ext>
                </a:extLst>
              </p:cNvPr>
              <p:cNvSpPr/>
              <p:nvPr/>
            </p:nvSpPr>
            <p:spPr>
              <a:xfrm>
                <a:off x="5657849" y="2557463"/>
                <a:ext cx="123825" cy="123825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0B4DD522-FBD7-50F0-7806-ED68BA3928FC}"/>
                  </a:ext>
                </a:extLst>
              </p:cNvPr>
              <p:cNvSpPr/>
              <p:nvPr/>
            </p:nvSpPr>
            <p:spPr>
              <a:xfrm>
                <a:off x="7543799" y="2580482"/>
                <a:ext cx="123825" cy="123825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B07D5ED9-C254-33E3-04E3-2015B4795A75}"/>
                  </a:ext>
                </a:extLst>
              </p:cNvPr>
              <p:cNvSpPr/>
              <p:nvPr/>
            </p:nvSpPr>
            <p:spPr>
              <a:xfrm>
                <a:off x="9648824" y="2971800"/>
                <a:ext cx="123825" cy="123825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95DC17B7-14C1-60EF-0938-2D4193B7A4A0}"/>
                  </a:ext>
                </a:extLst>
              </p:cNvPr>
              <p:cNvCxnSpPr>
                <a:cxnSpLocks/>
                <a:stCxn id="74" idx="5"/>
                <a:endCxn id="62" idx="1"/>
              </p:cNvCxnSpPr>
              <p:nvPr/>
            </p:nvCxnSpPr>
            <p:spPr>
              <a:xfrm>
                <a:off x="4230015" y="2663154"/>
                <a:ext cx="398218" cy="3267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DE2F2B8E-25D7-D706-7C4C-7C1535A08058}"/>
                  </a:ext>
                </a:extLst>
              </p:cNvPr>
              <p:cNvCxnSpPr>
                <a:cxnSpLocks/>
                <a:stCxn id="63" idx="5"/>
                <a:endCxn id="72" idx="0"/>
              </p:cNvCxnSpPr>
              <p:nvPr/>
            </p:nvCxnSpPr>
            <p:spPr>
              <a:xfrm>
                <a:off x="5763540" y="2663154"/>
                <a:ext cx="432472" cy="37055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93F2363D-B401-70CC-5E23-12F8A11650B2}"/>
                  </a:ext>
                </a:extLst>
              </p:cNvPr>
              <p:cNvCxnSpPr>
                <a:cxnSpLocks/>
                <a:stCxn id="72" idx="7"/>
                <a:endCxn id="64" idx="2"/>
              </p:cNvCxnSpPr>
              <p:nvPr/>
            </p:nvCxnSpPr>
            <p:spPr>
              <a:xfrm flipV="1">
                <a:off x="6239790" y="2642395"/>
                <a:ext cx="1304009" cy="409452"/>
              </a:xfrm>
              <a:prstGeom prst="line">
                <a:avLst/>
              </a:prstGeom>
              <a:ln w="19050">
                <a:solidFill>
                  <a:srgbClr val="7030A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接连接符 68">
                <a:extLst>
                  <a:ext uri="{FF2B5EF4-FFF2-40B4-BE49-F238E27FC236}">
                    <a16:creationId xmlns:a16="http://schemas.microsoft.com/office/drawing/2014/main" id="{89ED85A9-113C-B316-C846-98977BE93081}"/>
                  </a:ext>
                </a:extLst>
              </p:cNvPr>
              <p:cNvCxnSpPr>
                <a:cxnSpLocks/>
                <a:stCxn id="65" idx="7"/>
                <a:endCxn id="73" idx="4"/>
              </p:cNvCxnSpPr>
              <p:nvPr/>
            </p:nvCxnSpPr>
            <p:spPr>
              <a:xfrm flipV="1">
                <a:off x="9754515" y="2663154"/>
                <a:ext cx="579193" cy="3267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EA3278E7-C23A-D865-4D31-0348AD65DAC6}"/>
                  </a:ext>
                </a:extLst>
              </p:cNvPr>
              <p:cNvCxnSpPr>
                <a:cxnSpLocks/>
                <a:stCxn id="62" idx="7"/>
                <a:endCxn id="63" idx="3"/>
              </p:cNvCxnSpPr>
              <p:nvPr/>
            </p:nvCxnSpPr>
            <p:spPr>
              <a:xfrm flipV="1">
                <a:off x="4715790" y="2663154"/>
                <a:ext cx="960193" cy="3267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DDBC435-C012-5018-BE33-35DD1594D672}"/>
                </a:ext>
              </a:extLst>
            </p:cNvPr>
            <p:cNvCxnSpPr>
              <a:cxnSpLocks/>
              <a:stCxn id="64" idx="6"/>
            </p:cNvCxnSpPr>
            <p:nvPr/>
          </p:nvCxnSpPr>
          <p:spPr>
            <a:xfrm>
              <a:off x="7432633" y="3649321"/>
              <a:ext cx="1981199" cy="3913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0387F576-5BBF-4B22-366C-57B6CC815013}"/>
                </a:ext>
              </a:extLst>
            </p:cNvPr>
            <p:cNvSpPr/>
            <p:nvPr/>
          </p:nvSpPr>
          <p:spPr>
            <a:xfrm>
              <a:off x="6592973" y="4516399"/>
              <a:ext cx="123825" cy="12382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A473056F-8FC1-2CC8-431E-D0DE1F2D69E9}"/>
                </a:ext>
              </a:extLst>
            </p:cNvPr>
            <p:cNvSpPr/>
            <p:nvPr/>
          </p:nvSpPr>
          <p:spPr>
            <a:xfrm>
              <a:off x="7256777" y="4903749"/>
              <a:ext cx="123825" cy="12382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0C7D81A-8D71-5FD4-809F-E9AF7B513EB6}"/>
                </a:ext>
              </a:extLst>
            </p:cNvPr>
            <p:cNvSpPr/>
            <p:nvPr/>
          </p:nvSpPr>
          <p:spPr>
            <a:xfrm>
              <a:off x="7742194" y="4590463"/>
              <a:ext cx="123825" cy="12382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A9AA705-9E2B-2550-E1AF-AE9B30CACA90}"/>
                </a:ext>
              </a:extLst>
            </p:cNvPr>
            <p:cNvSpPr/>
            <p:nvPr/>
          </p:nvSpPr>
          <p:spPr>
            <a:xfrm>
              <a:off x="3284496" y="4764294"/>
              <a:ext cx="123825" cy="12382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88606F8E-C35E-37F1-616E-FE8080B9C4D5}"/>
                </a:ext>
              </a:extLst>
            </p:cNvPr>
            <p:cNvSpPr/>
            <p:nvPr/>
          </p:nvSpPr>
          <p:spPr>
            <a:xfrm>
              <a:off x="4856120" y="4590463"/>
              <a:ext cx="123825" cy="12382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2229FEEF-A419-7A8D-4DA8-F76B4E310E7D}"/>
                </a:ext>
              </a:extLst>
            </p:cNvPr>
            <p:cNvSpPr/>
            <p:nvPr/>
          </p:nvSpPr>
          <p:spPr>
            <a:xfrm>
              <a:off x="8718507" y="4425667"/>
              <a:ext cx="123825" cy="12382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7CB7C7CC-3D40-F2AB-630D-6BFBD96C1E37}"/>
                </a:ext>
              </a:extLst>
            </p:cNvPr>
            <p:cNvSpPr/>
            <p:nvPr/>
          </p:nvSpPr>
          <p:spPr>
            <a:xfrm>
              <a:off x="8780419" y="4734131"/>
              <a:ext cx="123825" cy="12382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FB9F4DEC-D670-85D2-0207-A3EE5477B984}"/>
                </a:ext>
              </a:extLst>
            </p:cNvPr>
            <p:cNvSpPr/>
            <p:nvPr/>
          </p:nvSpPr>
          <p:spPr>
            <a:xfrm>
              <a:off x="5319546" y="4857956"/>
              <a:ext cx="123825" cy="12382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3A3B2D2B-9CB3-B612-73CB-4487525683F9}"/>
                </a:ext>
              </a:extLst>
            </p:cNvPr>
            <p:cNvCxnSpPr>
              <a:stCxn id="19" idx="7"/>
            </p:cNvCxnSpPr>
            <p:nvPr/>
          </p:nvCxnSpPr>
          <p:spPr>
            <a:xfrm flipV="1">
              <a:off x="3390187" y="4528550"/>
              <a:ext cx="499145" cy="25387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C6B6DC68-5B90-DAFA-48FF-E0A32BDDC0FD}"/>
                </a:ext>
              </a:extLst>
            </p:cNvPr>
            <p:cNvCxnSpPr>
              <a:stCxn id="10" idx="7"/>
              <a:endCxn id="20" idx="2"/>
            </p:cNvCxnSpPr>
            <p:nvPr/>
          </p:nvCxnSpPr>
          <p:spPr>
            <a:xfrm flipV="1">
              <a:off x="4480798" y="4652376"/>
              <a:ext cx="375322" cy="22371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7117F3DF-3D8A-52C9-5857-5E446838AD1A}"/>
                </a:ext>
              </a:extLst>
            </p:cNvPr>
            <p:cNvCxnSpPr>
              <a:stCxn id="79" idx="5"/>
              <a:endCxn id="10" idx="1"/>
            </p:cNvCxnSpPr>
            <p:nvPr/>
          </p:nvCxnSpPr>
          <p:spPr>
            <a:xfrm>
              <a:off x="3995023" y="4549310"/>
              <a:ext cx="398218" cy="3267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5A1B5815-64F4-F9A1-D373-3AEAFEE19F09}"/>
                </a:ext>
              </a:extLst>
            </p:cNvPr>
            <p:cNvCxnSpPr>
              <a:stCxn id="20" idx="5"/>
              <a:endCxn id="23" idx="2"/>
            </p:cNvCxnSpPr>
            <p:nvPr/>
          </p:nvCxnSpPr>
          <p:spPr>
            <a:xfrm>
              <a:off x="4961811" y="4696154"/>
              <a:ext cx="357735" cy="2237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CF1514D0-69D4-92DA-3070-076AF9A4A66E}"/>
                </a:ext>
              </a:extLst>
            </p:cNvPr>
            <p:cNvCxnSpPr>
              <a:stCxn id="23" idx="7"/>
              <a:endCxn id="11" idx="4"/>
            </p:cNvCxnSpPr>
            <p:nvPr/>
          </p:nvCxnSpPr>
          <p:spPr>
            <a:xfrm flipV="1">
              <a:off x="5425237" y="4567444"/>
              <a:ext cx="59533" cy="3086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73C91897-FEAB-97C1-084C-A4CC3D8B2779}"/>
                </a:ext>
              </a:extLst>
            </p:cNvPr>
            <p:cNvCxnSpPr>
              <a:stCxn id="23" idx="6"/>
              <a:endCxn id="77" idx="2"/>
            </p:cNvCxnSpPr>
            <p:nvPr/>
          </p:nvCxnSpPr>
          <p:spPr>
            <a:xfrm>
              <a:off x="5443371" y="4919869"/>
              <a:ext cx="455736" cy="61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E06DB59-93D0-8B1D-B344-47104BA1E174}"/>
                </a:ext>
              </a:extLst>
            </p:cNvPr>
            <p:cNvCxnSpPr>
              <a:stCxn id="77" idx="7"/>
              <a:endCxn id="16" idx="3"/>
            </p:cNvCxnSpPr>
            <p:nvPr/>
          </p:nvCxnSpPr>
          <p:spPr>
            <a:xfrm flipV="1">
              <a:off x="6004798" y="4622090"/>
              <a:ext cx="606309" cy="315913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46C2F7E-CB15-3D2C-C2F9-1C4F36D048A7}"/>
                </a:ext>
              </a:extLst>
            </p:cNvPr>
            <p:cNvCxnSpPr>
              <a:stCxn id="11" idx="6"/>
              <a:endCxn id="16" idx="1"/>
            </p:cNvCxnSpPr>
            <p:nvPr/>
          </p:nvCxnSpPr>
          <p:spPr>
            <a:xfrm>
              <a:off x="5546682" y="4505532"/>
              <a:ext cx="1064425" cy="29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3EFF1005-3799-1529-6AFF-4E1595701A2D}"/>
                </a:ext>
              </a:extLst>
            </p:cNvPr>
            <p:cNvCxnSpPr>
              <a:stCxn id="16" idx="6"/>
              <a:endCxn id="17" idx="2"/>
            </p:cNvCxnSpPr>
            <p:nvPr/>
          </p:nvCxnSpPr>
          <p:spPr>
            <a:xfrm>
              <a:off x="6716798" y="4578312"/>
              <a:ext cx="539979" cy="387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77ACB6D3-2C6D-EBD7-4A71-9FA9E0415C19}"/>
                </a:ext>
              </a:extLst>
            </p:cNvPr>
            <p:cNvCxnSpPr>
              <a:cxnSpLocks/>
              <a:stCxn id="17" idx="0"/>
              <a:endCxn id="12" idx="4"/>
            </p:cNvCxnSpPr>
            <p:nvPr/>
          </p:nvCxnSpPr>
          <p:spPr>
            <a:xfrm flipV="1">
              <a:off x="7318690" y="4590463"/>
              <a:ext cx="52030" cy="313286"/>
            </a:xfrm>
            <a:prstGeom prst="line">
              <a:avLst/>
            </a:prstGeom>
            <a:ln w="19050">
              <a:solidFill>
                <a:srgbClr val="7030A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45D823E-D013-57AC-DBDC-5666E4C93EEE}"/>
                </a:ext>
              </a:extLst>
            </p:cNvPr>
            <p:cNvCxnSpPr>
              <a:stCxn id="12" idx="6"/>
              <a:endCxn id="18" idx="1"/>
            </p:cNvCxnSpPr>
            <p:nvPr/>
          </p:nvCxnSpPr>
          <p:spPr>
            <a:xfrm>
              <a:off x="7432632" y="4528551"/>
              <a:ext cx="327696" cy="80046"/>
            </a:xfrm>
            <a:prstGeom prst="line">
              <a:avLst/>
            </a:prstGeom>
            <a:ln w="19050">
              <a:solidFill>
                <a:srgbClr val="7030A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D865689-0622-FD75-441F-1A42EF3974B5}"/>
                </a:ext>
              </a:extLst>
            </p:cNvPr>
            <p:cNvCxnSpPr>
              <a:endCxn id="21" idx="2"/>
            </p:cNvCxnSpPr>
            <p:nvPr/>
          </p:nvCxnSpPr>
          <p:spPr>
            <a:xfrm flipV="1">
              <a:off x="7866019" y="4487580"/>
              <a:ext cx="852488" cy="16479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7F8D23A4-D36A-A062-2B05-C94316DB43E5}"/>
                </a:ext>
              </a:extLst>
            </p:cNvPr>
            <p:cNvCxnSpPr>
              <a:stCxn id="21" idx="4"/>
              <a:endCxn id="22" idx="0"/>
            </p:cNvCxnSpPr>
            <p:nvPr/>
          </p:nvCxnSpPr>
          <p:spPr>
            <a:xfrm>
              <a:off x="8780420" y="4549492"/>
              <a:ext cx="61912" cy="1846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E54BD70F-C35A-53FC-E51F-F9591B52C17E}"/>
                </a:ext>
              </a:extLst>
            </p:cNvPr>
            <p:cNvCxnSpPr>
              <a:stCxn id="22" idx="5"/>
              <a:endCxn id="13" idx="3"/>
            </p:cNvCxnSpPr>
            <p:nvPr/>
          </p:nvCxnSpPr>
          <p:spPr>
            <a:xfrm>
              <a:off x="8886110" y="4839822"/>
              <a:ext cx="527722" cy="8004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050D3AD3-060B-2E2D-B65E-46C971D80BFF}"/>
                </a:ext>
              </a:extLst>
            </p:cNvPr>
            <p:cNvCxnSpPr>
              <a:stCxn id="21" idx="7"/>
              <a:endCxn id="78" idx="2"/>
            </p:cNvCxnSpPr>
            <p:nvPr/>
          </p:nvCxnSpPr>
          <p:spPr>
            <a:xfrm>
              <a:off x="8824198" y="4443801"/>
              <a:ext cx="1256384" cy="6173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553CFCB6-0B49-40DB-E27E-02CA429426A9}"/>
                </a:ext>
              </a:extLst>
            </p:cNvPr>
            <p:cNvCxnSpPr>
              <a:stCxn id="78" idx="3"/>
              <a:endCxn id="13" idx="6"/>
            </p:cNvCxnSpPr>
            <p:nvPr/>
          </p:nvCxnSpPr>
          <p:spPr>
            <a:xfrm flipH="1">
              <a:off x="9537657" y="4549310"/>
              <a:ext cx="561059" cy="37055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97499C4E-714C-A5C1-A24D-0BF54B213403}"/>
                </a:ext>
              </a:extLst>
            </p:cNvPr>
            <p:cNvCxnSpPr>
              <a:cxnSpLocks/>
              <a:stCxn id="16" idx="7"/>
              <a:endCxn id="12" idx="2"/>
            </p:cNvCxnSpPr>
            <p:nvPr/>
          </p:nvCxnSpPr>
          <p:spPr>
            <a:xfrm flipV="1">
              <a:off x="6698664" y="4528551"/>
              <a:ext cx="610143" cy="5982"/>
            </a:xfrm>
            <a:prstGeom prst="line">
              <a:avLst/>
            </a:prstGeom>
            <a:ln w="19050">
              <a:solidFill>
                <a:srgbClr val="7030A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箭头: 下 40">
              <a:extLst>
                <a:ext uri="{FF2B5EF4-FFF2-40B4-BE49-F238E27FC236}">
                  <a16:creationId xmlns:a16="http://schemas.microsoft.com/office/drawing/2014/main" id="{8980900D-AB83-B795-FEA1-BA9A5FA7246F}"/>
                </a:ext>
              </a:extLst>
            </p:cNvPr>
            <p:cNvSpPr/>
            <p:nvPr/>
          </p:nvSpPr>
          <p:spPr>
            <a:xfrm>
              <a:off x="5863498" y="3433925"/>
              <a:ext cx="212263" cy="428531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星形: 五角 41">
              <a:extLst>
                <a:ext uri="{FF2B5EF4-FFF2-40B4-BE49-F238E27FC236}">
                  <a16:creationId xmlns:a16="http://schemas.microsoft.com/office/drawing/2014/main" id="{79E37A1C-2384-F821-107A-E8EAC165B0C9}"/>
                </a:ext>
              </a:extLst>
            </p:cNvPr>
            <p:cNvSpPr/>
            <p:nvPr/>
          </p:nvSpPr>
          <p:spPr>
            <a:xfrm>
              <a:off x="7047789" y="4641811"/>
              <a:ext cx="123825" cy="123825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星形: 五角 42">
              <a:extLst>
                <a:ext uri="{FF2B5EF4-FFF2-40B4-BE49-F238E27FC236}">
                  <a16:creationId xmlns:a16="http://schemas.microsoft.com/office/drawing/2014/main" id="{B70FE14E-775D-2EF1-08E8-132A6E8FF52B}"/>
                </a:ext>
              </a:extLst>
            </p:cNvPr>
            <p:cNvSpPr/>
            <p:nvPr/>
          </p:nvSpPr>
          <p:spPr>
            <a:xfrm>
              <a:off x="7047789" y="3768719"/>
              <a:ext cx="123825" cy="123825"/>
            </a:xfrm>
            <a:prstGeom prst="star5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箭头: 下 43">
              <a:extLst>
                <a:ext uri="{FF2B5EF4-FFF2-40B4-BE49-F238E27FC236}">
                  <a16:creationId xmlns:a16="http://schemas.microsoft.com/office/drawing/2014/main" id="{CE0D600C-D868-0688-435A-3935165FF03D}"/>
                </a:ext>
              </a:extLst>
            </p:cNvPr>
            <p:cNvSpPr/>
            <p:nvPr/>
          </p:nvSpPr>
          <p:spPr>
            <a:xfrm>
              <a:off x="7264587" y="3919411"/>
              <a:ext cx="212263" cy="428531"/>
            </a:xfrm>
            <a:prstGeom prst="downArrow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58553EDE-EFA0-7B43-622D-A7C6A7204F1B}"/>
                </a:ext>
              </a:extLst>
            </p:cNvPr>
            <p:cNvSpPr txBox="1"/>
            <p:nvPr/>
          </p:nvSpPr>
          <p:spPr>
            <a:xfrm>
              <a:off x="7352586" y="3645452"/>
              <a:ext cx="5485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/>
                <a:t>P</a:t>
              </a:r>
              <a:r>
                <a:rPr lang="en-US" altLang="zh-CN" b="1" baseline="-25000"/>
                <a:t>i</a:t>
              </a:r>
              <a:r>
                <a:rPr lang="en-US" altLang="zh-CN" b="1" baseline="30000"/>
                <a:t>(1)</a:t>
              </a:r>
              <a:endParaRPr lang="zh-CN" altLang="en-US" b="1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9714D44-5809-FFA2-0DBF-B4633DF5B472}"/>
                </a:ext>
              </a:extLst>
            </p:cNvPr>
            <p:cNvSpPr txBox="1"/>
            <p:nvPr/>
          </p:nvSpPr>
          <p:spPr>
            <a:xfrm>
              <a:off x="7376428" y="4215459"/>
              <a:ext cx="9669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/>
                <a:t>Set(P</a:t>
              </a:r>
              <a:r>
                <a:rPr lang="en-US" altLang="zh-CN" b="1" baseline="30000"/>
                <a:t>(0)</a:t>
              </a:r>
              <a:r>
                <a:rPr lang="en-US" altLang="zh-CN" b="1"/>
                <a:t>)</a:t>
              </a:r>
              <a:endParaRPr lang="zh-CN" altLang="en-US" b="1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95192BA-1B64-DF58-82C7-D5C3FD7B4883}"/>
                </a:ext>
              </a:extLst>
            </p:cNvPr>
            <p:cNvSpPr txBox="1"/>
            <p:nvPr/>
          </p:nvSpPr>
          <p:spPr>
            <a:xfrm>
              <a:off x="7751830" y="4766159"/>
              <a:ext cx="10166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/>
                <a:t>Shard S</a:t>
              </a:r>
              <a:r>
                <a:rPr lang="en-US" altLang="zh-CN" b="1" baseline="-25000"/>
                <a:t>i</a:t>
              </a:r>
              <a:endParaRPr lang="zh-CN" altLang="en-US" b="1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F4F06A38-7F30-0F8A-E7DF-8C277FEAC162}"/>
                </a:ext>
              </a:extLst>
            </p:cNvPr>
            <p:cNvSpPr/>
            <p:nvPr/>
          </p:nvSpPr>
          <p:spPr>
            <a:xfrm>
              <a:off x="3176151" y="4336830"/>
              <a:ext cx="1915715" cy="855555"/>
            </a:xfrm>
            <a:prstGeom prst="ellipse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E4507BDC-A042-52DD-379B-171B337BD5C8}"/>
                </a:ext>
              </a:extLst>
            </p:cNvPr>
            <p:cNvSpPr/>
            <p:nvPr/>
          </p:nvSpPr>
          <p:spPr>
            <a:xfrm>
              <a:off x="4722481" y="4285403"/>
              <a:ext cx="1559508" cy="948690"/>
            </a:xfrm>
            <a:prstGeom prst="ellipse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B208F905-3197-37CD-4AB4-FA85BCB83735}"/>
                </a:ext>
              </a:extLst>
            </p:cNvPr>
            <p:cNvSpPr/>
            <p:nvPr/>
          </p:nvSpPr>
          <p:spPr>
            <a:xfrm>
              <a:off x="8522018" y="4256221"/>
              <a:ext cx="1815330" cy="750642"/>
            </a:xfrm>
            <a:prstGeom prst="ellipse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3D39B0FB-C217-FD6B-1B94-1DC271E9E373}"/>
                </a:ext>
              </a:extLst>
            </p:cNvPr>
            <p:cNvGrpSpPr/>
            <p:nvPr/>
          </p:nvGrpSpPr>
          <p:grpSpPr>
            <a:xfrm>
              <a:off x="1449934" y="3283658"/>
              <a:ext cx="1148464" cy="369332"/>
              <a:chOff x="1376227" y="1241291"/>
              <a:chExt cx="1148464" cy="369332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A1363B56-0A31-49AC-347F-E52E7049F150}"/>
                  </a:ext>
                </a:extLst>
              </p:cNvPr>
              <p:cNvSpPr/>
              <p:nvPr/>
            </p:nvSpPr>
            <p:spPr>
              <a:xfrm>
                <a:off x="1376227" y="1364045"/>
                <a:ext cx="123825" cy="123825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43FD8AA3-AD26-A4B9-32BE-8DF0E8DC1A14}"/>
                  </a:ext>
                </a:extLst>
              </p:cNvPr>
              <p:cNvSpPr txBox="1"/>
              <p:nvPr/>
            </p:nvSpPr>
            <p:spPr>
              <a:xfrm>
                <a:off x="1500052" y="1241291"/>
                <a:ext cx="10246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/>
                  <a:t>L</a:t>
                </a:r>
                <a:r>
                  <a:rPr lang="en-US" altLang="zh-CN" b="1" dirty="0">
                    <a:solidFill>
                      <a:srgbClr val="00B050"/>
                    </a:solidFill>
                  </a:rPr>
                  <a:t>1</a:t>
                </a:r>
                <a:r>
                  <a:rPr lang="en-US" altLang="zh-CN" b="1" dirty="0"/>
                  <a:t> point</a:t>
                </a:r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45E18DFD-AC55-983B-B0AD-E5693054DEB8}"/>
                </a:ext>
              </a:extLst>
            </p:cNvPr>
            <p:cNvGrpSpPr/>
            <p:nvPr/>
          </p:nvGrpSpPr>
          <p:grpSpPr>
            <a:xfrm>
              <a:off x="1454685" y="3580942"/>
              <a:ext cx="1148464" cy="369332"/>
              <a:chOff x="1376227" y="1241291"/>
              <a:chExt cx="1148464" cy="369332"/>
            </a:xfrm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4DEDCDE0-8B74-E3ED-0ED0-41A3F739B23A}"/>
                  </a:ext>
                </a:extLst>
              </p:cNvPr>
              <p:cNvSpPr/>
              <p:nvPr/>
            </p:nvSpPr>
            <p:spPr>
              <a:xfrm>
                <a:off x="1376227" y="1364045"/>
                <a:ext cx="123825" cy="123825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55F3D02E-882B-3C81-1C77-04E4C9CF8864}"/>
                  </a:ext>
                </a:extLst>
              </p:cNvPr>
              <p:cNvSpPr txBox="1"/>
              <p:nvPr/>
            </p:nvSpPr>
            <p:spPr>
              <a:xfrm>
                <a:off x="1500052" y="1241291"/>
                <a:ext cx="10246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/>
                  <a:t>L</a:t>
                </a:r>
                <a:r>
                  <a:rPr lang="en-US" altLang="zh-CN" b="1">
                    <a:solidFill>
                      <a:srgbClr val="FFC000"/>
                    </a:solidFill>
                  </a:rPr>
                  <a:t>0</a:t>
                </a:r>
                <a:r>
                  <a:rPr lang="en-US" altLang="zh-CN" b="1"/>
                  <a:t> point</a:t>
                </a:r>
              </a:p>
            </p:txBody>
          </p:sp>
        </p:grp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75BD5081-A10F-64D4-7C52-3B3CF1666146}"/>
                </a:ext>
              </a:extLst>
            </p:cNvPr>
            <p:cNvSpPr txBox="1"/>
            <p:nvPr/>
          </p:nvSpPr>
          <p:spPr>
            <a:xfrm>
              <a:off x="1573759" y="3839052"/>
              <a:ext cx="7617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/>
                <a:t>query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F0AEC6BD-C935-0D39-D234-903163B0AB0C}"/>
                </a:ext>
              </a:extLst>
            </p:cNvPr>
            <p:cNvSpPr txBox="1"/>
            <p:nvPr/>
          </p:nvSpPr>
          <p:spPr>
            <a:xfrm>
              <a:off x="1570684" y="4128803"/>
              <a:ext cx="12811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/>
                <a:t>entry point</a:t>
              </a:r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4CB91847-0E81-B836-A2DA-F939E0D31667}"/>
                </a:ext>
              </a:extLst>
            </p:cNvPr>
            <p:cNvSpPr/>
            <p:nvPr/>
          </p:nvSpPr>
          <p:spPr>
            <a:xfrm>
              <a:off x="1419194" y="4642800"/>
              <a:ext cx="302980" cy="243732"/>
            </a:xfrm>
            <a:prstGeom prst="ellipse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44B9A7D2-DD44-4530-D75B-E0DD43286DA2}"/>
                </a:ext>
              </a:extLst>
            </p:cNvPr>
            <p:cNvSpPr txBox="1"/>
            <p:nvPr/>
          </p:nvSpPr>
          <p:spPr>
            <a:xfrm>
              <a:off x="1728418" y="4540805"/>
              <a:ext cx="7489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/>
                <a:t>shard</a:t>
              </a:r>
            </a:p>
          </p:txBody>
        </p:sp>
      </p:grpSp>
      <p:sp>
        <p:nvSpPr>
          <p:cNvPr id="80" name="文本框 79">
            <a:extLst>
              <a:ext uri="{FF2B5EF4-FFF2-40B4-BE49-F238E27FC236}">
                <a16:creationId xmlns:a16="http://schemas.microsoft.com/office/drawing/2014/main" id="{1D01FCFF-2DDA-4CBB-70A7-37C2A8268CC1}"/>
              </a:ext>
            </a:extLst>
          </p:cNvPr>
          <p:cNvSpPr txBox="1"/>
          <p:nvPr/>
        </p:nvSpPr>
        <p:spPr>
          <a:xfrm>
            <a:off x="5092947" y="559093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分片策略示意图</a:t>
            </a:r>
          </a:p>
        </p:txBody>
      </p:sp>
    </p:spTree>
    <p:extLst>
      <p:ext uri="{BB962C8B-B14F-4D97-AF65-F5344CB8AC3E}">
        <p14:creationId xmlns:p14="http://schemas.microsoft.com/office/powerpoint/2010/main" val="1224387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FCD11-3A7F-680A-70AC-6AA38F410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zh-CN" altLang="en-US" dirty="0"/>
              <a:t>多分配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3D05E9-F1BB-ABB4-A519-DF9DAE430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688"/>
            <a:ext cx="8344597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K-means</a:t>
            </a:r>
            <a:r>
              <a:rPr lang="zh-CN" altLang="en-US" dirty="0"/>
              <a:t>的多分配策略：将向量分发到所有距离最近的质心</a:t>
            </a:r>
            <a:r>
              <a:rPr lang="en-US" altLang="zh-CN" dirty="0"/>
              <a:t>α</a:t>
            </a:r>
            <a:r>
              <a:rPr lang="zh-CN" altLang="en-US" dirty="0"/>
              <a:t>倍以内的质心聚类中。</a:t>
            </a:r>
            <a:endParaRPr lang="en-US" altLang="zh-CN" dirty="0"/>
          </a:p>
          <a:p>
            <a:r>
              <a:rPr lang="zh-CN" altLang="en-US" dirty="0"/>
              <a:t>本质上是通过冗余，提高被发现召回的概率。</a:t>
            </a:r>
            <a:endParaRPr lang="en-US" altLang="zh-CN" dirty="0"/>
          </a:p>
          <a:p>
            <a:r>
              <a:rPr lang="zh-CN" altLang="en-US" dirty="0"/>
              <a:t>效果不显著，这原有</a:t>
            </a:r>
            <a:r>
              <a:rPr lang="en-US" altLang="zh-CN" dirty="0"/>
              <a:t>recall-QPS </a:t>
            </a:r>
            <a:r>
              <a:rPr lang="zh-CN" altLang="en-US" dirty="0"/>
              <a:t>曲线上移动。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Orion</a:t>
            </a:r>
            <a:r>
              <a:rPr lang="zh-CN" altLang="en-US" dirty="0"/>
              <a:t>的多分配策略：通过上层图的导航结果，将向量分发到所有票数最高的分片中。</a:t>
            </a:r>
            <a:endParaRPr lang="en-US" altLang="zh-CN" dirty="0"/>
          </a:p>
          <a:p>
            <a:r>
              <a:rPr lang="zh-CN" altLang="en-US" dirty="0"/>
              <a:t>只考虑实际搜索时的可达性，避免无意义膨胀索引</a:t>
            </a:r>
            <a:endParaRPr lang="en-US" altLang="zh-CN" dirty="0"/>
          </a:p>
          <a:p>
            <a:r>
              <a:rPr lang="zh-CN" altLang="en-US" dirty="0"/>
              <a:t>不超过</a:t>
            </a:r>
            <a:r>
              <a:rPr lang="en-US" altLang="zh-CN" dirty="0"/>
              <a:t>20%</a:t>
            </a:r>
            <a:r>
              <a:rPr lang="zh-CN" altLang="en-US" dirty="0"/>
              <a:t>的额外索引大小，相同</a:t>
            </a:r>
            <a:r>
              <a:rPr lang="en-US" altLang="zh-CN" dirty="0"/>
              <a:t>recall</a:t>
            </a:r>
            <a:r>
              <a:rPr lang="zh-CN" altLang="en-US" dirty="0"/>
              <a:t>水平，</a:t>
            </a:r>
            <a:r>
              <a:rPr lang="en-US" altLang="zh-CN" dirty="0"/>
              <a:t>QPS</a:t>
            </a:r>
            <a:r>
              <a:rPr lang="zh-CN" altLang="en-US" dirty="0"/>
              <a:t>增长</a:t>
            </a:r>
            <a:r>
              <a:rPr lang="en-US" altLang="zh-CN" dirty="0"/>
              <a:t>xx%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F16A959-4072-2A7C-147D-E197DF4DC85F}"/>
              </a:ext>
            </a:extLst>
          </p:cNvPr>
          <p:cNvGrpSpPr/>
          <p:nvPr/>
        </p:nvGrpSpPr>
        <p:grpSpPr>
          <a:xfrm>
            <a:off x="9224576" y="1076688"/>
            <a:ext cx="2129224" cy="1876469"/>
            <a:chOff x="2983043" y="2083633"/>
            <a:chExt cx="3912432" cy="3447997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AEF78560-1FCE-FEFC-5D3D-726630D374DB}"/>
                </a:ext>
              </a:extLst>
            </p:cNvPr>
            <p:cNvGrpSpPr/>
            <p:nvPr/>
          </p:nvGrpSpPr>
          <p:grpSpPr>
            <a:xfrm>
              <a:off x="2983043" y="2083633"/>
              <a:ext cx="1379095" cy="1379095"/>
              <a:chOff x="2983043" y="2083633"/>
              <a:chExt cx="1379095" cy="1379095"/>
            </a:xfrm>
          </p:grpSpPr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21542B2-E2D6-E336-A5CD-1A3D73261B85}"/>
                  </a:ext>
                </a:extLst>
              </p:cNvPr>
              <p:cNvSpPr/>
              <p:nvPr/>
            </p:nvSpPr>
            <p:spPr>
              <a:xfrm>
                <a:off x="2983043" y="2083633"/>
                <a:ext cx="1379095" cy="137909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7F3637CB-454D-CDD3-3C85-2EC8A6707A85}"/>
                  </a:ext>
                </a:extLst>
              </p:cNvPr>
              <p:cNvSpPr/>
              <p:nvPr/>
            </p:nvSpPr>
            <p:spPr>
              <a:xfrm>
                <a:off x="3627619" y="2728209"/>
                <a:ext cx="89941" cy="8994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E339E33-0C30-1334-48D4-5A40F96DF20A}"/>
                </a:ext>
              </a:extLst>
            </p:cNvPr>
            <p:cNvGrpSpPr/>
            <p:nvPr/>
          </p:nvGrpSpPr>
          <p:grpSpPr>
            <a:xfrm>
              <a:off x="4979232" y="2470878"/>
              <a:ext cx="1916243" cy="1916243"/>
              <a:chOff x="5743732" y="2355954"/>
              <a:chExt cx="1916243" cy="1916243"/>
            </a:xfrm>
          </p:grpSpPr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34145320-CB7F-9185-71C5-F483278C51DC}"/>
                  </a:ext>
                </a:extLst>
              </p:cNvPr>
              <p:cNvSpPr/>
              <p:nvPr/>
            </p:nvSpPr>
            <p:spPr>
              <a:xfrm>
                <a:off x="5743732" y="2355954"/>
                <a:ext cx="1916243" cy="1916243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CF219C2A-7F7A-C62B-FADB-9DBC46CB578D}"/>
                  </a:ext>
                </a:extLst>
              </p:cNvPr>
              <p:cNvSpPr/>
              <p:nvPr/>
            </p:nvSpPr>
            <p:spPr>
              <a:xfrm>
                <a:off x="6656882" y="3269104"/>
                <a:ext cx="89941" cy="8994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956A5C24-3D87-EB79-8240-E50FA782BE5E}"/>
                </a:ext>
              </a:extLst>
            </p:cNvPr>
            <p:cNvGrpSpPr/>
            <p:nvPr/>
          </p:nvGrpSpPr>
          <p:grpSpPr>
            <a:xfrm>
              <a:off x="3523938" y="3762790"/>
              <a:ext cx="1768840" cy="1768840"/>
              <a:chOff x="3672590" y="4019862"/>
              <a:chExt cx="1768840" cy="1768840"/>
            </a:xfrm>
          </p:grpSpPr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4E699213-0248-D511-F1E5-EDF38E00EE3C}"/>
                  </a:ext>
                </a:extLst>
              </p:cNvPr>
              <p:cNvSpPr/>
              <p:nvPr/>
            </p:nvSpPr>
            <p:spPr>
              <a:xfrm>
                <a:off x="3672590" y="4019862"/>
                <a:ext cx="1768840" cy="176884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61508261-4015-9DF3-9B8F-09B97855E369}"/>
                  </a:ext>
                </a:extLst>
              </p:cNvPr>
              <p:cNvSpPr/>
              <p:nvPr/>
            </p:nvSpPr>
            <p:spPr>
              <a:xfrm>
                <a:off x="4512039" y="4859311"/>
                <a:ext cx="89941" cy="89941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B50CB39-4DA3-FD30-F361-801B222212F4}"/>
                </a:ext>
              </a:extLst>
            </p:cNvPr>
            <p:cNvSpPr/>
            <p:nvPr/>
          </p:nvSpPr>
          <p:spPr>
            <a:xfrm>
              <a:off x="4769372" y="3429000"/>
              <a:ext cx="89941" cy="8994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B63337C4-2144-D3BE-CF58-EAA1ED834A55}"/>
                </a:ext>
              </a:extLst>
            </p:cNvPr>
            <p:cNvCxnSpPr>
              <a:cxnSpLocks/>
              <a:stCxn id="8" idx="1"/>
              <a:endCxn id="23" idx="5"/>
            </p:cNvCxnSpPr>
            <p:nvPr/>
          </p:nvCxnSpPr>
          <p:spPr>
            <a:xfrm flipH="1" flipV="1">
              <a:off x="3704388" y="2804978"/>
              <a:ext cx="1078156" cy="637194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F3612D54-AE58-A74D-EFAA-199A0FD72DD9}"/>
                </a:ext>
              </a:extLst>
            </p:cNvPr>
            <p:cNvCxnSpPr>
              <a:cxnSpLocks/>
              <a:stCxn id="8" idx="6"/>
              <a:endCxn id="21" idx="2"/>
            </p:cNvCxnSpPr>
            <p:nvPr/>
          </p:nvCxnSpPr>
          <p:spPr>
            <a:xfrm flipV="1">
              <a:off x="4859313" y="3428999"/>
              <a:ext cx="1033069" cy="44972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99C75D5C-B4A3-EEA7-62B8-2488C263F847}"/>
                </a:ext>
              </a:extLst>
            </p:cNvPr>
            <p:cNvCxnSpPr>
              <a:cxnSpLocks/>
              <a:stCxn id="8" idx="4"/>
              <a:endCxn id="19" idx="0"/>
            </p:cNvCxnSpPr>
            <p:nvPr/>
          </p:nvCxnSpPr>
          <p:spPr>
            <a:xfrm flipH="1">
              <a:off x="4408358" y="3518941"/>
              <a:ext cx="405985" cy="1083298"/>
            </a:xfrm>
            <a:prstGeom prst="straightConnector1">
              <a:avLst/>
            </a:prstGeom>
            <a:ln w="28575">
              <a:solidFill>
                <a:schemeClr val="tx1">
                  <a:lumMod val="95000"/>
                  <a:lumOff val="5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976CA096-E78D-23FD-3A53-D2E11810E18D}"/>
                </a:ext>
              </a:extLst>
            </p:cNvPr>
            <p:cNvSpPr/>
            <p:nvPr/>
          </p:nvSpPr>
          <p:spPr>
            <a:xfrm>
              <a:off x="6604000" y="2849275"/>
              <a:ext cx="82550" cy="8255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FA7999FF-24CC-9F50-789B-0A1D1B39342F}"/>
                </a:ext>
              </a:extLst>
            </p:cNvPr>
            <p:cNvSpPr/>
            <p:nvPr/>
          </p:nvSpPr>
          <p:spPr>
            <a:xfrm>
              <a:off x="3717560" y="3342753"/>
              <a:ext cx="82550" cy="8255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FFBE479-3348-7FDA-3B80-1C016446B73B}"/>
                </a:ext>
              </a:extLst>
            </p:cNvPr>
            <p:cNvSpPr/>
            <p:nvPr/>
          </p:nvSpPr>
          <p:spPr>
            <a:xfrm>
              <a:off x="4453328" y="3813257"/>
              <a:ext cx="82550" cy="8255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FF232EE2-FD1E-466F-9889-980890B74FED}"/>
                </a:ext>
              </a:extLst>
            </p:cNvPr>
            <p:cNvCxnSpPr>
              <a:cxnSpLocks/>
              <a:stCxn id="8" idx="7"/>
              <a:endCxn id="12" idx="2"/>
            </p:cNvCxnSpPr>
            <p:nvPr/>
          </p:nvCxnSpPr>
          <p:spPr>
            <a:xfrm flipV="1">
              <a:off x="4846141" y="2890550"/>
              <a:ext cx="1757859" cy="551622"/>
            </a:xfrm>
            <a:prstGeom prst="straightConnector1">
              <a:avLst/>
            </a:prstGeom>
            <a:ln w="28575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83486B5F-6BB1-1991-1F68-9A5585152170}"/>
                </a:ext>
              </a:extLst>
            </p:cNvPr>
            <p:cNvCxnSpPr>
              <a:stCxn id="8" idx="3"/>
              <a:endCxn id="14" idx="7"/>
            </p:cNvCxnSpPr>
            <p:nvPr/>
          </p:nvCxnSpPr>
          <p:spPr>
            <a:xfrm flipH="1">
              <a:off x="4523789" y="3505769"/>
              <a:ext cx="258755" cy="319577"/>
            </a:xfrm>
            <a:prstGeom prst="straightConnector1">
              <a:avLst/>
            </a:prstGeom>
            <a:ln w="28575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AD346A4D-4C23-0B14-089D-31D255804059}"/>
                </a:ext>
              </a:extLst>
            </p:cNvPr>
            <p:cNvCxnSpPr>
              <a:stCxn id="8" idx="2"/>
              <a:endCxn id="13" idx="6"/>
            </p:cNvCxnSpPr>
            <p:nvPr/>
          </p:nvCxnSpPr>
          <p:spPr>
            <a:xfrm flipH="1" flipV="1">
              <a:off x="3800110" y="3384028"/>
              <a:ext cx="969262" cy="89943"/>
            </a:xfrm>
            <a:prstGeom prst="straightConnector1">
              <a:avLst/>
            </a:prstGeom>
            <a:ln w="28575">
              <a:solidFill>
                <a:schemeClr val="accent5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DC30BAE3-0802-CE7B-00AC-1DE13F69CAB9}"/>
              </a:ext>
            </a:extLst>
          </p:cNvPr>
          <p:cNvGrpSpPr/>
          <p:nvPr/>
        </p:nvGrpSpPr>
        <p:grpSpPr>
          <a:xfrm>
            <a:off x="7532151" y="4982675"/>
            <a:ext cx="4512603" cy="1682704"/>
            <a:chOff x="2910090" y="2164080"/>
            <a:chExt cx="5628665" cy="2098872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8FCB9A44-1FA6-1319-06E5-63C1F471F7A1}"/>
                </a:ext>
              </a:extLst>
            </p:cNvPr>
            <p:cNvSpPr/>
            <p:nvPr/>
          </p:nvSpPr>
          <p:spPr>
            <a:xfrm rot="19347738">
              <a:off x="2910090" y="2235994"/>
              <a:ext cx="2246468" cy="1571760"/>
            </a:xfrm>
            <a:prstGeom prst="ellipse">
              <a:avLst/>
            </a:prstGeom>
            <a:noFill/>
            <a:ln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5ECECCF2-5C36-7117-9C40-D87F48EE3CA4}"/>
                </a:ext>
              </a:extLst>
            </p:cNvPr>
            <p:cNvGrpSpPr/>
            <p:nvPr/>
          </p:nvGrpSpPr>
          <p:grpSpPr>
            <a:xfrm>
              <a:off x="3614057" y="2164080"/>
              <a:ext cx="4924698" cy="2098872"/>
              <a:chOff x="3614057" y="2164080"/>
              <a:chExt cx="4924698" cy="2098872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7A1436EF-1ADF-DBA0-B57B-5301969491F6}"/>
                  </a:ext>
                </a:extLst>
              </p:cNvPr>
              <p:cNvSpPr/>
              <p:nvPr/>
            </p:nvSpPr>
            <p:spPr>
              <a:xfrm>
                <a:off x="4473610" y="3068934"/>
                <a:ext cx="1909354" cy="1194018"/>
              </a:xfrm>
              <a:prstGeom prst="ellipse">
                <a:avLst/>
              </a:prstGeom>
              <a:noFill/>
              <a:ln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C41A4A80-F289-3BEC-572E-BA729BD4DC43}"/>
                  </a:ext>
                </a:extLst>
              </p:cNvPr>
              <p:cNvSpPr/>
              <p:nvPr/>
            </p:nvSpPr>
            <p:spPr>
              <a:xfrm>
                <a:off x="5460274" y="3204754"/>
                <a:ext cx="113212" cy="113212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A8E92CD8-429D-3C30-561F-6C44AB983378}"/>
                  </a:ext>
                </a:extLst>
              </p:cNvPr>
              <p:cNvSpPr/>
              <p:nvPr/>
            </p:nvSpPr>
            <p:spPr>
              <a:xfrm>
                <a:off x="6196149" y="2747554"/>
                <a:ext cx="113212" cy="11321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A445A39D-EB96-6BA0-D72F-A77E1BB9BE4D}"/>
                  </a:ext>
                </a:extLst>
              </p:cNvPr>
              <p:cNvSpPr/>
              <p:nvPr/>
            </p:nvSpPr>
            <p:spPr>
              <a:xfrm>
                <a:off x="6039394" y="3870959"/>
                <a:ext cx="113212" cy="11321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228583F8-F345-C756-5270-F71B4EBD7E03}"/>
                  </a:ext>
                </a:extLst>
              </p:cNvPr>
              <p:cNvSpPr/>
              <p:nvPr/>
            </p:nvSpPr>
            <p:spPr>
              <a:xfrm>
                <a:off x="4558937" y="3609702"/>
                <a:ext cx="113212" cy="113212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30FD4A20-A23B-C7B6-A4E0-77D79320DF04}"/>
                  </a:ext>
                </a:extLst>
              </p:cNvPr>
              <p:cNvSpPr/>
              <p:nvPr/>
            </p:nvSpPr>
            <p:spPr>
              <a:xfrm>
                <a:off x="7058297" y="3243942"/>
                <a:ext cx="113212" cy="11321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C0613C57-C499-CD56-E20F-4BA62421F949}"/>
                  </a:ext>
                </a:extLst>
              </p:cNvPr>
              <p:cNvSpPr/>
              <p:nvPr/>
            </p:nvSpPr>
            <p:spPr>
              <a:xfrm>
                <a:off x="5229497" y="2164080"/>
                <a:ext cx="113212" cy="11321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4685A93D-533A-F6F0-7928-6703E5B80842}"/>
                  </a:ext>
                </a:extLst>
              </p:cNvPr>
              <p:cNvSpPr/>
              <p:nvPr/>
            </p:nvSpPr>
            <p:spPr>
              <a:xfrm>
                <a:off x="4053840" y="2965268"/>
                <a:ext cx="113212" cy="113212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7E8B969D-0120-20D9-794E-C1AB10EADFF7}"/>
                  </a:ext>
                </a:extLst>
              </p:cNvPr>
              <p:cNvSpPr/>
              <p:nvPr/>
            </p:nvSpPr>
            <p:spPr>
              <a:xfrm>
                <a:off x="3670663" y="3762102"/>
                <a:ext cx="113212" cy="113212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C03AEF7D-BC6D-485D-080F-BABDBD3424BC}"/>
                  </a:ext>
                </a:extLst>
              </p:cNvPr>
              <p:cNvSpPr/>
              <p:nvPr/>
            </p:nvSpPr>
            <p:spPr>
              <a:xfrm>
                <a:off x="5116285" y="3988524"/>
                <a:ext cx="113212" cy="113212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BAA2E9BB-F0BE-08ED-A54D-1A43863966A4}"/>
                  </a:ext>
                </a:extLst>
              </p:cNvPr>
              <p:cNvSpPr/>
              <p:nvPr/>
            </p:nvSpPr>
            <p:spPr>
              <a:xfrm>
                <a:off x="7955280" y="2277292"/>
                <a:ext cx="113212" cy="11321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08B6ABD4-1B66-3937-C428-2907B34DCF21}"/>
                  </a:ext>
                </a:extLst>
              </p:cNvPr>
              <p:cNvSpPr/>
              <p:nvPr/>
            </p:nvSpPr>
            <p:spPr>
              <a:xfrm>
                <a:off x="3614057" y="2377441"/>
                <a:ext cx="113212" cy="11321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A3479B6A-1449-C779-61F4-C6DB70347546}"/>
                  </a:ext>
                </a:extLst>
              </p:cNvPr>
              <p:cNvSpPr/>
              <p:nvPr/>
            </p:nvSpPr>
            <p:spPr>
              <a:xfrm>
                <a:off x="4802776" y="2555965"/>
                <a:ext cx="113212" cy="113212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EF139E7B-0A57-9E70-3B01-A7DB78B77155}"/>
                  </a:ext>
                </a:extLst>
              </p:cNvPr>
              <p:cNvSpPr/>
              <p:nvPr/>
            </p:nvSpPr>
            <p:spPr>
              <a:xfrm>
                <a:off x="6792687" y="2194559"/>
                <a:ext cx="113212" cy="11321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3EF2A203-0218-570A-0C95-A8CEAECD188F}"/>
                  </a:ext>
                </a:extLst>
              </p:cNvPr>
              <p:cNvSpPr/>
              <p:nvPr/>
            </p:nvSpPr>
            <p:spPr>
              <a:xfrm>
                <a:off x="8425543" y="3450770"/>
                <a:ext cx="113212" cy="113212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17472BB4-81CF-1E80-0C2C-C1A683C8B4D3}"/>
                  </a:ext>
                </a:extLst>
              </p:cNvPr>
              <p:cNvCxnSpPr>
                <a:stCxn id="34" idx="1"/>
                <a:endCxn id="38" idx="5"/>
              </p:cNvCxnSpPr>
              <p:nvPr/>
            </p:nvCxnSpPr>
            <p:spPr>
              <a:xfrm flipH="1" flipV="1">
                <a:off x="3710689" y="2474073"/>
                <a:ext cx="359731" cy="50777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1975A552-F269-F9BE-D7B7-7C378534A054}"/>
                  </a:ext>
                </a:extLst>
              </p:cNvPr>
              <p:cNvCxnSpPr>
                <a:stCxn id="34" idx="3"/>
                <a:endCxn id="35" idx="6"/>
              </p:cNvCxnSpPr>
              <p:nvPr/>
            </p:nvCxnSpPr>
            <p:spPr>
              <a:xfrm flipH="1">
                <a:off x="3767295" y="3061900"/>
                <a:ext cx="303125" cy="71678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>
                <a:extLst>
                  <a:ext uri="{FF2B5EF4-FFF2-40B4-BE49-F238E27FC236}">
                    <a16:creationId xmlns:a16="http://schemas.microsoft.com/office/drawing/2014/main" id="{3C1DE391-D012-E2EA-3501-13B808A884EC}"/>
                  </a:ext>
                </a:extLst>
              </p:cNvPr>
              <p:cNvCxnSpPr>
                <a:stCxn id="34" idx="7"/>
                <a:endCxn id="39" idx="3"/>
              </p:cNvCxnSpPr>
              <p:nvPr/>
            </p:nvCxnSpPr>
            <p:spPr>
              <a:xfrm flipV="1">
                <a:off x="4150472" y="2652597"/>
                <a:ext cx="668884" cy="32925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76B877B2-48CA-F085-B61F-C02B19551975}"/>
                  </a:ext>
                </a:extLst>
              </p:cNvPr>
              <p:cNvCxnSpPr>
                <a:stCxn id="39" idx="7"/>
                <a:endCxn id="33" idx="3"/>
              </p:cNvCxnSpPr>
              <p:nvPr/>
            </p:nvCxnSpPr>
            <p:spPr>
              <a:xfrm flipV="1">
                <a:off x="4899408" y="2260712"/>
                <a:ext cx="346669" cy="31183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B29E8083-B59C-5441-1A5C-67885CDA5DD2}"/>
                  </a:ext>
                </a:extLst>
              </p:cNvPr>
              <p:cNvCxnSpPr>
                <a:stCxn id="39" idx="5"/>
                <a:endCxn id="28" idx="1"/>
              </p:cNvCxnSpPr>
              <p:nvPr/>
            </p:nvCxnSpPr>
            <p:spPr>
              <a:xfrm>
                <a:off x="4899408" y="2652597"/>
                <a:ext cx="577446" cy="568737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F5FF6D51-EB38-3638-0946-BBF389E7C7AF}"/>
                  </a:ext>
                </a:extLst>
              </p:cNvPr>
              <p:cNvCxnSpPr>
                <a:stCxn id="31" idx="5"/>
                <a:endCxn id="36" idx="2"/>
              </p:cNvCxnSpPr>
              <p:nvPr/>
            </p:nvCxnSpPr>
            <p:spPr>
              <a:xfrm>
                <a:off x="4655569" y="3706334"/>
                <a:ext cx="460716" cy="338796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201B5806-5648-4BF7-BD1D-93D36B1B5D14}"/>
                  </a:ext>
                </a:extLst>
              </p:cNvPr>
              <p:cNvCxnSpPr>
                <a:stCxn id="36" idx="6"/>
                <a:endCxn id="30" idx="2"/>
              </p:cNvCxnSpPr>
              <p:nvPr/>
            </p:nvCxnSpPr>
            <p:spPr>
              <a:xfrm flipV="1">
                <a:off x="5229497" y="3927565"/>
                <a:ext cx="809897" cy="11756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FE66135F-45CD-8D34-8601-005B0E997DC5}"/>
                  </a:ext>
                </a:extLst>
              </p:cNvPr>
              <p:cNvCxnSpPr>
                <a:stCxn id="28" idx="5"/>
                <a:endCxn id="29" idx="3"/>
              </p:cNvCxnSpPr>
              <p:nvPr/>
            </p:nvCxnSpPr>
            <p:spPr>
              <a:xfrm flipV="1">
                <a:off x="5556906" y="2844186"/>
                <a:ext cx="655823" cy="45720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9EEDD0E5-4D79-E06D-4C1B-7BAC4201AA87}"/>
                  </a:ext>
                </a:extLst>
              </p:cNvPr>
              <p:cNvCxnSpPr>
                <a:stCxn id="29" idx="6"/>
                <a:endCxn id="32" idx="1"/>
              </p:cNvCxnSpPr>
              <p:nvPr/>
            </p:nvCxnSpPr>
            <p:spPr>
              <a:xfrm>
                <a:off x="6309361" y="2804160"/>
                <a:ext cx="765516" cy="456362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6508EEB3-660C-0778-C72E-405D467E8532}"/>
                  </a:ext>
                </a:extLst>
              </p:cNvPr>
              <p:cNvCxnSpPr>
                <a:stCxn id="30" idx="6"/>
                <a:endCxn id="32" idx="3"/>
              </p:cNvCxnSpPr>
              <p:nvPr/>
            </p:nvCxnSpPr>
            <p:spPr>
              <a:xfrm flipV="1">
                <a:off x="6152606" y="3340574"/>
                <a:ext cx="922271" cy="586991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C3A9C8DC-31D9-8B35-80AD-11D184EF3F85}"/>
                  </a:ext>
                </a:extLst>
              </p:cNvPr>
              <p:cNvCxnSpPr>
                <a:stCxn id="28" idx="4"/>
                <a:endCxn id="36" idx="7"/>
              </p:cNvCxnSpPr>
              <p:nvPr/>
            </p:nvCxnSpPr>
            <p:spPr>
              <a:xfrm flipH="1">
                <a:off x="5212917" y="3317966"/>
                <a:ext cx="303963" cy="68713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51B221E7-FD6E-0E88-60D1-E18CBD3EF8AC}"/>
                  </a:ext>
                </a:extLst>
              </p:cNvPr>
              <p:cNvCxnSpPr>
                <a:stCxn id="29" idx="7"/>
                <a:endCxn id="40" idx="3"/>
              </p:cNvCxnSpPr>
              <p:nvPr/>
            </p:nvCxnSpPr>
            <p:spPr>
              <a:xfrm flipV="1">
                <a:off x="6292781" y="2291191"/>
                <a:ext cx="516486" cy="472943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516759CB-938B-77ED-2F8B-759AC8F4D6AD}"/>
                  </a:ext>
                </a:extLst>
              </p:cNvPr>
              <p:cNvCxnSpPr>
                <a:stCxn id="40" idx="7"/>
                <a:endCxn id="37" idx="2"/>
              </p:cNvCxnSpPr>
              <p:nvPr/>
            </p:nvCxnSpPr>
            <p:spPr>
              <a:xfrm>
                <a:off x="6889319" y="2211139"/>
                <a:ext cx="1065961" cy="12275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8B9732A6-3694-0091-BEB7-9C8E766E7C96}"/>
                  </a:ext>
                </a:extLst>
              </p:cNvPr>
              <p:cNvCxnSpPr>
                <a:stCxn id="32" idx="6"/>
                <a:endCxn id="41" idx="5"/>
              </p:cNvCxnSpPr>
              <p:nvPr/>
            </p:nvCxnSpPr>
            <p:spPr>
              <a:xfrm>
                <a:off x="7171509" y="3300548"/>
                <a:ext cx="1254034" cy="20682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1F11EFCC-F574-A4DE-2477-0837BD32DDC6}"/>
                  </a:ext>
                </a:extLst>
              </p:cNvPr>
              <p:cNvSpPr/>
              <p:nvPr/>
            </p:nvSpPr>
            <p:spPr>
              <a:xfrm>
                <a:off x="4801940" y="3230879"/>
                <a:ext cx="113212" cy="113212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36326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D83A88-268E-AD6B-288C-41FA1BA16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127" y="30795"/>
            <a:ext cx="10515600" cy="1325563"/>
          </a:xfrm>
        </p:spPr>
        <p:txBody>
          <a:bodyPr/>
          <a:lstStyle/>
          <a:p>
            <a:r>
              <a:rPr lang="zh-CN" altLang="en-US" dirty="0"/>
              <a:t>分片索引构建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0526A53-E32E-3D36-959A-DE7BB1E77E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65489"/>
                <a:ext cx="5910614" cy="4963126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800" dirty="0">
                    <a:latin typeface="+mn-ea"/>
                  </a:rPr>
                  <a:t>立体构建</a:t>
                </a:r>
                <a:r>
                  <a:rPr lang="zh-CN" altLang="en-US" sz="2800" b="0" dirty="0">
                    <a:latin typeface="+mn-ea"/>
                  </a:rPr>
                  <a:t>：</a:t>
                </a:r>
                <a:r>
                  <a:rPr lang="zh-CN" altLang="en-US" sz="2800" b="0" dirty="0">
                    <a:solidFill>
                      <a:srgbClr val="C00000"/>
                    </a:solidFill>
                    <a:latin typeface="+mn-ea"/>
                  </a:rPr>
                  <a:t>以分层图构建分片索引</a:t>
                </a:r>
                <a:endParaRPr lang="en-US" altLang="zh-CN" sz="2800" b="0" dirty="0">
                  <a:solidFill>
                    <a:srgbClr val="C00000"/>
                  </a:solidFill>
                  <a:latin typeface="+mn-ea"/>
                </a:endParaRPr>
              </a:p>
              <a:p>
                <a:pPr lvl="1"/>
                <a:r>
                  <a:rPr lang="zh-CN" altLang="en-US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引导</a:t>
                </a:r>
                <a:r>
                  <a:rPr lang="en-US" altLang="zh-CN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L</a:t>
                </a:r>
                <a:r>
                  <a:rPr lang="en-US" altLang="zh-CN" sz="2400" b="0" baseline="-250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0</a:t>
                </a:r>
                <a:r>
                  <a:rPr lang="zh-CN" altLang="en-US" sz="2400" b="0" dirty="0"/>
                  <a:t>形成高质量的连边骨架，避免陷入局部最优和缺少长程连接</a:t>
                </a:r>
                <a:endParaRPr lang="en-US" altLang="zh-CN" sz="2400" b="0" dirty="0"/>
              </a:p>
              <a:p>
                <a:pPr lvl="1"/>
                <a:r>
                  <a:rPr lang="zh-CN" altLang="en-US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将复杂度从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altLang="zh-CN" sz="2400" b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pt-BR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pt-BR" altLang="zh-CN" sz="2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pt-BR" altLang="zh-CN" sz="2400" b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pt-BR" altLang="zh-CN" sz="2400" b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b="0">
                        <a:latin typeface="Cambria Math" panose="02040503050406030204" pitchFamily="18" charset="0"/>
                      </a:rPr>
                      <m:t>优化到</m:t>
                    </m:r>
                    <m:r>
                      <a:rPr lang="en-US" altLang="zh-CN" sz="2400" b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altLang="zh-CN" sz="2400" b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pt-BR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pt-BR" altLang="zh-CN" sz="2400" b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pt-BR" altLang="zh-CN" sz="2400" b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BR" altLang="zh-CN" sz="2400" b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pt-BR" altLang="zh-CN" sz="2400" b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pt-BR" altLang="zh-CN" sz="2400" b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en-US" altLang="zh-CN" sz="2400" b="0" dirty="0"/>
                  <a:t>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800" dirty="0">
                    <a:latin typeface="+mn-ea"/>
                  </a:rPr>
                  <a:t>平面搜索</a:t>
                </a:r>
                <a:r>
                  <a:rPr lang="zh-CN" altLang="en-US" sz="2800" b="0" dirty="0">
                    <a:latin typeface="+mn-ea"/>
                  </a:rPr>
                  <a:t>：</a:t>
                </a:r>
                <a:r>
                  <a:rPr lang="zh-CN" altLang="en-US" sz="2800" b="0" dirty="0">
                    <a:solidFill>
                      <a:srgbClr val="C00000"/>
                    </a:solidFill>
                    <a:latin typeface="+mn-ea"/>
                  </a:rPr>
                  <a:t>从导航图的入口点直达</a:t>
                </a:r>
                <a:r>
                  <a:rPr lang="en-US" altLang="zh-CN" sz="2800" b="0" dirty="0">
                    <a:solidFill>
                      <a:srgbClr val="C00000"/>
                    </a:solidFill>
                    <a:latin typeface="+mn-ea"/>
                  </a:rPr>
                  <a:t>L</a:t>
                </a:r>
                <a:r>
                  <a:rPr lang="en-US" altLang="zh-CN" sz="2800" b="0" baseline="-25000" dirty="0">
                    <a:solidFill>
                      <a:srgbClr val="C00000"/>
                    </a:solidFill>
                    <a:latin typeface="+mn-ea"/>
                  </a:rPr>
                  <a:t>0</a:t>
                </a:r>
                <a:r>
                  <a:rPr lang="zh-CN" altLang="en-US" sz="2800" b="0" dirty="0">
                    <a:solidFill>
                      <a:srgbClr val="C00000"/>
                    </a:solidFill>
                    <a:latin typeface="+mn-ea"/>
                  </a:rPr>
                  <a:t>最底层开始搜索</a:t>
                </a:r>
                <a:endParaRPr lang="en-US" altLang="zh-CN" sz="2800" b="0" dirty="0">
                  <a:solidFill>
                    <a:srgbClr val="C00000"/>
                  </a:solidFill>
                  <a:latin typeface="+mn-ea"/>
                </a:endParaRPr>
              </a:p>
              <a:p>
                <a:pPr lvl="1"/>
                <a:r>
                  <a:rPr lang="zh-CN" altLang="en-US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导航图已为分片提供准确的入口，只需在底层少量调整即可完成搜索</a:t>
                </a:r>
                <a:endParaRPr lang="en-US" altLang="zh-CN" sz="24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/>
                <a:r>
                  <a:rPr lang="zh-CN" altLang="en-US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将复杂度从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altLang="zh-CN" sz="2400" b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pt-BR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b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altLang="zh-CN" sz="2400" b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400" b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400" b="0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m:rPr>
                            <m:sty m:val="p"/>
                          </m:rPr>
                          <a:rPr lang="en-US" altLang="zh-CN" sz="2400" b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  <m:r>
                      <a:rPr lang="en-US" altLang="zh-CN" sz="2400" b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b="0">
                        <a:latin typeface="Cambria Math" panose="02040503050406030204" pitchFamily="18" charset="0"/>
                      </a:rPr>
                      <m:t>优化到</m:t>
                    </m:r>
                    <m:r>
                      <a:rPr lang="en-US" altLang="zh-CN" sz="2400" b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t-BR" altLang="zh-CN" sz="2400" b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pt-BR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b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</m:d>
                  </m:oMath>
                </a14:m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dirty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zh-CN" sz="2400" b="0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dirty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zh-CN" sz="24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2400" b="0" dirty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zh-CN" sz="2400" b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400" b="0" dirty="0">
                            <a:latin typeface="Cambria Math" panose="02040503050406030204" pitchFamily="18" charset="0"/>
                          </a:rPr>
                          <m:t>ep</m:t>
                        </m:r>
                        <m:r>
                          <a:rPr lang="en-US" altLang="zh-CN" sz="2400" b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400" b="0" dirty="0">
                            <a:latin typeface="Cambria Math" panose="02040503050406030204" pitchFamily="18" charset="0"/>
                          </a:rPr>
                          <m:t>ef</m:t>
                        </m:r>
                        <m:r>
                          <a:rPr lang="en-US" altLang="zh-CN" sz="2400" b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sz="2400" b="0" dirty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  <m:r>
                      <a:rPr lang="en-US" altLang="zh-CN" sz="2400" b="0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400" b="0" dirty="0"/>
              </a:p>
              <a:p>
                <a:pPr marL="457200" lvl="1" indent="0">
                  <a:buNone/>
                </a:pPr>
                <a:endParaRPr lang="zh-CN" altLang="en-US" sz="24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0526A53-E32E-3D36-959A-DE7BB1E77E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65489"/>
                <a:ext cx="5910614" cy="4963126"/>
              </a:xfrm>
              <a:blipFill>
                <a:blip r:embed="rId2"/>
                <a:stretch>
                  <a:fillRect l="-1858" t="-2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BDB3E6-AAFB-78A1-C79E-65A25CC33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3114-2061-4842-97A6-B5DACC79B906}" type="datetime1">
              <a:rPr lang="zh-CN" altLang="en-US" smtClean="0"/>
              <a:t>2026/7/13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A1AB42-440B-0D54-3973-20D55061838F}"/>
              </a:ext>
            </a:extLst>
          </p:cNvPr>
          <p:cNvGrpSpPr/>
          <p:nvPr/>
        </p:nvGrpSpPr>
        <p:grpSpPr>
          <a:xfrm>
            <a:off x="6732967" y="2063834"/>
            <a:ext cx="4597977" cy="2976208"/>
            <a:chOff x="6313764" y="1234810"/>
            <a:chExt cx="7220541" cy="4673756"/>
          </a:xfrm>
        </p:grpSpPr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94B554F5-32F2-7F22-3A2B-BCCA9B395733}"/>
                </a:ext>
              </a:extLst>
            </p:cNvPr>
            <p:cNvSpPr/>
            <p:nvPr/>
          </p:nvSpPr>
          <p:spPr>
            <a:xfrm>
              <a:off x="6324597" y="4604656"/>
              <a:ext cx="5178879" cy="1303910"/>
            </a:xfrm>
            <a:prstGeom prst="parallelogram">
              <a:avLst>
                <a:gd name="adj" fmla="val 89835"/>
              </a:avLst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AE9C2D2D-42FF-3031-54B6-C07A9779E31B}"/>
                </a:ext>
              </a:extLst>
            </p:cNvPr>
            <p:cNvGrpSpPr/>
            <p:nvPr/>
          </p:nvGrpSpPr>
          <p:grpSpPr>
            <a:xfrm>
              <a:off x="6313764" y="1234810"/>
              <a:ext cx="7220541" cy="1837631"/>
              <a:chOff x="6313764" y="1234810"/>
              <a:chExt cx="7220541" cy="1837631"/>
            </a:xfrm>
          </p:grpSpPr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D4E61AA-25CD-1C2C-45EF-126FFDBEE678}"/>
                  </a:ext>
                </a:extLst>
              </p:cNvPr>
              <p:cNvGrpSpPr/>
              <p:nvPr/>
            </p:nvGrpSpPr>
            <p:grpSpPr>
              <a:xfrm>
                <a:off x="7317922" y="1899010"/>
                <a:ext cx="2954111" cy="1023258"/>
                <a:chOff x="7317922" y="1899010"/>
                <a:chExt cx="2954111" cy="1023258"/>
              </a:xfrm>
            </p:grpSpPr>
            <p:sp>
              <p:nvSpPr>
                <p:cNvPr id="62" name="椭圆 61">
                  <a:extLst>
                    <a:ext uri="{FF2B5EF4-FFF2-40B4-BE49-F238E27FC236}">
                      <a16:creationId xmlns:a16="http://schemas.microsoft.com/office/drawing/2014/main" id="{33C37F65-2AF9-8ECD-BC4E-09EA50E5F435}"/>
                    </a:ext>
                  </a:extLst>
                </p:cNvPr>
                <p:cNvSpPr/>
                <p:nvPr/>
              </p:nvSpPr>
              <p:spPr>
                <a:xfrm>
                  <a:off x="7317922" y="2798443"/>
                  <a:ext cx="123825" cy="12382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3" name="椭圆 62">
                  <a:extLst>
                    <a:ext uri="{FF2B5EF4-FFF2-40B4-BE49-F238E27FC236}">
                      <a16:creationId xmlns:a16="http://schemas.microsoft.com/office/drawing/2014/main" id="{35E727FB-39D6-A2E0-EF14-D736CDE04DCA}"/>
                    </a:ext>
                  </a:extLst>
                </p:cNvPr>
                <p:cNvSpPr/>
                <p:nvPr/>
              </p:nvSpPr>
              <p:spPr>
                <a:xfrm>
                  <a:off x="8852126" y="2353528"/>
                  <a:ext cx="123825" cy="12382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椭圆 63">
                  <a:extLst>
                    <a:ext uri="{FF2B5EF4-FFF2-40B4-BE49-F238E27FC236}">
                      <a16:creationId xmlns:a16="http://schemas.microsoft.com/office/drawing/2014/main" id="{CBED598B-ECD1-6A89-96D0-EE68A625D6AD}"/>
                    </a:ext>
                  </a:extLst>
                </p:cNvPr>
                <p:cNvSpPr/>
                <p:nvPr/>
              </p:nvSpPr>
              <p:spPr>
                <a:xfrm>
                  <a:off x="8373835" y="1899010"/>
                  <a:ext cx="123825" cy="12382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椭圆 64">
                  <a:extLst>
                    <a:ext uri="{FF2B5EF4-FFF2-40B4-BE49-F238E27FC236}">
                      <a16:creationId xmlns:a16="http://schemas.microsoft.com/office/drawing/2014/main" id="{6BBA808E-5BED-F0EE-1B05-AC5216C2A27C}"/>
                    </a:ext>
                  </a:extLst>
                </p:cNvPr>
                <p:cNvSpPr/>
                <p:nvPr/>
              </p:nvSpPr>
              <p:spPr>
                <a:xfrm>
                  <a:off x="10148208" y="2606928"/>
                  <a:ext cx="123825" cy="12382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6186F34B-0A38-6994-6D3F-9E6CAD1446C8}"/>
                  </a:ext>
                </a:extLst>
              </p:cNvPr>
              <p:cNvGrpSpPr/>
              <p:nvPr/>
            </p:nvGrpSpPr>
            <p:grpSpPr>
              <a:xfrm>
                <a:off x="6313764" y="1234810"/>
                <a:ext cx="7220541" cy="1837631"/>
                <a:chOff x="6313766" y="1234811"/>
                <a:chExt cx="7220541" cy="1837631"/>
              </a:xfrm>
            </p:grpSpPr>
            <p:sp>
              <p:nvSpPr>
                <p:cNvPr id="56" name="平行四边形 55">
                  <a:extLst>
                    <a:ext uri="{FF2B5EF4-FFF2-40B4-BE49-F238E27FC236}">
                      <a16:creationId xmlns:a16="http://schemas.microsoft.com/office/drawing/2014/main" id="{9D53CBA8-65EF-35F9-F2E6-41202C74ECC0}"/>
                    </a:ext>
                  </a:extLst>
                </p:cNvPr>
                <p:cNvSpPr/>
                <p:nvPr/>
              </p:nvSpPr>
              <p:spPr>
                <a:xfrm>
                  <a:off x="6313766" y="1234811"/>
                  <a:ext cx="7220541" cy="1837631"/>
                </a:xfrm>
                <a:prstGeom prst="parallelogram">
                  <a:avLst>
                    <a:gd name="adj" fmla="val 89835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251698EB-6A03-570C-3FB5-09CD53CB377C}"/>
                    </a:ext>
                  </a:extLst>
                </p:cNvPr>
                <p:cNvSpPr/>
                <p:nvPr/>
              </p:nvSpPr>
              <p:spPr>
                <a:xfrm>
                  <a:off x="7317922" y="2798443"/>
                  <a:ext cx="123825" cy="12382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83BDEA32-2876-AE16-8870-E98CE6461CEC}"/>
                    </a:ext>
                  </a:extLst>
                </p:cNvPr>
                <p:cNvSpPr/>
                <p:nvPr/>
              </p:nvSpPr>
              <p:spPr>
                <a:xfrm>
                  <a:off x="8852126" y="2353528"/>
                  <a:ext cx="123825" cy="12382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44988854-3B3A-30D2-C56E-B4EAC8C8393C}"/>
                    </a:ext>
                  </a:extLst>
                </p:cNvPr>
                <p:cNvSpPr/>
                <p:nvPr/>
              </p:nvSpPr>
              <p:spPr>
                <a:xfrm>
                  <a:off x="8352298" y="1795725"/>
                  <a:ext cx="123825" cy="12382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0" name="椭圆 59">
                  <a:extLst>
                    <a:ext uri="{FF2B5EF4-FFF2-40B4-BE49-F238E27FC236}">
                      <a16:creationId xmlns:a16="http://schemas.microsoft.com/office/drawing/2014/main" id="{CD0D5788-A909-0404-49C6-0209BF9E4671}"/>
                    </a:ext>
                  </a:extLst>
                </p:cNvPr>
                <p:cNvSpPr/>
                <p:nvPr/>
              </p:nvSpPr>
              <p:spPr>
                <a:xfrm>
                  <a:off x="10148208" y="2606928"/>
                  <a:ext cx="123825" cy="123825"/>
                </a:xfrm>
                <a:prstGeom prst="ellipse">
                  <a:avLst/>
                </a:prstGeom>
                <a:solidFill>
                  <a:srgbClr val="C0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D96B4FEC-15A4-675D-210B-E5BB06A77BD7}"/>
                  </a:ext>
                </a:extLst>
              </p:cNvPr>
              <p:cNvCxnSpPr>
                <a:stCxn id="58" idx="1"/>
                <a:endCxn id="59" idx="5"/>
              </p:cNvCxnSpPr>
              <p:nvPr/>
            </p:nvCxnSpPr>
            <p:spPr>
              <a:xfrm flipH="1" flipV="1">
                <a:off x="8457987" y="1901415"/>
                <a:ext cx="412271" cy="47024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37EDCF88-A9BF-3848-DA71-DEC60866D3BF}"/>
                  </a:ext>
                </a:extLst>
              </p:cNvPr>
              <p:cNvCxnSpPr>
                <a:cxnSpLocks/>
                <a:stCxn id="57" idx="6"/>
                <a:endCxn id="58" idx="2"/>
              </p:cNvCxnSpPr>
              <p:nvPr/>
            </p:nvCxnSpPr>
            <p:spPr>
              <a:xfrm flipV="1">
                <a:off x="7441745" y="2415440"/>
                <a:ext cx="1410379" cy="44491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6033436B-A448-1801-8A1D-CC29BA315086}"/>
                  </a:ext>
                </a:extLst>
              </p:cNvPr>
              <p:cNvCxnSpPr>
                <a:stCxn id="58" idx="6"/>
                <a:endCxn id="60" idx="2"/>
              </p:cNvCxnSpPr>
              <p:nvPr/>
            </p:nvCxnSpPr>
            <p:spPr>
              <a:xfrm>
                <a:off x="8975949" y="2415440"/>
                <a:ext cx="1172257" cy="2534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C08487C0-C42B-E24C-8B2A-71C485986C0C}"/>
                  </a:ext>
                </a:extLst>
              </p:cNvPr>
              <p:cNvCxnSpPr>
                <a:stCxn id="59" idx="3"/>
                <a:endCxn id="57" idx="7"/>
              </p:cNvCxnSpPr>
              <p:nvPr/>
            </p:nvCxnSpPr>
            <p:spPr>
              <a:xfrm flipH="1">
                <a:off x="7423611" y="1901415"/>
                <a:ext cx="946819" cy="91516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8CAE73CA-A6C7-2E46-1FB4-08ECAF362075}"/>
                  </a:ext>
                </a:extLst>
              </p:cNvPr>
              <p:cNvSpPr/>
              <p:nvPr/>
            </p:nvSpPr>
            <p:spPr>
              <a:xfrm>
                <a:off x="10637156" y="2064355"/>
                <a:ext cx="123825" cy="123825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5" name="直接连接符 54">
                <a:extLst>
                  <a:ext uri="{FF2B5EF4-FFF2-40B4-BE49-F238E27FC236}">
                    <a16:creationId xmlns:a16="http://schemas.microsoft.com/office/drawing/2014/main" id="{3442ECB7-EDA7-42FF-0C91-85AFEDC83AF1}"/>
                  </a:ext>
                </a:extLst>
              </p:cNvPr>
              <p:cNvCxnSpPr>
                <a:stCxn id="54" idx="3"/>
                <a:endCxn id="60" idx="7"/>
              </p:cNvCxnSpPr>
              <p:nvPr/>
            </p:nvCxnSpPr>
            <p:spPr>
              <a:xfrm flipH="1">
                <a:off x="10253897" y="2170046"/>
                <a:ext cx="401393" cy="45501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03C9AAD-B666-1199-23A9-92A8495F76B1}"/>
                </a:ext>
              </a:extLst>
            </p:cNvPr>
            <p:cNvCxnSpPr>
              <a:cxnSpLocks/>
              <a:stCxn id="57" idx="4"/>
              <a:endCxn id="16" idx="0"/>
            </p:cNvCxnSpPr>
            <p:nvPr/>
          </p:nvCxnSpPr>
          <p:spPr>
            <a:xfrm flipH="1">
              <a:off x="7379830" y="2922267"/>
              <a:ext cx="3" cy="271734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8156A7EB-F38D-E9C2-3914-C5115B92E169}"/>
                </a:ext>
              </a:extLst>
            </p:cNvPr>
            <p:cNvCxnSpPr>
              <a:cxnSpLocks/>
              <a:stCxn id="59" idx="4"/>
              <a:endCxn id="18" idx="0"/>
            </p:cNvCxnSpPr>
            <p:nvPr/>
          </p:nvCxnSpPr>
          <p:spPr>
            <a:xfrm flipH="1">
              <a:off x="8414206" y="1919549"/>
              <a:ext cx="3" cy="271734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864C0013-F276-1727-199E-3168A400E2E8}"/>
                </a:ext>
              </a:extLst>
            </p:cNvPr>
            <p:cNvCxnSpPr>
              <a:cxnSpLocks/>
              <a:stCxn id="58" idx="4"/>
              <a:endCxn id="17" idx="0"/>
            </p:cNvCxnSpPr>
            <p:nvPr/>
          </p:nvCxnSpPr>
          <p:spPr>
            <a:xfrm flipH="1">
              <a:off x="8914034" y="2477352"/>
              <a:ext cx="3" cy="271734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8D21DAAC-CF36-0AC6-46F0-ADE1C0585514}"/>
                </a:ext>
              </a:extLst>
            </p:cNvPr>
            <p:cNvCxnSpPr>
              <a:cxnSpLocks/>
              <a:stCxn id="60" idx="4"/>
              <a:endCxn id="19" idx="0"/>
            </p:cNvCxnSpPr>
            <p:nvPr/>
          </p:nvCxnSpPr>
          <p:spPr>
            <a:xfrm flipH="1">
              <a:off x="10210116" y="2730752"/>
              <a:ext cx="3" cy="271734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7D0B808-5AF5-BA61-C39E-4C80174E282C}"/>
                </a:ext>
              </a:extLst>
            </p:cNvPr>
            <p:cNvCxnSpPr>
              <a:cxnSpLocks/>
              <a:stCxn id="54" idx="4"/>
              <a:endCxn id="24" idx="0"/>
            </p:cNvCxnSpPr>
            <p:nvPr/>
          </p:nvCxnSpPr>
          <p:spPr>
            <a:xfrm flipH="1">
              <a:off x="10699066" y="2188180"/>
              <a:ext cx="3" cy="2717345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lgDashDot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B42A3F3B-087E-21D4-8DBE-D214495217C9}"/>
                </a:ext>
              </a:extLst>
            </p:cNvPr>
            <p:cNvSpPr/>
            <p:nvPr/>
          </p:nvSpPr>
          <p:spPr>
            <a:xfrm>
              <a:off x="7317919" y="5639613"/>
              <a:ext cx="123825" cy="12382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116DD5B-E658-3066-F172-28C8F63E896C}"/>
                </a:ext>
              </a:extLst>
            </p:cNvPr>
            <p:cNvSpPr/>
            <p:nvPr/>
          </p:nvSpPr>
          <p:spPr>
            <a:xfrm>
              <a:off x="8852123" y="5194698"/>
              <a:ext cx="123825" cy="12382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F9A3D277-4477-8D83-0631-66C1A469DA4D}"/>
                </a:ext>
              </a:extLst>
            </p:cNvPr>
            <p:cNvSpPr/>
            <p:nvPr/>
          </p:nvSpPr>
          <p:spPr>
            <a:xfrm>
              <a:off x="10148205" y="5448098"/>
              <a:ext cx="123825" cy="12382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764C9801-92FE-D80C-BC3F-70890675E457}"/>
                </a:ext>
              </a:extLst>
            </p:cNvPr>
            <p:cNvSpPr/>
            <p:nvPr/>
          </p:nvSpPr>
          <p:spPr>
            <a:xfrm>
              <a:off x="7317917" y="5639612"/>
              <a:ext cx="123825" cy="12382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C76CAC0-1BDA-3357-807F-47ECFD016C46}"/>
                </a:ext>
              </a:extLst>
            </p:cNvPr>
            <p:cNvSpPr/>
            <p:nvPr/>
          </p:nvSpPr>
          <p:spPr>
            <a:xfrm>
              <a:off x="8852121" y="5194697"/>
              <a:ext cx="123825" cy="12382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228BE5BC-226E-022B-2055-5EC8DEE9EB1C}"/>
                </a:ext>
              </a:extLst>
            </p:cNvPr>
            <p:cNvSpPr/>
            <p:nvPr/>
          </p:nvSpPr>
          <p:spPr>
            <a:xfrm>
              <a:off x="8352293" y="4636894"/>
              <a:ext cx="123825" cy="12382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B289B1C3-D269-A302-9DD3-1FDBA587400B}"/>
                </a:ext>
              </a:extLst>
            </p:cNvPr>
            <p:cNvSpPr/>
            <p:nvPr/>
          </p:nvSpPr>
          <p:spPr>
            <a:xfrm>
              <a:off x="10148203" y="5448097"/>
              <a:ext cx="123825" cy="12382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82764193-EE24-DE3F-9B9A-7A8F27DFEB36}"/>
                </a:ext>
              </a:extLst>
            </p:cNvPr>
            <p:cNvCxnSpPr>
              <a:cxnSpLocks/>
              <a:stCxn id="17" idx="1"/>
              <a:endCxn id="18" idx="5"/>
            </p:cNvCxnSpPr>
            <p:nvPr/>
          </p:nvCxnSpPr>
          <p:spPr>
            <a:xfrm flipH="1" flipV="1">
              <a:off x="8457984" y="4742585"/>
              <a:ext cx="412271" cy="47024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7687A397-698E-0511-34BA-C6F560643370}"/>
                </a:ext>
              </a:extLst>
            </p:cNvPr>
            <p:cNvCxnSpPr>
              <a:cxnSpLocks/>
              <a:stCxn id="16" idx="6"/>
              <a:endCxn id="17" idx="2"/>
            </p:cNvCxnSpPr>
            <p:nvPr/>
          </p:nvCxnSpPr>
          <p:spPr>
            <a:xfrm flipV="1">
              <a:off x="7441742" y="5256610"/>
              <a:ext cx="1410379" cy="4449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5F0DC376-353A-8AB4-2880-83E9E8796245}"/>
                </a:ext>
              </a:extLst>
            </p:cNvPr>
            <p:cNvCxnSpPr>
              <a:cxnSpLocks/>
              <a:stCxn id="17" idx="6"/>
              <a:endCxn id="19" idx="2"/>
            </p:cNvCxnSpPr>
            <p:nvPr/>
          </p:nvCxnSpPr>
          <p:spPr>
            <a:xfrm>
              <a:off x="8975946" y="5256610"/>
              <a:ext cx="1172257" cy="253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B3A2B45B-D8B8-127E-07E6-75003046FC66}"/>
                </a:ext>
              </a:extLst>
            </p:cNvPr>
            <p:cNvCxnSpPr>
              <a:cxnSpLocks/>
              <a:stCxn id="18" idx="3"/>
              <a:endCxn id="16" idx="7"/>
            </p:cNvCxnSpPr>
            <p:nvPr/>
          </p:nvCxnSpPr>
          <p:spPr>
            <a:xfrm flipH="1">
              <a:off x="7423608" y="4742585"/>
              <a:ext cx="946819" cy="91516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9EDAE366-B066-57CE-F275-A66781995DCB}"/>
                </a:ext>
              </a:extLst>
            </p:cNvPr>
            <p:cNvSpPr/>
            <p:nvPr/>
          </p:nvSpPr>
          <p:spPr>
            <a:xfrm>
              <a:off x="10637153" y="4905525"/>
              <a:ext cx="123825" cy="123825"/>
            </a:xfrm>
            <a:prstGeom prst="ellipse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006E3279-D36D-714E-1870-85FECD2EF550}"/>
                </a:ext>
              </a:extLst>
            </p:cNvPr>
            <p:cNvCxnSpPr>
              <a:cxnSpLocks/>
              <a:stCxn id="24" idx="3"/>
              <a:endCxn id="19" idx="7"/>
            </p:cNvCxnSpPr>
            <p:nvPr/>
          </p:nvCxnSpPr>
          <p:spPr>
            <a:xfrm flipH="1">
              <a:off x="10253894" y="5011216"/>
              <a:ext cx="401393" cy="4550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43585A9C-EAD4-7AA0-D842-D2125ED40323}"/>
                </a:ext>
              </a:extLst>
            </p:cNvPr>
            <p:cNvSpPr/>
            <p:nvPr/>
          </p:nvSpPr>
          <p:spPr>
            <a:xfrm>
              <a:off x="9642066" y="4802092"/>
              <a:ext cx="123825" cy="123825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4093A29D-DC9A-B772-928A-522BCCD40564}"/>
                </a:ext>
              </a:extLst>
            </p:cNvPr>
            <p:cNvCxnSpPr>
              <a:cxnSpLocks/>
              <a:stCxn id="17" idx="7"/>
              <a:endCxn id="26" idx="2"/>
            </p:cNvCxnSpPr>
            <p:nvPr/>
          </p:nvCxnSpPr>
          <p:spPr>
            <a:xfrm flipV="1">
              <a:off x="8957812" y="4864005"/>
              <a:ext cx="684254" cy="34882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397D9F4D-BFAE-893B-829A-E1E3DC5257A6}"/>
                </a:ext>
              </a:extLst>
            </p:cNvPr>
            <p:cNvCxnSpPr>
              <a:cxnSpLocks/>
              <a:stCxn id="26" idx="5"/>
              <a:endCxn id="19" idx="1"/>
            </p:cNvCxnSpPr>
            <p:nvPr/>
          </p:nvCxnSpPr>
          <p:spPr>
            <a:xfrm>
              <a:off x="9747757" y="4907783"/>
              <a:ext cx="418580" cy="55844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35C83F26-7239-0AEC-0B69-401087CF9426}"/>
                </a:ext>
              </a:extLst>
            </p:cNvPr>
            <p:cNvSpPr/>
            <p:nvPr/>
          </p:nvSpPr>
          <p:spPr>
            <a:xfrm>
              <a:off x="8290377" y="5079939"/>
              <a:ext cx="123825" cy="123825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BE4014D6-6688-4F6B-DF20-54BF03CE2131}"/>
                </a:ext>
              </a:extLst>
            </p:cNvPr>
            <p:cNvCxnSpPr>
              <a:cxnSpLocks/>
              <a:stCxn id="17" idx="2"/>
              <a:endCxn id="29" idx="6"/>
            </p:cNvCxnSpPr>
            <p:nvPr/>
          </p:nvCxnSpPr>
          <p:spPr>
            <a:xfrm flipH="1" flipV="1">
              <a:off x="8414202" y="5141852"/>
              <a:ext cx="437919" cy="11475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75E3B379-71EB-8B61-A545-86613EE30760}"/>
                </a:ext>
              </a:extLst>
            </p:cNvPr>
            <p:cNvCxnSpPr>
              <a:cxnSpLocks/>
              <a:stCxn id="29" idx="0"/>
              <a:endCxn id="18" idx="4"/>
            </p:cNvCxnSpPr>
            <p:nvPr/>
          </p:nvCxnSpPr>
          <p:spPr>
            <a:xfrm flipV="1">
              <a:off x="8352290" y="4760719"/>
              <a:ext cx="61916" cy="3192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CA307FA2-621D-82DB-D0ED-C71AA14475B8}"/>
                </a:ext>
              </a:extLst>
            </p:cNvPr>
            <p:cNvSpPr/>
            <p:nvPr/>
          </p:nvSpPr>
          <p:spPr>
            <a:xfrm>
              <a:off x="7015158" y="5259485"/>
              <a:ext cx="123825" cy="123825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DC6B7A42-8128-286E-57DB-C0C8703047A3}"/>
                </a:ext>
              </a:extLst>
            </p:cNvPr>
            <p:cNvSpPr/>
            <p:nvPr/>
          </p:nvSpPr>
          <p:spPr>
            <a:xfrm>
              <a:off x="8598913" y="5655877"/>
              <a:ext cx="123825" cy="123825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EFD5176-091D-CB6E-56E6-DA9A552F82F3}"/>
                </a:ext>
              </a:extLst>
            </p:cNvPr>
            <p:cNvCxnSpPr>
              <a:cxnSpLocks/>
              <a:stCxn id="16" idx="1"/>
              <a:endCxn id="32" idx="5"/>
            </p:cNvCxnSpPr>
            <p:nvPr/>
          </p:nvCxnSpPr>
          <p:spPr>
            <a:xfrm flipH="1" flipV="1">
              <a:off x="7120849" y="5365176"/>
              <a:ext cx="215202" cy="2925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547E82FA-EFB6-3464-A78F-585852E9038F}"/>
                </a:ext>
              </a:extLst>
            </p:cNvPr>
            <p:cNvCxnSpPr>
              <a:cxnSpLocks/>
              <a:stCxn id="17" idx="4"/>
              <a:endCxn id="33" idx="7"/>
            </p:cNvCxnSpPr>
            <p:nvPr/>
          </p:nvCxnSpPr>
          <p:spPr>
            <a:xfrm flipH="1">
              <a:off x="8704604" y="5318522"/>
              <a:ext cx="209430" cy="35548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E7E5D1D9-E1C8-A9D7-A8EB-7DC406C8B481}"/>
                </a:ext>
              </a:extLst>
            </p:cNvPr>
            <p:cNvCxnSpPr>
              <a:cxnSpLocks/>
              <a:endCxn id="16" idx="5"/>
            </p:cNvCxnSpPr>
            <p:nvPr/>
          </p:nvCxnSpPr>
          <p:spPr>
            <a:xfrm flipH="1">
              <a:off x="7423608" y="5726856"/>
              <a:ext cx="1169079" cy="1844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8062F806-A3ED-3E3F-3177-3EF07A590A47}"/>
                </a:ext>
              </a:extLst>
            </p:cNvPr>
            <p:cNvGrpSpPr/>
            <p:nvPr/>
          </p:nvGrpSpPr>
          <p:grpSpPr>
            <a:xfrm>
              <a:off x="6324593" y="3185839"/>
              <a:ext cx="5178879" cy="1303910"/>
              <a:chOff x="923606" y="2816576"/>
              <a:chExt cx="5178879" cy="1303910"/>
            </a:xfrm>
          </p:grpSpPr>
          <p:sp>
            <p:nvSpPr>
              <p:cNvPr id="41" name="平行四边形 40">
                <a:extLst>
                  <a:ext uri="{FF2B5EF4-FFF2-40B4-BE49-F238E27FC236}">
                    <a16:creationId xmlns:a16="http://schemas.microsoft.com/office/drawing/2014/main" id="{0F238D7D-4744-0FAB-AA62-BE66EE9B1B33}"/>
                  </a:ext>
                </a:extLst>
              </p:cNvPr>
              <p:cNvSpPr/>
              <p:nvPr/>
            </p:nvSpPr>
            <p:spPr>
              <a:xfrm>
                <a:off x="923606" y="2816576"/>
                <a:ext cx="5178879" cy="1303910"/>
              </a:xfrm>
              <a:prstGeom prst="parallelogram">
                <a:avLst>
                  <a:gd name="adj" fmla="val 89835"/>
                </a:avLst>
              </a:prstGeom>
              <a:solidFill>
                <a:srgbClr val="DEEBF7">
                  <a:alpha val="20000"/>
                </a:srgbClr>
              </a:solidFill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0B1E2A93-7B38-04BC-D532-C34F8780D44E}"/>
                  </a:ext>
                </a:extLst>
              </p:cNvPr>
              <p:cNvSpPr/>
              <p:nvPr/>
            </p:nvSpPr>
            <p:spPr>
              <a:xfrm>
                <a:off x="1916926" y="3851532"/>
                <a:ext cx="123825" cy="123825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AEBEEA3D-9809-F76F-AD69-76F208B1B116}"/>
                  </a:ext>
                </a:extLst>
              </p:cNvPr>
              <p:cNvSpPr/>
              <p:nvPr/>
            </p:nvSpPr>
            <p:spPr>
              <a:xfrm>
                <a:off x="2951302" y="2848814"/>
                <a:ext cx="123825" cy="123825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9CC28EC4-5C2F-1DC1-3F37-BBE931E6F1AC}"/>
                  </a:ext>
                </a:extLst>
              </p:cNvPr>
              <p:cNvSpPr/>
              <p:nvPr/>
            </p:nvSpPr>
            <p:spPr>
              <a:xfrm>
                <a:off x="4747212" y="3660017"/>
                <a:ext cx="123825" cy="123825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4CF8AEBF-52A2-6B24-6522-2CCAA42862B2}"/>
                  </a:ext>
                </a:extLst>
              </p:cNvPr>
              <p:cNvCxnSpPr>
                <a:stCxn id="42" idx="7"/>
                <a:endCxn id="43" idx="3"/>
              </p:cNvCxnSpPr>
              <p:nvPr/>
            </p:nvCxnSpPr>
            <p:spPr>
              <a:xfrm flipV="1">
                <a:off x="2022617" y="2954505"/>
                <a:ext cx="946819" cy="915161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C237BC60-2837-76BF-B2C5-6DFDD143F964}"/>
                  </a:ext>
                </a:extLst>
              </p:cNvPr>
              <p:cNvCxnSpPr>
                <a:stCxn id="43" idx="6"/>
                <a:endCxn id="44" idx="1"/>
              </p:cNvCxnSpPr>
              <p:nvPr/>
            </p:nvCxnSpPr>
            <p:spPr>
              <a:xfrm>
                <a:off x="3075127" y="2910727"/>
                <a:ext cx="1690219" cy="767424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295E7BA6-5E20-7595-C1E2-7A8F2306A52C}"/>
                  </a:ext>
                </a:extLst>
              </p:cNvPr>
              <p:cNvCxnSpPr>
                <a:stCxn id="42" idx="6"/>
                <a:endCxn id="44" idx="2"/>
              </p:cNvCxnSpPr>
              <p:nvPr/>
            </p:nvCxnSpPr>
            <p:spPr>
              <a:xfrm flipV="1">
                <a:off x="2040751" y="3721930"/>
                <a:ext cx="2706461" cy="191515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1E6700A7-4213-203F-75CD-BD7DC72DD45B}"/>
                </a:ext>
              </a:extLst>
            </p:cNvPr>
            <p:cNvSpPr txBox="1"/>
            <p:nvPr/>
          </p:nvSpPr>
          <p:spPr>
            <a:xfrm>
              <a:off x="6362279" y="1857635"/>
              <a:ext cx="712902" cy="579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L1</a:t>
              </a:r>
              <a:endParaRPr lang="zh-CN" altLang="en-US" b="1" dirty="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9DD4E471-928B-5916-45DA-51A6FD303197}"/>
                </a:ext>
              </a:extLst>
            </p:cNvPr>
            <p:cNvSpPr txBox="1"/>
            <p:nvPr/>
          </p:nvSpPr>
          <p:spPr>
            <a:xfrm>
              <a:off x="6340046" y="3082331"/>
              <a:ext cx="1014981" cy="579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L0-1</a:t>
              </a:r>
              <a:endParaRPr lang="zh-CN" altLang="en-US" b="1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54486427-19D8-9136-920B-36450FFFE32D}"/>
                </a:ext>
              </a:extLst>
            </p:cNvPr>
            <p:cNvSpPr txBox="1"/>
            <p:nvPr/>
          </p:nvSpPr>
          <p:spPr>
            <a:xfrm>
              <a:off x="6313764" y="4574010"/>
              <a:ext cx="1014981" cy="5799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L0-0</a:t>
              </a:r>
              <a:endParaRPr lang="zh-CN" altLang="en-US" b="1" dirty="0"/>
            </a:p>
          </p:txBody>
        </p:sp>
      </p:grpSp>
      <p:sp>
        <p:nvSpPr>
          <p:cNvPr id="66" name="文本框 65">
            <a:extLst>
              <a:ext uri="{FF2B5EF4-FFF2-40B4-BE49-F238E27FC236}">
                <a16:creationId xmlns:a16="http://schemas.microsoft.com/office/drawing/2014/main" id="{FBC60CA8-8462-92E7-EC27-7254B0D4C557}"/>
              </a:ext>
            </a:extLst>
          </p:cNvPr>
          <p:cNvSpPr txBox="1"/>
          <p:nvPr/>
        </p:nvSpPr>
        <p:spPr>
          <a:xfrm>
            <a:off x="838200" y="1105190"/>
            <a:ext cx="1052667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n-ea"/>
              </a:rPr>
              <a:t>完成划分后，每个工作节点分别构建</a:t>
            </a:r>
            <a:r>
              <a:rPr lang="en-US" altLang="zh-CN" sz="2800" dirty="0">
                <a:latin typeface="+mn-ea"/>
              </a:rPr>
              <a:t>HNSW</a:t>
            </a:r>
            <a:r>
              <a:rPr lang="zh-CN" altLang="en-US" sz="2800" dirty="0">
                <a:latin typeface="+mn-ea"/>
              </a:rPr>
              <a:t>图，</a:t>
            </a:r>
            <a:r>
              <a:rPr lang="en-US" altLang="zh-CN" sz="2800" dirty="0">
                <a:latin typeface="+mn-ea"/>
              </a:rPr>
              <a:t>Orion</a:t>
            </a:r>
            <a:r>
              <a:rPr lang="zh-CN" altLang="en-US" sz="2800" dirty="0">
                <a:latin typeface="+mn-ea"/>
              </a:rPr>
              <a:t>调整构建和搜索的行为提高索引质量和性能表现</a:t>
            </a:r>
            <a:endParaRPr lang="en-US" altLang="zh-CN" sz="2800" dirty="0">
              <a:latin typeface="+mn-ea"/>
            </a:endParaRPr>
          </a:p>
          <a:p>
            <a:endParaRPr lang="zh-CN" altLang="en-US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A5F95F2-E590-10FE-40A1-8BBE2F347C95}"/>
              </a:ext>
            </a:extLst>
          </p:cNvPr>
          <p:cNvSpPr txBox="1"/>
          <p:nvPr/>
        </p:nvSpPr>
        <p:spPr>
          <a:xfrm>
            <a:off x="9819249" y="246044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导航层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30D7F552-DCA2-C7A2-A4D5-E8F0391B329D}"/>
              </a:ext>
            </a:extLst>
          </p:cNvPr>
          <p:cNvSpPr txBox="1"/>
          <p:nvPr/>
        </p:nvSpPr>
        <p:spPr>
          <a:xfrm>
            <a:off x="9608453" y="35794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临时脚手架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5FD7359-8F2C-96E7-337F-468D99732AB9}"/>
              </a:ext>
            </a:extLst>
          </p:cNvPr>
          <p:cNvSpPr txBox="1"/>
          <p:nvPr/>
        </p:nvSpPr>
        <p:spPr>
          <a:xfrm>
            <a:off x="9626048" y="448229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分片底层</a:t>
            </a:r>
          </a:p>
        </p:txBody>
      </p:sp>
      <p:sp>
        <p:nvSpPr>
          <p:cNvPr id="73" name="平行四边形 72">
            <a:extLst>
              <a:ext uri="{FF2B5EF4-FFF2-40B4-BE49-F238E27FC236}">
                <a16:creationId xmlns:a16="http://schemas.microsoft.com/office/drawing/2014/main" id="{3669907B-D4CE-2AB7-D3F5-EF8AADA4A2A4}"/>
              </a:ext>
            </a:extLst>
          </p:cNvPr>
          <p:cNvSpPr/>
          <p:nvPr/>
        </p:nvSpPr>
        <p:spPr>
          <a:xfrm>
            <a:off x="6748814" y="2398004"/>
            <a:ext cx="3297865" cy="830319"/>
          </a:xfrm>
          <a:prstGeom prst="parallelogram">
            <a:avLst>
              <a:gd name="adj" fmla="val 89835"/>
            </a:avLst>
          </a:prstGeom>
          <a:solidFill>
            <a:srgbClr val="DEEBF7">
              <a:alpha val="20000"/>
            </a:srgb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1A8652E1-5A9C-A349-991F-9535EE4464BD}"/>
              </a:ext>
            </a:extLst>
          </p:cNvPr>
          <p:cNvSpPr txBox="1"/>
          <p:nvPr/>
        </p:nvSpPr>
        <p:spPr>
          <a:xfrm>
            <a:off x="8418091" y="2482591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Shard 0</a:t>
            </a:r>
            <a:endParaRPr lang="zh-CN" altLang="en-US" b="1" dirty="0"/>
          </a:p>
        </p:txBody>
      </p:sp>
      <p:sp>
        <p:nvSpPr>
          <p:cNvPr id="75" name="右大括号 74">
            <a:extLst>
              <a:ext uri="{FF2B5EF4-FFF2-40B4-BE49-F238E27FC236}">
                <a16:creationId xmlns:a16="http://schemas.microsoft.com/office/drawing/2014/main" id="{3A305A7B-1F15-15B7-F58B-91BB08410EBE}"/>
              </a:ext>
            </a:extLst>
          </p:cNvPr>
          <p:cNvSpPr/>
          <p:nvPr/>
        </p:nvSpPr>
        <p:spPr>
          <a:xfrm rot="10800000" flipH="1">
            <a:off x="10933007" y="3690635"/>
            <a:ext cx="280540" cy="1015230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F00A5233-AC34-9CEC-D7F7-86846B12B76D}"/>
              </a:ext>
            </a:extLst>
          </p:cNvPr>
          <p:cNvSpPr txBox="1"/>
          <p:nvPr/>
        </p:nvSpPr>
        <p:spPr>
          <a:xfrm>
            <a:off x="11209812" y="4001466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Shard 0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968096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2FBFC-BAAD-92A7-7ACF-DDABF2531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62"/>
            <a:ext cx="10515600" cy="1325563"/>
          </a:xfrm>
        </p:spPr>
        <p:txBody>
          <a:bodyPr/>
          <a:lstStyle/>
          <a:p>
            <a:r>
              <a:rPr lang="zh-CN" altLang="en-US" dirty="0"/>
              <a:t>自适应路由（</a:t>
            </a:r>
            <a:r>
              <a:rPr lang="en-US" altLang="zh-CN" dirty="0"/>
              <a:t>Adaptive Routine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3BF937B-FA76-A8F9-34B6-93667BE5AE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7149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zh-CN" altLang="en-US" sz="2800" b="0" dirty="0">
                    <a:latin typeface="+mn-ea"/>
                  </a:rPr>
                  <a:t>查询 </a:t>
                </a:r>
                <a:r>
                  <a:rPr lang="en-US" altLang="zh-CN" sz="2800" b="0" dirty="0">
                    <a:latin typeface="+mn-ea"/>
                  </a:rPr>
                  <a:t>q </a:t>
                </a:r>
                <a:r>
                  <a:rPr lang="zh-CN" altLang="en-US" sz="2800" b="0" dirty="0">
                    <a:latin typeface="+mn-ea"/>
                  </a:rPr>
                  <a:t>到达时</a:t>
                </a:r>
                <a:endParaRPr lang="en-US" altLang="zh-CN" sz="2800" b="0" dirty="0">
                  <a:latin typeface="+mn-ea"/>
                </a:endParaRPr>
              </a:p>
              <a:p>
                <a:pPr lvl="1"/>
                <a:r>
                  <a:rPr lang="zh-CN" altLang="en-US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判断应将其路由到哪些工作节点</a:t>
                </a:r>
                <a:endParaRPr lang="en-US" altLang="zh-CN" sz="24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/>
                <a:r>
                  <a:rPr lang="zh-CN" altLang="en-US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自适应工作节点搜索强度</a:t>
                </a:r>
                <a:endParaRPr lang="en-US" altLang="zh-CN" sz="24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/>
                <a:r>
                  <a:rPr lang="zh-CN" altLang="en-US" sz="2400" b="0" dirty="0">
                    <a:solidFill>
                      <a:srgbClr val="C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使节点承担的搜索开销与其预期贡献相匹配</a:t>
                </a:r>
                <a:endParaRPr lang="en-US" altLang="zh-CN" sz="2400" b="0" dirty="0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800" b="0" dirty="0">
                    <a:latin typeface="+mn-ea"/>
                  </a:rPr>
                  <a:t>自发现的动态路由</a:t>
                </a:r>
                <a:endParaRPr lang="en-US" altLang="zh-CN" sz="2800" b="0" dirty="0">
                  <a:latin typeface="+mn-ea"/>
                </a:endParaRPr>
              </a:p>
              <a:p>
                <a:pPr lvl="1"/>
                <a:r>
                  <a:rPr lang="zh-CN" altLang="en-US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先在导航图上执行标准搜索，得到</a:t>
                </a:r>
                <a:r>
                  <a:rPr lang="en-US" altLang="zh-CN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K</a:t>
                </a:r>
                <a:r>
                  <a:rPr lang="zh-CN" altLang="en-US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个路由结果点</a:t>
                </a:r>
                <a:endParaRPr lang="en-US" altLang="zh-CN" sz="24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/>
                <a:r>
                  <a:rPr lang="zh-CN" altLang="en-US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作为入口点直达</a:t>
                </a:r>
                <a:r>
                  <a:rPr lang="en-US" altLang="zh-CN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tag</a:t>
                </a:r>
                <a:r>
                  <a:rPr lang="zh-CN" altLang="en-US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对应的分片最底层（</a:t>
                </a:r>
                <a:r>
                  <a:rPr lang="en-US" altLang="zh-CN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context-aware</a:t>
                </a:r>
                <a:r>
                  <a:rPr lang="zh-CN" altLang="en-US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:endParaRPr lang="en-US" altLang="zh-CN" sz="24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sz="2800" b="0" dirty="0">
                    <a:latin typeface="+mn-ea"/>
                  </a:rPr>
                  <a:t>自适应本地搜索强度</a:t>
                </a:r>
                <a:endParaRPr lang="en-US" altLang="zh-CN" sz="2800" b="0" dirty="0">
                  <a:latin typeface="+mn-ea"/>
                </a:endParaRPr>
              </a:p>
              <a:p>
                <a:pPr lvl="1"/>
                <a:r>
                  <a:rPr lang="zh-CN" altLang="en-US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对所有工作节点使用统一的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𝑒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 smtClean="0">
                            <a:latin typeface="Cambria Math" panose="02040503050406030204" pitchFamily="18" charset="0"/>
                          </a:rPr>
                          <m:t>𝑠𝑒𝑎𝑟𝑐h</m:t>
                        </m:r>
                      </m:sub>
                    </m:sSub>
                  </m:oMath>
                </a14:m>
                <a:r>
                  <a:rPr lang="zh-CN" altLang="en-US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是低效的</a:t>
                </a:r>
                <a:endParaRPr lang="en-US" altLang="zh-CN" sz="24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/>
                <a:r>
                  <a:rPr lang="zh-CN" altLang="en-US" sz="2400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工作节点与查询的相关度不相同</a:t>
                </a:r>
                <a:endParaRPr lang="en-US" altLang="zh-CN" sz="2400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lvl="1"/>
                <a:r>
                  <a:rPr lang="zh-CN" altLang="en-US" sz="2400" b="0" dirty="0">
                    <a:solidFill>
                      <a:srgbClr val="C00000"/>
                    </a:solidFill>
                  </a:rPr>
                  <a:t>用入口点的数量来衡量预期贡献</a:t>
                </a:r>
                <a:endParaRPr lang="en-US" altLang="zh-CN" sz="2400" b="0" dirty="0">
                  <a:solidFill>
                    <a:srgbClr val="C0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𝑒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𝑠𝑒𝑎𝑟𝑐h</m:t>
                        </m:r>
                      </m:sub>
                    </m:sSub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) =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𝐸𝑃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)|+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zh-CN" altLang="en-US" sz="2400" b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3BF937B-FA76-A8F9-34B6-93667BE5AE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7149"/>
                <a:ext cx="10515600" cy="4351338"/>
              </a:xfrm>
              <a:blipFill>
                <a:blip r:embed="rId3"/>
                <a:stretch>
                  <a:fillRect l="-1043" t="-2801" b="-15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组合 87">
            <a:extLst>
              <a:ext uri="{FF2B5EF4-FFF2-40B4-BE49-F238E27FC236}">
                <a16:creationId xmlns:a16="http://schemas.microsoft.com/office/drawing/2014/main" id="{BD97A4F5-D8E3-7C16-C15C-30F3761CF289}"/>
              </a:ext>
            </a:extLst>
          </p:cNvPr>
          <p:cNvGrpSpPr/>
          <p:nvPr/>
        </p:nvGrpSpPr>
        <p:grpSpPr>
          <a:xfrm>
            <a:off x="6711725" y="4737139"/>
            <a:ext cx="4963364" cy="1333226"/>
            <a:chOff x="6017846" y="4161912"/>
            <a:chExt cx="4963364" cy="1333226"/>
          </a:xfrm>
        </p:grpSpPr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427E0141-83A9-21D2-935D-F87534BFAFB6}"/>
                </a:ext>
              </a:extLst>
            </p:cNvPr>
            <p:cNvGrpSpPr/>
            <p:nvPr/>
          </p:nvGrpSpPr>
          <p:grpSpPr>
            <a:xfrm>
              <a:off x="6017846" y="4161912"/>
              <a:ext cx="4963364" cy="1333226"/>
              <a:chOff x="7067315" y="3501347"/>
              <a:chExt cx="3096052" cy="831641"/>
            </a:xfrm>
          </p:grpSpPr>
          <p:grpSp>
            <p:nvGrpSpPr>
              <p:cNvPr id="95" name="组合 94">
                <a:extLst>
                  <a:ext uri="{FF2B5EF4-FFF2-40B4-BE49-F238E27FC236}">
                    <a16:creationId xmlns:a16="http://schemas.microsoft.com/office/drawing/2014/main" id="{3E3765AC-49D2-AA5A-86AC-2F796344E1F6}"/>
                  </a:ext>
                </a:extLst>
              </p:cNvPr>
              <p:cNvGrpSpPr/>
              <p:nvPr/>
            </p:nvGrpSpPr>
            <p:grpSpPr>
              <a:xfrm>
                <a:off x="7067315" y="3920158"/>
                <a:ext cx="3096052" cy="353896"/>
                <a:chOff x="3337967" y="1600200"/>
                <a:chExt cx="6499695" cy="742950"/>
              </a:xfrm>
            </p:grpSpPr>
            <p:sp>
              <p:nvSpPr>
                <p:cNvPr id="132" name="平行四边形 131">
                  <a:extLst>
                    <a:ext uri="{FF2B5EF4-FFF2-40B4-BE49-F238E27FC236}">
                      <a16:creationId xmlns:a16="http://schemas.microsoft.com/office/drawing/2014/main" id="{14457E2A-279C-C1D5-7F73-C9DB564D0B56}"/>
                    </a:ext>
                  </a:extLst>
                </p:cNvPr>
                <p:cNvSpPr/>
                <p:nvPr/>
              </p:nvSpPr>
              <p:spPr>
                <a:xfrm>
                  <a:off x="3337967" y="1600200"/>
                  <a:ext cx="6499695" cy="742950"/>
                </a:xfrm>
                <a:prstGeom prst="parallelogram">
                  <a:avLst>
                    <a:gd name="adj" fmla="val 248077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3" name="椭圆 132">
                  <a:extLst>
                    <a:ext uri="{FF2B5EF4-FFF2-40B4-BE49-F238E27FC236}">
                      <a16:creationId xmlns:a16="http://schemas.microsoft.com/office/drawing/2014/main" id="{AB2027D2-7A84-753B-5844-8D1DACB7F8A9}"/>
                    </a:ext>
                  </a:extLst>
                </p:cNvPr>
                <p:cNvSpPr/>
                <p:nvPr/>
              </p:nvSpPr>
              <p:spPr>
                <a:xfrm>
                  <a:off x="6134100" y="2152650"/>
                  <a:ext cx="123825" cy="123825"/>
                </a:xfrm>
                <a:prstGeom prst="ellipse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B14F33D0-92F3-8C51-F5EA-764DE8B9429D}"/>
                  </a:ext>
                </a:extLst>
              </p:cNvPr>
              <p:cNvSpPr/>
              <p:nvPr/>
            </p:nvSpPr>
            <p:spPr>
              <a:xfrm>
                <a:off x="8703792" y="3881091"/>
                <a:ext cx="754790" cy="370952"/>
              </a:xfrm>
              <a:prstGeom prst="ellipse">
                <a:avLst/>
              </a:prstGeom>
              <a:noFill/>
              <a:ln>
                <a:solidFill>
                  <a:srgbClr val="0070C0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B06E6D65-6ACF-74A0-E2A4-FE887D0723BA}"/>
                  </a:ext>
                </a:extLst>
              </p:cNvPr>
              <p:cNvSpPr/>
              <p:nvPr/>
            </p:nvSpPr>
            <p:spPr>
              <a:xfrm>
                <a:off x="7673281" y="4153820"/>
                <a:ext cx="58983" cy="58983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4A9B92F7-90EC-AC78-64AA-BB95816689F7}"/>
                  </a:ext>
                </a:extLst>
              </p:cNvPr>
              <p:cNvSpPr/>
              <p:nvPr/>
            </p:nvSpPr>
            <p:spPr>
              <a:xfrm>
                <a:off x="8172364" y="3956455"/>
                <a:ext cx="58983" cy="58983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7083BBF3-7E47-03B5-5C88-3B7972CCC0AF}"/>
                  </a:ext>
                </a:extLst>
              </p:cNvPr>
              <p:cNvSpPr/>
              <p:nvPr/>
            </p:nvSpPr>
            <p:spPr>
              <a:xfrm>
                <a:off x="9070713" y="3967420"/>
                <a:ext cx="58983" cy="58983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00" name="组合 99">
                <a:extLst>
                  <a:ext uri="{FF2B5EF4-FFF2-40B4-BE49-F238E27FC236}">
                    <a16:creationId xmlns:a16="http://schemas.microsoft.com/office/drawing/2014/main" id="{C220B26E-1BF2-D1F9-475E-18F72D406845}"/>
                  </a:ext>
                </a:extLst>
              </p:cNvPr>
              <p:cNvGrpSpPr/>
              <p:nvPr/>
            </p:nvGrpSpPr>
            <p:grpSpPr>
              <a:xfrm>
                <a:off x="7067315" y="3501347"/>
                <a:ext cx="3096052" cy="353896"/>
                <a:chOff x="3337966" y="2481263"/>
                <a:chExt cx="6499695" cy="742950"/>
              </a:xfrm>
            </p:grpSpPr>
            <p:grpSp>
              <p:nvGrpSpPr>
                <p:cNvPr id="123" name="组合 122">
                  <a:extLst>
                    <a:ext uri="{FF2B5EF4-FFF2-40B4-BE49-F238E27FC236}">
                      <a16:creationId xmlns:a16="http://schemas.microsoft.com/office/drawing/2014/main" id="{2E3DB22C-9B01-6302-7874-D2984932BEA1}"/>
                    </a:ext>
                  </a:extLst>
                </p:cNvPr>
                <p:cNvGrpSpPr/>
                <p:nvPr/>
              </p:nvGrpSpPr>
              <p:grpSpPr>
                <a:xfrm>
                  <a:off x="3337966" y="2481263"/>
                  <a:ext cx="6499695" cy="742950"/>
                  <a:chOff x="3337967" y="1600200"/>
                  <a:chExt cx="6499695" cy="742950"/>
                </a:xfrm>
              </p:grpSpPr>
              <p:sp>
                <p:nvSpPr>
                  <p:cNvPr id="130" name="平行四边形 129">
                    <a:extLst>
                      <a:ext uri="{FF2B5EF4-FFF2-40B4-BE49-F238E27FC236}">
                        <a16:creationId xmlns:a16="http://schemas.microsoft.com/office/drawing/2014/main" id="{30AEC1AA-4C85-F8F6-6B3E-67FBF48764A6}"/>
                      </a:ext>
                    </a:extLst>
                  </p:cNvPr>
                  <p:cNvSpPr/>
                  <p:nvPr/>
                </p:nvSpPr>
                <p:spPr>
                  <a:xfrm>
                    <a:off x="3337967" y="1600200"/>
                    <a:ext cx="6499695" cy="742950"/>
                  </a:xfrm>
                  <a:prstGeom prst="parallelogram">
                    <a:avLst>
                      <a:gd name="adj" fmla="val 248077"/>
                    </a:avLst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1" name="椭圆 130">
                    <a:extLst>
                      <a:ext uri="{FF2B5EF4-FFF2-40B4-BE49-F238E27FC236}">
                        <a16:creationId xmlns:a16="http://schemas.microsoft.com/office/drawing/2014/main" id="{9A2C65C6-C695-3697-2F76-A5EE1BADA411}"/>
                      </a:ext>
                    </a:extLst>
                  </p:cNvPr>
                  <p:cNvSpPr/>
                  <p:nvPr/>
                </p:nvSpPr>
                <p:spPr>
                  <a:xfrm>
                    <a:off x="6134100" y="2152650"/>
                    <a:ext cx="123825" cy="123825"/>
                  </a:xfrm>
                  <a:prstGeom prst="ellipse">
                    <a:avLst/>
                  </a:prstGeom>
                  <a:solidFill>
                    <a:srgbClr val="0070C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124" name="椭圆 123">
                  <a:extLst>
                    <a:ext uri="{FF2B5EF4-FFF2-40B4-BE49-F238E27FC236}">
                      <a16:creationId xmlns:a16="http://schemas.microsoft.com/office/drawing/2014/main" id="{343AA322-74EC-569A-38AD-020A589921DF}"/>
                    </a:ext>
                  </a:extLst>
                </p:cNvPr>
                <p:cNvSpPr/>
                <p:nvPr/>
              </p:nvSpPr>
              <p:spPr>
                <a:xfrm>
                  <a:off x="4610099" y="2971800"/>
                  <a:ext cx="123825" cy="123825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5" name="椭圆 124">
                  <a:extLst>
                    <a:ext uri="{FF2B5EF4-FFF2-40B4-BE49-F238E27FC236}">
                      <a16:creationId xmlns:a16="http://schemas.microsoft.com/office/drawing/2014/main" id="{667CE378-B9D5-AB02-2ED3-EF57C89AE845}"/>
                    </a:ext>
                  </a:extLst>
                </p:cNvPr>
                <p:cNvSpPr/>
                <p:nvPr/>
              </p:nvSpPr>
              <p:spPr>
                <a:xfrm>
                  <a:off x="5657849" y="2557463"/>
                  <a:ext cx="123825" cy="123825"/>
                </a:xfrm>
                <a:prstGeom prst="ellipse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26" name="椭圆 125">
                  <a:extLst>
                    <a:ext uri="{FF2B5EF4-FFF2-40B4-BE49-F238E27FC236}">
                      <a16:creationId xmlns:a16="http://schemas.microsoft.com/office/drawing/2014/main" id="{B09727AE-F7EF-85B5-CA57-445C61A1C883}"/>
                    </a:ext>
                  </a:extLst>
                </p:cNvPr>
                <p:cNvSpPr/>
                <p:nvPr/>
              </p:nvSpPr>
              <p:spPr>
                <a:xfrm>
                  <a:off x="7543799" y="2580482"/>
                  <a:ext cx="123825" cy="123825"/>
                </a:xfrm>
                <a:prstGeom prst="ellipse">
                  <a:avLst/>
                </a:prstGeom>
                <a:solidFill>
                  <a:srgbClr val="0070C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127" name="直接连接符 126">
                  <a:extLst>
                    <a:ext uri="{FF2B5EF4-FFF2-40B4-BE49-F238E27FC236}">
                      <a16:creationId xmlns:a16="http://schemas.microsoft.com/office/drawing/2014/main" id="{0A3BD4AE-7853-5FB3-6701-0ED85FCA962A}"/>
                    </a:ext>
                  </a:extLst>
                </p:cNvPr>
                <p:cNvCxnSpPr>
                  <a:cxnSpLocks/>
                  <a:stCxn id="125" idx="5"/>
                  <a:endCxn id="131" idx="0"/>
                </p:cNvCxnSpPr>
                <p:nvPr/>
              </p:nvCxnSpPr>
              <p:spPr>
                <a:xfrm>
                  <a:off x="5763540" y="2663154"/>
                  <a:ext cx="432472" cy="370559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>
                  <a:extLst>
                    <a:ext uri="{FF2B5EF4-FFF2-40B4-BE49-F238E27FC236}">
                      <a16:creationId xmlns:a16="http://schemas.microsoft.com/office/drawing/2014/main" id="{201AEC35-7E3D-55A8-59F8-0C4D84A7B2F9}"/>
                    </a:ext>
                  </a:extLst>
                </p:cNvPr>
                <p:cNvCxnSpPr>
                  <a:cxnSpLocks/>
                  <a:stCxn id="131" idx="7"/>
                  <a:endCxn id="126" idx="2"/>
                </p:cNvCxnSpPr>
                <p:nvPr/>
              </p:nvCxnSpPr>
              <p:spPr>
                <a:xfrm flipV="1">
                  <a:off x="6239790" y="2642395"/>
                  <a:ext cx="1304009" cy="409452"/>
                </a:xfrm>
                <a:prstGeom prst="line">
                  <a:avLst/>
                </a:prstGeom>
                <a:ln w="19050">
                  <a:solidFill>
                    <a:srgbClr val="7030A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>
                  <a:extLst>
                    <a:ext uri="{FF2B5EF4-FFF2-40B4-BE49-F238E27FC236}">
                      <a16:creationId xmlns:a16="http://schemas.microsoft.com/office/drawing/2014/main" id="{D28E4FCC-1900-7A11-483C-C0DC8B923B83}"/>
                    </a:ext>
                  </a:extLst>
                </p:cNvPr>
                <p:cNvCxnSpPr>
                  <a:cxnSpLocks/>
                  <a:stCxn id="124" idx="7"/>
                  <a:endCxn id="125" idx="3"/>
                </p:cNvCxnSpPr>
                <p:nvPr/>
              </p:nvCxnSpPr>
              <p:spPr>
                <a:xfrm flipV="1">
                  <a:off x="4715790" y="2663154"/>
                  <a:ext cx="960193" cy="3267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ED0FA8F7-2711-3168-5E7F-8FCDA9EE4250}"/>
                  </a:ext>
                </a:extLst>
              </p:cNvPr>
              <p:cNvSpPr/>
              <p:nvPr/>
            </p:nvSpPr>
            <p:spPr>
              <a:xfrm>
                <a:off x="8729735" y="3991123"/>
                <a:ext cx="58983" cy="58983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E5004AD0-E75C-A78F-6929-BB3924C63441}"/>
                  </a:ext>
                </a:extLst>
              </p:cNvPr>
              <p:cNvSpPr/>
              <p:nvPr/>
            </p:nvSpPr>
            <p:spPr>
              <a:xfrm>
                <a:off x="9045930" y="4175633"/>
                <a:ext cx="58983" cy="58983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5984B0F0-C773-A6F3-F442-4D41EEB14B48}"/>
                  </a:ext>
                </a:extLst>
              </p:cNvPr>
              <p:cNvSpPr/>
              <p:nvPr/>
            </p:nvSpPr>
            <p:spPr>
              <a:xfrm>
                <a:off x="9277152" y="4026403"/>
                <a:ext cx="58983" cy="58983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FB7843E6-FAE8-590A-43EF-A7B1E9196B5C}"/>
                  </a:ext>
                </a:extLst>
              </p:cNvPr>
              <p:cNvSpPr/>
              <p:nvPr/>
            </p:nvSpPr>
            <p:spPr>
              <a:xfrm>
                <a:off x="7902405" y="4026403"/>
                <a:ext cx="58983" cy="58983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9AD535CD-8B6D-E444-C359-FF1E0FB1BEBE}"/>
                  </a:ext>
                </a:extLst>
              </p:cNvPr>
              <p:cNvSpPr/>
              <p:nvPr/>
            </p:nvSpPr>
            <p:spPr>
              <a:xfrm>
                <a:off x="9742207" y="3947904"/>
                <a:ext cx="58983" cy="58983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77F0B391-4CD9-DEB7-DD57-E57991FF36A1}"/>
                  </a:ext>
                </a:extLst>
              </p:cNvPr>
              <p:cNvSpPr/>
              <p:nvPr/>
            </p:nvSpPr>
            <p:spPr>
              <a:xfrm>
                <a:off x="8123153" y="4153820"/>
                <a:ext cx="58983" cy="58983"/>
              </a:xfrm>
              <a:prstGeom prst="ellipse">
                <a:avLst/>
              </a:prstGeom>
              <a:solidFill>
                <a:srgbClr val="0070C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3D2ED333-2858-7ECC-16F7-17CF21AD9063}"/>
                  </a:ext>
                </a:extLst>
              </p:cNvPr>
              <p:cNvCxnSpPr>
                <a:stCxn id="97" idx="7"/>
                <a:endCxn id="104" idx="2"/>
              </p:cNvCxnSpPr>
              <p:nvPr/>
            </p:nvCxnSpPr>
            <p:spPr>
              <a:xfrm flipV="1">
                <a:off x="7723625" y="4055894"/>
                <a:ext cx="178780" cy="10656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1C4758FD-C3D9-03A6-A3B5-E59B0B77406F}"/>
                  </a:ext>
                </a:extLst>
              </p:cNvPr>
              <p:cNvCxnSpPr>
                <a:stCxn id="104" idx="5"/>
                <a:endCxn id="106" idx="2"/>
              </p:cNvCxnSpPr>
              <p:nvPr/>
            </p:nvCxnSpPr>
            <p:spPr>
              <a:xfrm>
                <a:off x="7952750" y="4076747"/>
                <a:ext cx="170403" cy="10656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12C753AC-0D5C-EF76-227B-0162B6E73462}"/>
                  </a:ext>
                </a:extLst>
              </p:cNvPr>
              <p:cNvCxnSpPr>
                <a:stCxn id="106" idx="7"/>
                <a:endCxn id="98" idx="4"/>
              </p:cNvCxnSpPr>
              <p:nvPr/>
            </p:nvCxnSpPr>
            <p:spPr>
              <a:xfrm flipV="1">
                <a:off x="8173497" y="4015438"/>
                <a:ext cx="28358" cy="147020"/>
              </a:xfrm>
              <a:prstGeom prst="line">
                <a:avLst/>
              </a:prstGeom>
              <a:ln w="19050">
                <a:solidFill>
                  <a:srgbClr val="7030A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1F5DFC16-CC22-E55C-2A98-3C0662F4DC09}"/>
                  </a:ext>
                </a:extLst>
              </p:cNvPr>
              <p:cNvCxnSpPr>
                <a:stCxn id="106" idx="6"/>
                <a:endCxn id="133" idx="2"/>
              </p:cNvCxnSpPr>
              <p:nvPr/>
            </p:nvCxnSpPr>
            <p:spPr>
              <a:xfrm>
                <a:off x="8182135" y="4183312"/>
                <a:ext cx="217084" cy="29492"/>
              </a:xfrm>
              <a:prstGeom prst="line">
                <a:avLst/>
              </a:prstGeom>
              <a:ln w="19050">
                <a:solidFill>
                  <a:srgbClr val="7030A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>
                <a:extLst>
                  <a:ext uri="{FF2B5EF4-FFF2-40B4-BE49-F238E27FC236}">
                    <a16:creationId xmlns:a16="http://schemas.microsoft.com/office/drawing/2014/main" id="{64E80E26-FE8C-F909-E1BF-7A6195613948}"/>
                  </a:ext>
                </a:extLst>
              </p:cNvPr>
              <p:cNvCxnSpPr>
                <a:stCxn id="133" idx="7"/>
                <a:endCxn id="101" idx="3"/>
              </p:cNvCxnSpPr>
              <p:nvPr/>
            </p:nvCxnSpPr>
            <p:spPr>
              <a:xfrm flipV="1">
                <a:off x="8449564" y="4041468"/>
                <a:ext cx="288808" cy="150482"/>
              </a:xfrm>
              <a:prstGeom prst="line">
                <a:avLst/>
              </a:prstGeom>
              <a:ln w="19050">
                <a:solidFill>
                  <a:srgbClr val="7030A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>
                <a:extLst>
                  <a:ext uri="{FF2B5EF4-FFF2-40B4-BE49-F238E27FC236}">
                    <a16:creationId xmlns:a16="http://schemas.microsoft.com/office/drawing/2014/main" id="{25C9F1AF-A3F0-5EC0-BBCF-865BDB9261B7}"/>
                  </a:ext>
                </a:extLst>
              </p:cNvPr>
              <p:cNvCxnSpPr>
                <a:stCxn id="98" idx="6"/>
                <a:endCxn id="101" idx="1"/>
              </p:cNvCxnSpPr>
              <p:nvPr/>
            </p:nvCxnSpPr>
            <p:spPr>
              <a:xfrm>
                <a:off x="8231346" y="3985947"/>
                <a:ext cx="507026" cy="13814"/>
              </a:xfrm>
              <a:prstGeom prst="line">
                <a:avLst/>
              </a:prstGeom>
              <a:ln w="19050">
                <a:solidFill>
                  <a:srgbClr val="7030A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3C1DC425-8912-72B3-ED39-0B21970D6A52}"/>
                  </a:ext>
                </a:extLst>
              </p:cNvPr>
              <p:cNvCxnSpPr>
                <a:stCxn id="101" idx="6"/>
                <a:endCxn id="102" idx="2"/>
              </p:cNvCxnSpPr>
              <p:nvPr/>
            </p:nvCxnSpPr>
            <p:spPr>
              <a:xfrm>
                <a:off x="8788717" y="4020615"/>
                <a:ext cx="257213" cy="18451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>
                <a:extLst>
                  <a:ext uri="{FF2B5EF4-FFF2-40B4-BE49-F238E27FC236}">
                    <a16:creationId xmlns:a16="http://schemas.microsoft.com/office/drawing/2014/main" id="{8ADAD5BA-50CE-C341-9D0F-8BA9CB7F5F3E}"/>
                  </a:ext>
                </a:extLst>
              </p:cNvPr>
              <p:cNvCxnSpPr>
                <a:cxnSpLocks/>
                <a:stCxn id="102" idx="0"/>
                <a:endCxn id="99" idx="4"/>
              </p:cNvCxnSpPr>
              <p:nvPr/>
            </p:nvCxnSpPr>
            <p:spPr>
              <a:xfrm flipV="1">
                <a:off x="9075421" y="4026403"/>
                <a:ext cx="24784" cy="149230"/>
              </a:xfrm>
              <a:prstGeom prst="line">
                <a:avLst/>
              </a:prstGeom>
              <a:ln w="19050">
                <a:solidFill>
                  <a:srgbClr val="7030A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EBF29756-E294-2427-C8C5-AB694DEF9520}"/>
                  </a:ext>
                </a:extLst>
              </p:cNvPr>
              <p:cNvCxnSpPr>
                <a:stCxn id="99" idx="6"/>
                <a:endCxn id="103" idx="1"/>
              </p:cNvCxnSpPr>
              <p:nvPr/>
            </p:nvCxnSpPr>
            <p:spPr>
              <a:xfrm>
                <a:off x="9129696" y="3996912"/>
                <a:ext cx="156094" cy="38129"/>
              </a:xfrm>
              <a:prstGeom prst="line">
                <a:avLst/>
              </a:prstGeom>
              <a:ln w="19050">
                <a:solidFill>
                  <a:srgbClr val="7030A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直接连接符 115">
                <a:extLst>
                  <a:ext uri="{FF2B5EF4-FFF2-40B4-BE49-F238E27FC236}">
                    <a16:creationId xmlns:a16="http://schemas.microsoft.com/office/drawing/2014/main" id="{3D03F8AB-C8FD-8E64-0C06-7EFAF1D69502}"/>
                  </a:ext>
                </a:extLst>
              </p:cNvPr>
              <p:cNvCxnSpPr>
                <a:endCxn id="105" idx="2"/>
              </p:cNvCxnSpPr>
              <p:nvPr/>
            </p:nvCxnSpPr>
            <p:spPr>
              <a:xfrm flipV="1">
                <a:off x="9336135" y="3977396"/>
                <a:ext cx="406072" cy="7849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>
                <a:extLst>
                  <a:ext uri="{FF2B5EF4-FFF2-40B4-BE49-F238E27FC236}">
                    <a16:creationId xmlns:a16="http://schemas.microsoft.com/office/drawing/2014/main" id="{C00CCC2C-D58F-89A9-67F7-25989ED9A337}"/>
                  </a:ext>
                </a:extLst>
              </p:cNvPr>
              <p:cNvCxnSpPr>
                <a:cxnSpLocks/>
                <a:stCxn id="101" idx="7"/>
                <a:endCxn id="99" idx="2"/>
              </p:cNvCxnSpPr>
              <p:nvPr/>
            </p:nvCxnSpPr>
            <p:spPr>
              <a:xfrm flipV="1">
                <a:off x="8780079" y="3996912"/>
                <a:ext cx="290634" cy="2849"/>
              </a:xfrm>
              <a:prstGeom prst="line">
                <a:avLst/>
              </a:prstGeom>
              <a:ln w="19050">
                <a:solidFill>
                  <a:srgbClr val="7030A0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椭圆 117">
                <a:extLst>
                  <a:ext uri="{FF2B5EF4-FFF2-40B4-BE49-F238E27FC236}">
                    <a16:creationId xmlns:a16="http://schemas.microsoft.com/office/drawing/2014/main" id="{77E7CA62-1D36-40A8-08EB-418CC539F11D}"/>
                  </a:ext>
                </a:extLst>
              </p:cNvPr>
              <p:cNvSpPr/>
              <p:nvPr/>
            </p:nvSpPr>
            <p:spPr>
              <a:xfrm>
                <a:off x="7838748" y="3881091"/>
                <a:ext cx="742853" cy="451897"/>
              </a:xfrm>
              <a:prstGeom prst="ellipse">
                <a:avLst/>
              </a:prstGeom>
              <a:noFill/>
              <a:ln>
                <a:solidFill>
                  <a:srgbClr val="0070C0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星形: 五角 118">
                <a:extLst>
                  <a:ext uri="{FF2B5EF4-FFF2-40B4-BE49-F238E27FC236}">
                    <a16:creationId xmlns:a16="http://schemas.microsoft.com/office/drawing/2014/main" id="{9E7530BA-7128-19BD-7830-4552328D6695}"/>
                  </a:ext>
                </a:extLst>
              </p:cNvPr>
              <p:cNvSpPr/>
              <p:nvPr/>
            </p:nvSpPr>
            <p:spPr>
              <a:xfrm>
                <a:off x="8610196" y="3606937"/>
                <a:ext cx="58983" cy="58983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星形: 五角 119">
                <a:extLst>
                  <a:ext uri="{FF2B5EF4-FFF2-40B4-BE49-F238E27FC236}">
                    <a16:creationId xmlns:a16="http://schemas.microsoft.com/office/drawing/2014/main" id="{4A838F55-293F-573D-9A5E-277ED01C70F1}"/>
                  </a:ext>
                </a:extLst>
              </p:cNvPr>
              <p:cNvSpPr/>
              <p:nvPr/>
            </p:nvSpPr>
            <p:spPr>
              <a:xfrm>
                <a:off x="8610196" y="4030432"/>
                <a:ext cx="58983" cy="58983"/>
              </a:xfrm>
              <a:prstGeom prst="star5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C4C61F2D-02F8-4BA7-8041-4E142448BEB0}"/>
                  </a:ext>
                </a:extLst>
              </p:cNvPr>
              <p:cNvSpPr txBox="1"/>
              <p:nvPr/>
            </p:nvSpPr>
            <p:spPr>
              <a:xfrm>
                <a:off x="7332996" y="3508662"/>
                <a:ext cx="197918" cy="175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/>
                  <a:t>L</a:t>
                </a:r>
                <a:r>
                  <a:rPr lang="en-US" altLang="zh-CN" b="1" baseline="-25000" dirty="0"/>
                  <a:t>1</a:t>
                </a:r>
                <a:endParaRPr lang="zh-CN" altLang="en-US" b="1" baseline="-25000" dirty="0"/>
              </a:p>
            </p:txBody>
          </p:sp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6630FB3B-9001-4C50-98C7-2F0D8EB59F26}"/>
                  </a:ext>
                </a:extLst>
              </p:cNvPr>
              <p:cNvSpPr txBox="1"/>
              <p:nvPr/>
            </p:nvSpPr>
            <p:spPr>
              <a:xfrm>
                <a:off x="7333671" y="3944576"/>
                <a:ext cx="197918" cy="175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/>
                  <a:t>L</a:t>
                </a:r>
                <a:r>
                  <a:rPr lang="en-US" altLang="zh-CN" b="1" baseline="-25000" dirty="0"/>
                  <a:t>0</a:t>
                </a:r>
                <a:endParaRPr lang="zh-CN" altLang="en-US" b="1" baseline="-25000" dirty="0"/>
              </a:p>
            </p:txBody>
          </p:sp>
        </p:grp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46EBA29D-991D-41E6-B4DE-53C13930828B}"/>
                </a:ext>
              </a:extLst>
            </p:cNvPr>
            <p:cNvCxnSpPr>
              <a:stCxn id="125" idx="4"/>
              <a:endCxn id="98" idx="0"/>
            </p:cNvCxnSpPr>
            <p:nvPr/>
          </p:nvCxnSpPr>
          <p:spPr>
            <a:xfrm>
              <a:off x="7836658" y="4314658"/>
              <a:ext cx="1" cy="57685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CF7A5CD0-0E3C-8047-1A9C-2B7321CA7C7E}"/>
                </a:ext>
              </a:extLst>
            </p:cNvPr>
            <p:cNvCxnSpPr>
              <a:stCxn id="131" idx="4"/>
              <a:endCxn id="133" idx="0"/>
            </p:cNvCxnSpPr>
            <p:nvPr/>
          </p:nvCxnSpPr>
          <p:spPr>
            <a:xfrm>
              <a:off x="8200337" y="4678337"/>
              <a:ext cx="0" cy="57685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EF9B2740-C4A6-0FDC-DACB-9DCFD6046B3B}"/>
                </a:ext>
              </a:extLst>
            </p:cNvPr>
            <p:cNvCxnSpPr>
              <a:stCxn id="126" idx="4"/>
              <a:endCxn id="99" idx="0"/>
            </p:cNvCxnSpPr>
            <p:nvPr/>
          </p:nvCxnSpPr>
          <p:spPr>
            <a:xfrm>
              <a:off x="9276826" y="4332236"/>
              <a:ext cx="0" cy="576850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774AF1EB-396F-3E1C-BE10-4DB4CFBABD1E}"/>
                </a:ext>
              </a:extLst>
            </p:cNvPr>
            <p:cNvSpPr txBox="1"/>
            <p:nvPr/>
          </p:nvSpPr>
          <p:spPr>
            <a:xfrm>
              <a:off x="7289857" y="4433250"/>
              <a:ext cx="860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#EP = 2</a:t>
              </a:r>
              <a:endParaRPr lang="zh-CN" altLang="en-US" b="1" dirty="0"/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ABAF3095-DD02-8708-2353-CA8F0A6146F7}"/>
                </a:ext>
              </a:extLst>
            </p:cNvPr>
            <p:cNvSpPr txBox="1"/>
            <p:nvPr/>
          </p:nvSpPr>
          <p:spPr>
            <a:xfrm>
              <a:off x="9231859" y="4258031"/>
              <a:ext cx="860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#EP = 1</a:t>
              </a:r>
              <a:endParaRPr lang="zh-CN" altLang="en-US" b="1" dirty="0"/>
            </a:p>
          </p:txBody>
        </p:sp>
      </p:grpSp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CD8D1947-2129-633E-807B-CEC57BB427EF}"/>
              </a:ext>
            </a:extLst>
          </p:cNvPr>
          <p:cNvGrpSpPr/>
          <p:nvPr/>
        </p:nvGrpSpPr>
        <p:grpSpPr>
          <a:xfrm>
            <a:off x="7946506" y="1215664"/>
            <a:ext cx="3360160" cy="1502305"/>
            <a:chOff x="4415920" y="2911399"/>
            <a:chExt cx="3360160" cy="1502305"/>
          </a:xfrm>
        </p:grpSpPr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3CBD68B2-900B-F19B-A945-26A5718F1966}"/>
                </a:ext>
              </a:extLst>
            </p:cNvPr>
            <p:cNvGrpSpPr/>
            <p:nvPr/>
          </p:nvGrpSpPr>
          <p:grpSpPr>
            <a:xfrm>
              <a:off x="4415920" y="3258832"/>
              <a:ext cx="3360160" cy="1154872"/>
              <a:chOff x="1595280" y="1889760"/>
              <a:chExt cx="4705781" cy="1617356"/>
            </a:xfrm>
          </p:grpSpPr>
          <p:sp>
            <p:nvSpPr>
              <p:cNvPr id="198" name="圆柱体 197">
                <a:extLst>
                  <a:ext uri="{FF2B5EF4-FFF2-40B4-BE49-F238E27FC236}">
                    <a16:creationId xmlns:a16="http://schemas.microsoft.com/office/drawing/2014/main" id="{D3AA4E89-3062-655D-DCCA-149762381F89}"/>
                  </a:ext>
                </a:extLst>
              </p:cNvPr>
              <p:cNvSpPr/>
              <p:nvPr/>
            </p:nvSpPr>
            <p:spPr>
              <a:xfrm>
                <a:off x="4903294" y="1889760"/>
                <a:ext cx="1397767" cy="1617356"/>
              </a:xfrm>
              <a:prstGeom prst="can">
                <a:avLst>
                  <a:gd name="adj" fmla="val 9165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" name="圆柱体 198">
                <a:extLst>
                  <a:ext uri="{FF2B5EF4-FFF2-40B4-BE49-F238E27FC236}">
                    <a16:creationId xmlns:a16="http://schemas.microsoft.com/office/drawing/2014/main" id="{8F7B27DD-868B-0D57-CB1B-9D2ACE95910C}"/>
                  </a:ext>
                </a:extLst>
              </p:cNvPr>
              <p:cNvSpPr/>
              <p:nvPr/>
            </p:nvSpPr>
            <p:spPr>
              <a:xfrm>
                <a:off x="3247754" y="1889760"/>
                <a:ext cx="1397767" cy="1617356"/>
              </a:xfrm>
              <a:prstGeom prst="can">
                <a:avLst>
                  <a:gd name="adj" fmla="val 9165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" name="圆柱体 199">
                <a:extLst>
                  <a:ext uri="{FF2B5EF4-FFF2-40B4-BE49-F238E27FC236}">
                    <a16:creationId xmlns:a16="http://schemas.microsoft.com/office/drawing/2014/main" id="{FAD8972D-D338-BE2E-0B38-7A4404F271AC}"/>
                  </a:ext>
                </a:extLst>
              </p:cNvPr>
              <p:cNvSpPr/>
              <p:nvPr/>
            </p:nvSpPr>
            <p:spPr>
              <a:xfrm>
                <a:off x="1595280" y="1889760"/>
                <a:ext cx="1397767" cy="1617356"/>
              </a:xfrm>
              <a:prstGeom prst="can">
                <a:avLst>
                  <a:gd name="adj" fmla="val 9165"/>
                </a:avLst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椭圆 200">
                <a:extLst>
                  <a:ext uri="{FF2B5EF4-FFF2-40B4-BE49-F238E27FC236}">
                    <a16:creationId xmlns:a16="http://schemas.microsoft.com/office/drawing/2014/main" id="{5E08EBFC-B4A4-9527-78F3-AF5998D42F55}"/>
                  </a:ext>
                </a:extLst>
              </p:cNvPr>
              <p:cNvSpPr/>
              <p:nvPr/>
            </p:nvSpPr>
            <p:spPr>
              <a:xfrm>
                <a:off x="1950720" y="2360023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椭圆 201">
                <a:extLst>
                  <a:ext uri="{FF2B5EF4-FFF2-40B4-BE49-F238E27FC236}">
                    <a16:creationId xmlns:a16="http://schemas.microsoft.com/office/drawing/2014/main" id="{F51AA74C-C82A-B7F4-7748-FAA5C4B55C3C}"/>
                  </a:ext>
                </a:extLst>
              </p:cNvPr>
              <p:cNvSpPr/>
              <p:nvPr/>
            </p:nvSpPr>
            <p:spPr>
              <a:xfrm>
                <a:off x="1711234" y="3098074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" name="椭圆 202">
                <a:extLst>
                  <a:ext uri="{FF2B5EF4-FFF2-40B4-BE49-F238E27FC236}">
                    <a16:creationId xmlns:a16="http://schemas.microsoft.com/office/drawing/2014/main" id="{93F40C95-4EE7-A69A-7845-7C98C5DF07B0}"/>
                  </a:ext>
                </a:extLst>
              </p:cNvPr>
              <p:cNvSpPr/>
              <p:nvPr/>
            </p:nvSpPr>
            <p:spPr>
              <a:xfrm>
                <a:off x="2538549" y="2767148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椭圆 203">
                <a:extLst>
                  <a:ext uri="{FF2B5EF4-FFF2-40B4-BE49-F238E27FC236}">
                    <a16:creationId xmlns:a16="http://schemas.microsoft.com/office/drawing/2014/main" id="{EE9C8B63-5944-7859-96F9-9CAC52B52C08}"/>
                  </a:ext>
                </a:extLst>
              </p:cNvPr>
              <p:cNvSpPr/>
              <p:nvPr/>
            </p:nvSpPr>
            <p:spPr>
              <a:xfrm>
                <a:off x="3275510" y="2447108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椭圆 204">
                <a:extLst>
                  <a:ext uri="{FF2B5EF4-FFF2-40B4-BE49-F238E27FC236}">
                    <a16:creationId xmlns:a16="http://schemas.microsoft.com/office/drawing/2014/main" id="{CA8FB481-EFC8-82FE-9041-62B4FCC69A2D}"/>
                  </a:ext>
                </a:extLst>
              </p:cNvPr>
              <p:cNvSpPr/>
              <p:nvPr/>
            </p:nvSpPr>
            <p:spPr>
              <a:xfrm>
                <a:off x="3962399" y="2105296"/>
                <a:ext cx="330926" cy="330926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椭圆 205">
                <a:extLst>
                  <a:ext uri="{FF2B5EF4-FFF2-40B4-BE49-F238E27FC236}">
                    <a16:creationId xmlns:a16="http://schemas.microsoft.com/office/drawing/2014/main" id="{3AFF51E9-E4ED-F01A-7279-6184DD05CE18}"/>
                  </a:ext>
                </a:extLst>
              </p:cNvPr>
              <p:cNvSpPr/>
              <p:nvPr/>
            </p:nvSpPr>
            <p:spPr>
              <a:xfrm>
                <a:off x="3732711" y="3139440"/>
                <a:ext cx="330926" cy="330926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" name="椭圆 206">
                <a:extLst>
                  <a:ext uri="{FF2B5EF4-FFF2-40B4-BE49-F238E27FC236}">
                    <a16:creationId xmlns:a16="http://schemas.microsoft.com/office/drawing/2014/main" id="{65E3732C-F6FB-36BD-02B9-2C2546920F4F}"/>
                  </a:ext>
                </a:extLst>
              </p:cNvPr>
              <p:cNvSpPr/>
              <p:nvPr/>
            </p:nvSpPr>
            <p:spPr>
              <a:xfrm>
                <a:off x="4293325" y="2719251"/>
                <a:ext cx="330926" cy="330926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椭圆 207">
                <a:extLst>
                  <a:ext uri="{FF2B5EF4-FFF2-40B4-BE49-F238E27FC236}">
                    <a16:creationId xmlns:a16="http://schemas.microsoft.com/office/drawing/2014/main" id="{EF50F0E7-42B7-1AD2-004F-5CF071776E2B}"/>
                  </a:ext>
                </a:extLst>
              </p:cNvPr>
              <p:cNvSpPr/>
              <p:nvPr/>
            </p:nvSpPr>
            <p:spPr>
              <a:xfrm>
                <a:off x="5044998" y="2208711"/>
                <a:ext cx="330926" cy="330926"/>
              </a:xfrm>
              <a:prstGeom prst="ellipse">
                <a:avLst/>
              </a:prstGeom>
              <a:solidFill>
                <a:srgbClr val="FF0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椭圆 208">
                <a:extLst>
                  <a:ext uri="{FF2B5EF4-FFF2-40B4-BE49-F238E27FC236}">
                    <a16:creationId xmlns:a16="http://schemas.microsoft.com/office/drawing/2014/main" id="{CD793A2D-A4DE-624D-EE75-E7A356C2D878}"/>
                  </a:ext>
                </a:extLst>
              </p:cNvPr>
              <p:cNvSpPr/>
              <p:nvPr/>
            </p:nvSpPr>
            <p:spPr>
              <a:xfrm>
                <a:off x="5928184" y="2448196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椭圆 209">
                <a:extLst>
                  <a:ext uri="{FF2B5EF4-FFF2-40B4-BE49-F238E27FC236}">
                    <a16:creationId xmlns:a16="http://schemas.microsoft.com/office/drawing/2014/main" id="{85B5F656-4DBA-F112-CF8A-DCEB21FE79DB}"/>
                  </a:ext>
                </a:extLst>
              </p:cNvPr>
              <p:cNvSpPr/>
              <p:nvPr/>
            </p:nvSpPr>
            <p:spPr>
              <a:xfrm>
                <a:off x="5255662" y="2851512"/>
                <a:ext cx="330926" cy="33092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6" name="文本框 195">
              <a:extLst>
                <a:ext uri="{FF2B5EF4-FFF2-40B4-BE49-F238E27FC236}">
                  <a16:creationId xmlns:a16="http://schemas.microsoft.com/office/drawing/2014/main" id="{A0051B3B-8829-0BFF-9EBC-0D0757A1BAF6}"/>
                </a:ext>
              </a:extLst>
            </p:cNvPr>
            <p:cNvSpPr txBox="1"/>
            <p:nvPr/>
          </p:nvSpPr>
          <p:spPr>
            <a:xfrm>
              <a:off x="5790436" y="2911399"/>
              <a:ext cx="15953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真实</a:t>
              </a:r>
              <a:r>
                <a:rPr lang="en-US" altLang="zh-CN" dirty="0"/>
                <a:t>top-k</a:t>
              </a:r>
              <a:r>
                <a:rPr lang="zh-CN" altLang="en-US" dirty="0"/>
                <a:t>结果</a:t>
              </a:r>
            </a:p>
          </p:txBody>
        </p:sp>
        <p:sp>
          <p:nvSpPr>
            <p:cNvPr id="197" name="椭圆 196">
              <a:extLst>
                <a:ext uri="{FF2B5EF4-FFF2-40B4-BE49-F238E27FC236}">
                  <a16:creationId xmlns:a16="http://schemas.microsoft.com/office/drawing/2014/main" id="{592916D9-2139-1BD9-297D-F3292E9B0A60}"/>
                </a:ext>
              </a:extLst>
            </p:cNvPr>
            <p:cNvSpPr/>
            <p:nvPr/>
          </p:nvSpPr>
          <p:spPr>
            <a:xfrm>
              <a:off x="5594200" y="2963418"/>
              <a:ext cx="236298" cy="236297"/>
            </a:xfrm>
            <a:prstGeom prst="ellipse">
              <a:avLst/>
            </a:prstGeom>
            <a:solidFill>
              <a:srgbClr val="FF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1" name="文本框 210">
            <a:extLst>
              <a:ext uri="{FF2B5EF4-FFF2-40B4-BE49-F238E27FC236}">
                <a16:creationId xmlns:a16="http://schemas.microsoft.com/office/drawing/2014/main" id="{AF23C26B-F8FC-BE58-3BED-D16063AE62FC}"/>
              </a:ext>
            </a:extLst>
          </p:cNvPr>
          <p:cNvSpPr txBox="1"/>
          <p:nvPr/>
        </p:nvSpPr>
        <p:spPr>
          <a:xfrm>
            <a:off x="8347123" y="274426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不同工作节点的贡献不同</a:t>
            </a:r>
          </a:p>
        </p:txBody>
      </p:sp>
    </p:spTree>
    <p:extLst>
      <p:ext uri="{BB962C8B-B14F-4D97-AF65-F5344CB8AC3E}">
        <p14:creationId xmlns:p14="http://schemas.microsoft.com/office/powerpoint/2010/main" val="2846172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7162A-F0A6-151D-12DC-633A03574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8D7FE-CC10-3BB5-A876-BD09A001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研究概览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7BAE9D-EE7A-E151-3FEE-7403CBB40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研究背景</a:t>
            </a:r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+mn-ea"/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+mn-ea"/>
              </a:rPr>
              <a:t>研究内容</a:t>
            </a:r>
            <a:endParaRPr lang="en-US" altLang="zh-CN" dirty="0">
              <a:solidFill>
                <a:schemeClr val="bg1">
                  <a:lumMod val="65000"/>
                </a:schemeClr>
              </a:solidFill>
              <a:latin typeface="+mn-ea"/>
            </a:endParaRPr>
          </a:p>
          <a:p>
            <a:r>
              <a:rPr lang="zh-CN" altLang="en-US">
                <a:latin typeface="+mn-ea"/>
              </a:rPr>
              <a:t>实验</a:t>
            </a:r>
            <a:endParaRPr lang="en-US" altLang="zh-CN" dirty="0">
              <a:latin typeface="+mn-ea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577253-EDFA-881F-215F-81B6BDA1E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3114-2061-4842-97A6-B5DACC79B906}" type="datetime1">
              <a:rPr lang="zh-CN" altLang="en-US" smtClean="0"/>
              <a:t>2026/7/13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777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544C7-ADFA-3739-5020-9E6DE76A0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/>
              <a:t>实验设置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37A7BA-5F1A-47AE-F68E-B62D72602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8400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实验配置（单机模拟，计算和存储隔离）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平台：</a:t>
            </a:r>
            <a:r>
              <a:rPr lang="en-US" altLang="zh-CN" dirty="0" err="1">
                <a:latin typeface="楷体" panose="02010609060101010101" pitchFamily="49" charset="-122"/>
                <a:ea typeface="楷体" panose="02010609060101010101" pitchFamily="49" charset="-122"/>
              </a:rPr>
              <a:t>Qdrant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Intel Xeon Gold 6330 @ 2.00GHz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 sockets × 28 cores/socket × 2 threads/core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 controller, 1/2/3/4 worker</a:t>
            </a:r>
          </a:p>
          <a:p>
            <a:pPr lvl="1"/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46 shards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数据集：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GloVe-200-angular</a:t>
            </a:r>
          </a:p>
          <a:p>
            <a:pPr lvl="1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维度：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200</a:t>
            </a:r>
          </a:p>
          <a:p>
            <a:pPr lvl="1"/>
            <a:r>
              <a:rPr lang="en-US" altLang="zh-CN" sz="2400" dirty="0"/>
              <a:t>Base size</a:t>
            </a:r>
            <a:r>
              <a:rPr lang="zh-CN" altLang="en-US" sz="2400" dirty="0"/>
              <a:t>：</a:t>
            </a:r>
            <a:r>
              <a:rPr lang="en-US" altLang="zh-CN" sz="2400" dirty="0"/>
              <a:t>1.2M vectors</a:t>
            </a:r>
          </a:p>
          <a:p>
            <a:pPr lvl="1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距离度量：</a:t>
            </a:r>
            <a:r>
              <a:rPr lang="en-US" altLang="zh-CN" sz="2400" dirty="0"/>
              <a:t> Angular</a:t>
            </a:r>
          </a:p>
          <a:p>
            <a:pPr lvl="1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来源：文本嵌入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Baseline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设置：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/>
            <a:r>
              <a:rPr lang="en-US" altLang="zh-CN" sz="2400" dirty="0"/>
              <a:t>Naïve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Qdrant</a:t>
            </a:r>
            <a:r>
              <a:rPr lang="en-US" altLang="zh-CN" sz="2400" dirty="0"/>
              <a:t> </a:t>
            </a:r>
            <a:r>
              <a:rPr lang="zh-CN" altLang="en-US" sz="2400" dirty="0"/>
              <a:t>生产环境下的</a:t>
            </a:r>
            <a:r>
              <a:rPr lang="zh-CN" altLang="en-US" dirty="0"/>
              <a:t>默认</a:t>
            </a:r>
            <a:r>
              <a:rPr lang="zh-CN" altLang="en-US" sz="2400" dirty="0"/>
              <a:t>实现，</a:t>
            </a:r>
            <a:r>
              <a:rPr lang="en-US" altLang="zh-CN" sz="2400" dirty="0"/>
              <a:t>hash</a:t>
            </a:r>
            <a:r>
              <a:rPr lang="zh-CN" altLang="en-US" sz="2400" dirty="0"/>
              <a:t>分片</a:t>
            </a:r>
            <a:endParaRPr lang="en-US" altLang="zh-CN" sz="2400" dirty="0"/>
          </a:p>
          <a:p>
            <a:pPr lvl="1"/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Plain K-means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：普通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k-means</a:t>
            </a:r>
          </a:p>
          <a:p>
            <a:pPr lvl="1"/>
            <a:r>
              <a:rPr lang="en-US" altLang="zh-CN" sz="2400" dirty="0"/>
              <a:t>Balanced K-means</a:t>
            </a:r>
            <a:r>
              <a:rPr lang="zh-CN" altLang="en-US" sz="2400" dirty="0"/>
              <a:t>：带约束的</a:t>
            </a:r>
            <a:r>
              <a:rPr lang="en-US" altLang="zh-CN" sz="2400" dirty="0"/>
              <a:t>k-means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7D3409-DD7C-E9B9-9784-9B535C4C3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3114-2061-4842-97A6-B5DACC79B906}" type="datetime1">
              <a:rPr lang="zh-CN" altLang="en-US" smtClean="0"/>
              <a:t>2026/7/13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694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584295-CD95-1A33-D0BB-5290A7DB6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zh-CN" altLang="en-US" dirty="0"/>
              <a:t>不同召回率水平下的表现</a:t>
            </a:r>
          </a:p>
        </p:txBody>
      </p:sp>
      <p:pic>
        <p:nvPicPr>
          <p:cNvPr id="7" name="图片 6" descr="图表, 折线图&#10;&#10;描述已自动生成">
            <a:extLst>
              <a:ext uri="{FF2B5EF4-FFF2-40B4-BE49-F238E27FC236}">
                <a16:creationId xmlns:a16="http://schemas.microsoft.com/office/drawing/2014/main" id="{A6E6CF3E-B01E-6BFF-58F4-11F00648D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995" y="1184365"/>
            <a:ext cx="9224010" cy="556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28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0FA95F-F50D-C3B6-4C25-95F67DFAF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/>
              <a:t>导航图拓扑感知微调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53EC82-D64C-B071-B559-854C95125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通过对导航图进行拓扑感知微调</a:t>
            </a:r>
            <a:endParaRPr lang="en-US" altLang="zh-CN" dirty="0"/>
          </a:p>
          <a:p>
            <a:r>
              <a:rPr lang="zh-CN" altLang="en-US" dirty="0"/>
              <a:t>在搜索中访问的分片数减少</a:t>
            </a:r>
            <a:endParaRPr lang="en-US" altLang="zh-CN" dirty="0"/>
          </a:p>
          <a:p>
            <a:r>
              <a:rPr lang="zh-CN" altLang="en-US" dirty="0"/>
              <a:t>被“</a:t>
            </a:r>
            <a:r>
              <a:rPr lang="en-US" altLang="zh-CN" dirty="0"/>
              <a:t>cut</a:t>
            </a:r>
            <a:r>
              <a:rPr lang="zh-CN" altLang="en-US" dirty="0"/>
              <a:t>”的边的比例减少，分片的内聚性提高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79047EB-E4D2-5310-443B-F5B223525F62}"/>
              </a:ext>
            </a:extLst>
          </p:cNvPr>
          <p:cNvSpPr txBox="1"/>
          <p:nvPr/>
        </p:nvSpPr>
        <p:spPr>
          <a:xfrm>
            <a:off x="8706950" y="267086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拓扑感知微调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5BD2CAA-C5C9-C3A5-508E-0A5DEF98AF2B}"/>
              </a:ext>
            </a:extLst>
          </p:cNvPr>
          <p:cNvGrpSpPr/>
          <p:nvPr/>
        </p:nvGrpSpPr>
        <p:grpSpPr>
          <a:xfrm>
            <a:off x="7810333" y="2025537"/>
            <a:ext cx="3388793" cy="581982"/>
            <a:chOff x="3231018" y="2096157"/>
            <a:chExt cx="4928732" cy="846447"/>
          </a:xfrm>
        </p:grpSpPr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A8C147B7-1714-78D0-E511-4D6C758D0AF7}"/>
                </a:ext>
              </a:extLst>
            </p:cNvPr>
            <p:cNvSpPr/>
            <p:nvPr/>
          </p:nvSpPr>
          <p:spPr>
            <a:xfrm>
              <a:off x="3231018" y="2154080"/>
              <a:ext cx="4909683" cy="730601"/>
            </a:xfrm>
            <a:prstGeom prst="parallelogram">
              <a:avLst>
                <a:gd name="adj" fmla="val 164639"/>
              </a:avLst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044EC513-4A2E-CC6F-839A-67CCBE3E6DE0}"/>
                </a:ext>
              </a:extLst>
            </p:cNvPr>
            <p:cNvSpPr/>
            <p:nvPr/>
          </p:nvSpPr>
          <p:spPr>
            <a:xfrm>
              <a:off x="5486400" y="2146300"/>
              <a:ext cx="2673350" cy="450850"/>
            </a:xfrm>
            <a:custGeom>
              <a:avLst/>
              <a:gdLst>
                <a:gd name="connsiteX0" fmla="*/ 0 w 2673350"/>
                <a:gd name="connsiteY0" fmla="*/ 387350 h 450850"/>
                <a:gd name="connsiteX1" fmla="*/ 412750 w 2673350"/>
                <a:gd name="connsiteY1" fmla="*/ 0 h 450850"/>
                <a:gd name="connsiteX2" fmla="*/ 2673350 w 2673350"/>
                <a:gd name="connsiteY2" fmla="*/ 0 h 450850"/>
                <a:gd name="connsiteX3" fmla="*/ 1917700 w 2673350"/>
                <a:gd name="connsiteY3" fmla="*/ 450850 h 450850"/>
                <a:gd name="connsiteX4" fmla="*/ 0 w 2673350"/>
                <a:gd name="connsiteY4" fmla="*/ 387350 h 450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3350" h="450850">
                  <a:moveTo>
                    <a:pt x="0" y="387350"/>
                  </a:moveTo>
                  <a:lnTo>
                    <a:pt x="412750" y="0"/>
                  </a:lnTo>
                  <a:lnTo>
                    <a:pt x="2673350" y="0"/>
                  </a:lnTo>
                  <a:lnTo>
                    <a:pt x="1917700" y="450850"/>
                  </a:lnTo>
                  <a:lnTo>
                    <a:pt x="0" y="38735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8D4EC4A7-671B-C2B2-3CC8-81917607FFCB}"/>
                </a:ext>
              </a:extLst>
            </p:cNvPr>
            <p:cNvSpPr/>
            <p:nvPr/>
          </p:nvSpPr>
          <p:spPr>
            <a:xfrm>
              <a:off x="3232150" y="2146300"/>
              <a:ext cx="2660650" cy="736600"/>
            </a:xfrm>
            <a:custGeom>
              <a:avLst/>
              <a:gdLst>
                <a:gd name="connsiteX0" fmla="*/ 2660650 w 2660650"/>
                <a:gd name="connsiteY0" fmla="*/ 0 h 736600"/>
                <a:gd name="connsiteX1" fmla="*/ 1206500 w 2660650"/>
                <a:gd name="connsiteY1" fmla="*/ 6350 h 736600"/>
                <a:gd name="connsiteX2" fmla="*/ 0 w 2660650"/>
                <a:gd name="connsiteY2" fmla="*/ 736600 h 736600"/>
                <a:gd name="connsiteX3" fmla="*/ 603250 w 2660650"/>
                <a:gd name="connsiteY3" fmla="*/ 736600 h 736600"/>
                <a:gd name="connsiteX4" fmla="*/ 2241550 w 2660650"/>
                <a:gd name="connsiteY4" fmla="*/ 400050 h 736600"/>
                <a:gd name="connsiteX5" fmla="*/ 2660650 w 2660650"/>
                <a:gd name="connsiteY5" fmla="*/ 0 h 736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60650" h="736600">
                  <a:moveTo>
                    <a:pt x="2660650" y="0"/>
                  </a:moveTo>
                  <a:lnTo>
                    <a:pt x="1206500" y="6350"/>
                  </a:lnTo>
                  <a:lnTo>
                    <a:pt x="0" y="736600"/>
                  </a:lnTo>
                  <a:lnTo>
                    <a:pt x="603250" y="736600"/>
                  </a:lnTo>
                  <a:lnTo>
                    <a:pt x="2241550" y="400050"/>
                  </a:lnTo>
                  <a:lnTo>
                    <a:pt x="2660650" y="0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E25BBD98-CA4D-2E6B-78BA-5D7CCEABCFFF}"/>
                </a:ext>
              </a:extLst>
            </p:cNvPr>
            <p:cNvSpPr/>
            <p:nvPr/>
          </p:nvSpPr>
          <p:spPr>
            <a:xfrm>
              <a:off x="3848100" y="2540000"/>
              <a:ext cx="3549650" cy="342900"/>
            </a:xfrm>
            <a:custGeom>
              <a:avLst/>
              <a:gdLst>
                <a:gd name="connsiteX0" fmla="*/ 1631950 w 3549650"/>
                <a:gd name="connsiteY0" fmla="*/ 0 h 342900"/>
                <a:gd name="connsiteX1" fmla="*/ 3549650 w 3549650"/>
                <a:gd name="connsiteY1" fmla="*/ 63500 h 342900"/>
                <a:gd name="connsiteX2" fmla="*/ 3105150 w 3549650"/>
                <a:gd name="connsiteY2" fmla="*/ 342900 h 342900"/>
                <a:gd name="connsiteX3" fmla="*/ 0 w 3549650"/>
                <a:gd name="connsiteY3" fmla="*/ 342900 h 342900"/>
                <a:gd name="connsiteX4" fmla="*/ 1631950 w 3549650"/>
                <a:gd name="connsiteY4" fmla="*/ 0 h 342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49650" h="342900">
                  <a:moveTo>
                    <a:pt x="1631950" y="0"/>
                  </a:moveTo>
                  <a:lnTo>
                    <a:pt x="3549650" y="63500"/>
                  </a:lnTo>
                  <a:lnTo>
                    <a:pt x="3105150" y="342900"/>
                  </a:lnTo>
                  <a:lnTo>
                    <a:pt x="0" y="342900"/>
                  </a:lnTo>
                  <a:lnTo>
                    <a:pt x="1631950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F59AF2EF-CC89-14CA-7059-1B560203DCCE}"/>
                </a:ext>
              </a:extLst>
            </p:cNvPr>
            <p:cNvSpPr/>
            <p:nvPr/>
          </p:nvSpPr>
          <p:spPr>
            <a:xfrm>
              <a:off x="4711335" y="2174156"/>
              <a:ext cx="121767" cy="12176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68AE59C5-84E2-A38F-134D-31E425F9B0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2700" y="2546149"/>
              <a:ext cx="1646358" cy="338530"/>
            </a:xfrm>
            <a:prstGeom prst="line">
              <a:avLst/>
            </a:prstGeom>
            <a:ln w="127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D466577A-DF36-835A-0DB0-11B6F2B36A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9059" y="2154080"/>
              <a:ext cx="428322" cy="392069"/>
            </a:xfrm>
            <a:prstGeom prst="line">
              <a:avLst/>
            </a:prstGeom>
            <a:ln w="127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69A39E90-73DC-4E7C-6404-EE4FFE0CA028}"/>
                </a:ext>
              </a:extLst>
            </p:cNvPr>
            <p:cNvCxnSpPr>
              <a:cxnSpLocks/>
            </p:cNvCxnSpPr>
            <p:nvPr/>
          </p:nvCxnSpPr>
          <p:spPr>
            <a:xfrm>
              <a:off x="5469059" y="2546149"/>
              <a:ext cx="1915991" cy="56707"/>
            </a:xfrm>
            <a:prstGeom prst="line">
              <a:avLst/>
            </a:prstGeom>
            <a:ln w="12700"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B5110D33-4AF4-C15D-E7A2-03BEABCC9278}"/>
                </a:ext>
              </a:extLst>
            </p:cNvPr>
            <p:cNvSpPr/>
            <p:nvPr/>
          </p:nvSpPr>
          <p:spPr>
            <a:xfrm>
              <a:off x="5812880" y="2287142"/>
              <a:ext cx="121767" cy="12176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144FF987-561C-1784-0969-9B2566AF8EB8}"/>
                </a:ext>
              </a:extLst>
            </p:cNvPr>
            <p:cNvSpPr/>
            <p:nvPr/>
          </p:nvSpPr>
          <p:spPr>
            <a:xfrm>
              <a:off x="5183016" y="2720419"/>
              <a:ext cx="121767" cy="12176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5DF6CFCD-6D3A-AC01-05BB-89A050C0FCA0}"/>
                </a:ext>
              </a:extLst>
            </p:cNvPr>
            <p:cNvSpPr/>
            <p:nvPr/>
          </p:nvSpPr>
          <p:spPr>
            <a:xfrm>
              <a:off x="6188283" y="2733155"/>
              <a:ext cx="121767" cy="121767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0E6F2D12-CFCA-7597-193F-553D5D812156}"/>
                </a:ext>
              </a:extLst>
            </p:cNvPr>
            <p:cNvSpPr/>
            <p:nvPr/>
          </p:nvSpPr>
          <p:spPr>
            <a:xfrm>
              <a:off x="6545613" y="2397611"/>
              <a:ext cx="121767" cy="12176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8F4C702D-85F2-F1FA-013B-ECC71E86E93D}"/>
                </a:ext>
              </a:extLst>
            </p:cNvPr>
            <p:cNvSpPr/>
            <p:nvPr/>
          </p:nvSpPr>
          <p:spPr>
            <a:xfrm>
              <a:off x="4359576" y="2558491"/>
              <a:ext cx="121767" cy="121767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1D3ABFE-751E-82CE-1EA2-9CFA14B888D0}"/>
                </a:ext>
              </a:extLst>
            </p:cNvPr>
            <p:cNvSpPr/>
            <p:nvPr/>
          </p:nvSpPr>
          <p:spPr>
            <a:xfrm>
              <a:off x="6810212" y="2207239"/>
              <a:ext cx="121767" cy="121767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B3FB16C-57E1-028E-D0CD-C12FA89BA03C}"/>
                </a:ext>
              </a:extLst>
            </p:cNvPr>
            <p:cNvCxnSpPr>
              <a:stCxn id="10" idx="6"/>
              <a:endCxn id="14" idx="2"/>
            </p:cNvCxnSpPr>
            <p:nvPr/>
          </p:nvCxnSpPr>
          <p:spPr>
            <a:xfrm>
              <a:off x="4833101" y="2235040"/>
              <a:ext cx="979778" cy="112987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A34E3414-2B1E-F3B2-5169-58A58CE3705C}"/>
                </a:ext>
              </a:extLst>
            </p:cNvPr>
            <p:cNvCxnSpPr>
              <a:stCxn id="14" idx="3"/>
              <a:endCxn id="15" idx="7"/>
            </p:cNvCxnSpPr>
            <p:nvPr/>
          </p:nvCxnSpPr>
          <p:spPr>
            <a:xfrm flipH="1">
              <a:off x="5286950" y="2391078"/>
              <a:ext cx="543761" cy="347173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BED856B8-304D-0B0B-906E-62BD25E84C6D}"/>
                </a:ext>
              </a:extLst>
            </p:cNvPr>
            <p:cNvCxnSpPr>
              <a:stCxn id="14" idx="6"/>
              <a:endCxn id="17" idx="2"/>
            </p:cNvCxnSpPr>
            <p:nvPr/>
          </p:nvCxnSpPr>
          <p:spPr>
            <a:xfrm>
              <a:off x="5934646" y="2348027"/>
              <a:ext cx="610966" cy="110469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FB411E96-F49D-B960-A910-7858A85F4806}"/>
                </a:ext>
              </a:extLst>
            </p:cNvPr>
            <p:cNvCxnSpPr>
              <a:stCxn id="17" idx="7"/>
              <a:endCxn id="19" idx="3"/>
            </p:cNvCxnSpPr>
            <p:nvPr/>
          </p:nvCxnSpPr>
          <p:spPr>
            <a:xfrm flipV="1">
              <a:off x="6649547" y="2311174"/>
              <a:ext cx="178496" cy="10427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0FD4CDE-228D-5250-63D2-2253BF2DB231}"/>
                </a:ext>
              </a:extLst>
            </p:cNvPr>
            <p:cNvSpPr txBox="1"/>
            <p:nvPr/>
          </p:nvSpPr>
          <p:spPr>
            <a:xfrm>
              <a:off x="6531875" y="2573272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S1</a:t>
              </a:r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DDB5C1C-FA35-D967-5FFA-CA32A0CDAECE}"/>
                </a:ext>
              </a:extLst>
            </p:cNvPr>
            <p:cNvSpPr txBox="1"/>
            <p:nvPr/>
          </p:nvSpPr>
          <p:spPr>
            <a:xfrm>
              <a:off x="4202681" y="2196164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S0</a:t>
              </a:r>
              <a:endParaRPr lang="zh-CN" altLang="en-US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33EC66C-5391-F9CB-EB67-646BF0552EC3}"/>
                </a:ext>
              </a:extLst>
            </p:cNvPr>
            <p:cNvSpPr txBox="1"/>
            <p:nvPr/>
          </p:nvSpPr>
          <p:spPr>
            <a:xfrm>
              <a:off x="7382280" y="2096157"/>
              <a:ext cx="428323" cy="369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S2</a:t>
              </a:r>
              <a:endParaRPr lang="zh-CN" altLang="en-US" dirty="0"/>
            </a:p>
          </p:txBody>
        </p:sp>
      </p:grpSp>
      <p:graphicFrame>
        <p:nvGraphicFramePr>
          <p:cNvPr id="27" name="图表 26">
            <a:extLst>
              <a:ext uri="{FF2B5EF4-FFF2-40B4-BE49-F238E27FC236}">
                <a16:creationId xmlns:a16="http://schemas.microsoft.com/office/drawing/2014/main" id="{4EDFC57F-83F1-65B3-9B4A-1612D085F1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6702397"/>
              </p:ext>
            </p:extLst>
          </p:nvPr>
        </p:nvGraphicFramePr>
        <p:xfrm>
          <a:off x="1972644" y="3430441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图表 27">
            <a:extLst>
              <a:ext uri="{FF2B5EF4-FFF2-40B4-BE49-F238E27FC236}">
                <a16:creationId xmlns:a16="http://schemas.microsoft.com/office/drawing/2014/main" id="{A76FDCB6-3A72-297E-8A7B-BA3A7EF7D4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3861845"/>
              </p:ext>
            </p:extLst>
          </p:nvPr>
        </p:nvGraphicFramePr>
        <p:xfrm>
          <a:off x="6300283" y="342727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56242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37F063-6321-9A88-6ADD-970CBCCBA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Dynamic EF </a:t>
            </a:r>
            <a:endParaRPr lang="zh-CN" altLang="en-US" dirty="0"/>
          </a:p>
        </p:txBody>
      </p:sp>
      <p:pic>
        <p:nvPicPr>
          <p:cNvPr id="5" name="内容占位符 4" descr="图表, 折线图, 散点图&#10;&#10;描述已自动生成">
            <a:extLst>
              <a:ext uri="{FF2B5EF4-FFF2-40B4-BE49-F238E27FC236}">
                <a16:creationId xmlns:a16="http://schemas.microsoft.com/office/drawing/2014/main" id="{AD759CB8-8447-7C1B-651A-253765220B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15600" cy="3505200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475E77F-7633-723B-CD6C-F26CF53C256D}"/>
              </a:ext>
            </a:extLst>
          </p:cNvPr>
          <p:cNvSpPr txBox="1"/>
          <p:nvPr/>
        </p:nvSpPr>
        <p:spPr>
          <a:xfrm>
            <a:off x="657225" y="5743575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（更多其他召回率水平的实验正在补充）</a:t>
            </a:r>
          </a:p>
        </p:txBody>
      </p:sp>
    </p:spTree>
    <p:extLst>
      <p:ext uri="{BB962C8B-B14F-4D97-AF65-F5344CB8AC3E}">
        <p14:creationId xmlns:p14="http://schemas.microsoft.com/office/powerpoint/2010/main" val="1535531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B01FBD-89D7-2EBD-EE28-70CE27B7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zh-CN" altLang="en-US" dirty="0"/>
              <a:t>多分配</a:t>
            </a:r>
          </a:p>
        </p:txBody>
      </p:sp>
      <p:pic>
        <p:nvPicPr>
          <p:cNvPr id="5" name="图片 4" descr="图表, 散点图">
            <a:extLst>
              <a:ext uri="{FF2B5EF4-FFF2-40B4-BE49-F238E27FC236}">
                <a16:creationId xmlns:a16="http://schemas.microsoft.com/office/drawing/2014/main" id="{5667F699-5DAD-5BD0-CB6F-518C2AEF3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130" y="901860"/>
            <a:ext cx="9309735" cy="3103245"/>
          </a:xfrm>
          <a:prstGeom prst="rect">
            <a:avLst/>
          </a:prstGeom>
        </p:spPr>
      </p:pic>
      <p:pic>
        <p:nvPicPr>
          <p:cNvPr id="7" name="图片 6" descr="图表, 折线图&#10;&#10;描述已自动生成">
            <a:extLst>
              <a:ext uri="{FF2B5EF4-FFF2-40B4-BE49-F238E27FC236}">
                <a16:creationId xmlns:a16="http://schemas.microsoft.com/office/drawing/2014/main" id="{D681D2A3-F2D9-6850-71CF-6D2334B7E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130" y="3754755"/>
            <a:ext cx="9309735" cy="310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87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8B99BA-9CBB-1317-5B05-BA72DAF5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拓扑感知下多分配策略的提升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A9BECA-8D7B-5A89-A477-FDA34CE5E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3114-2061-4842-97A6-B5DACC79B906}" type="datetime1">
              <a:rPr lang="zh-CN" altLang="en-US" smtClean="0"/>
              <a:t>2026/7/13</a:t>
            </a:fld>
            <a:endParaRPr lang="zh-CN" altLang="en-US"/>
          </a:p>
        </p:txBody>
      </p:sp>
      <p:pic>
        <p:nvPicPr>
          <p:cNvPr id="8" name="图片 7" descr="图表, 折线图&#10;&#10;描述已自动生成">
            <a:extLst>
              <a:ext uri="{FF2B5EF4-FFF2-40B4-BE49-F238E27FC236}">
                <a16:creationId xmlns:a16="http://schemas.microsoft.com/office/drawing/2014/main" id="{54EDB141-B0BB-949F-CD9D-A46C65A046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36" y="1916388"/>
            <a:ext cx="2626949" cy="197021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38F1D61-FF0F-611D-24BD-65D99796B019}"/>
              </a:ext>
            </a:extLst>
          </p:cNvPr>
          <p:cNvSpPr txBox="1"/>
          <p:nvPr/>
        </p:nvSpPr>
        <p:spPr>
          <a:xfrm>
            <a:off x="360695" y="4329443"/>
            <a:ext cx="6442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Orion</a:t>
            </a:r>
            <a:r>
              <a:rPr lang="zh-CN" altLang="en-US" sz="2400" dirty="0"/>
              <a:t>拓扑感知的机制显著提高了多分配的收益</a:t>
            </a:r>
          </a:p>
        </p:txBody>
      </p:sp>
      <p:pic>
        <p:nvPicPr>
          <p:cNvPr id="11" name="图片 10" descr="图表, 折线图&#10;&#10;描述已自动生成">
            <a:extLst>
              <a:ext uri="{FF2B5EF4-FFF2-40B4-BE49-F238E27FC236}">
                <a16:creationId xmlns:a16="http://schemas.microsoft.com/office/drawing/2014/main" id="{D9920764-759D-7B38-B00B-700184B6FF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443" y="1947543"/>
            <a:ext cx="2616557" cy="196189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23C5ED0-DBD1-E018-AD48-2A29C1C31B59}"/>
              </a:ext>
            </a:extLst>
          </p:cNvPr>
          <p:cNvSpPr txBox="1"/>
          <p:nvPr/>
        </p:nvSpPr>
        <p:spPr>
          <a:xfrm>
            <a:off x="360695" y="3907576"/>
            <a:ext cx="3047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召回率随索引膨胀率的变化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5BBC7D-E8F5-6BBB-3A34-2A6061E947EF}"/>
              </a:ext>
            </a:extLst>
          </p:cNvPr>
          <p:cNvSpPr txBox="1"/>
          <p:nvPr/>
        </p:nvSpPr>
        <p:spPr>
          <a:xfrm>
            <a:off x="3228903" y="3907576"/>
            <a:ext cx="3736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调节索引膨胀率下的</a:t>
            </a:r>
            <a:r>
              <a:rPr lang="en-US" altLang="zh-CN" dirty="0"/>
              <a:t>recall-QPS</a:t>
            </a:r>
            <a:r>
              <a:rPr lang="zh-CN" altLang="en-US" dirty="0"/>
              <a:t>曲线</a:t>
            </a:r>
          </a:p>
        </p:txBody>
      </p:sp>
      <p:pic>
        <p:nvPicPr>
          <p:cNvPr id="6" name="图片 5" descr="图表, 折线图&#10;&#10;描述已自动生成">
            <a:extLst>
              <a:ext uri="{FF2B5EF4-FFF2-40B4-BE49-F238E27FC236}">
                <a16:creationId xmlns:a16="http://schemas.microsoft.com/office/drawing/2014/main" id="{D92C0545-D417-B85B-4C80-FE001CC50B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224" y="1811296"/>
            <a:ext cx="4777740" cy="268890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AC6BC1F-64FE-DA76-C042-1412E0AB8406}"/>
              </a:ext>
            </a:extLst>
          </p:cNvPr>
          <p:cNvSpPr txBox="1"/>
          <p:nvPr/>
        </p:nvSpPr>
        <p:spPr>
          <a:xfrm>
            <a:off x="6965823" y="4560275"/>
            <a:ext cx="49039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Orion</a:t>
            </a:r>
            <a:r>
              <a:rPr lang="zh-CN" altLang="en-US" sz="2400" dirty="0"/>
              <a:t>的多分配策略提高了性能表现</a:t>
            </a:r>
          </a:p>
        </p:txBody>
      </p:sp>
    </p:spTree>
    <p:extLst>
      <p:ext uri="{BB962C8B-B14F-4D97-AF65-F5344CB8AC3E}">
        <p14:creationId xmlns:p14="http://schemas.microsoft.com/office/powerpoint/2010/main" val="2793066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225" y="4348887"/>
            <a:ext cx="5447372" cy="1656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57196" y="1866900"/>
            <a:ext cx="18774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600"/>
              </a:spcBef>
            </a:pPr>
            <a:r>
              <a:rPr lang="zh-CN" altLang="en-US" sz="4400" dirty="0"/>
              <a:t>谢谢！</a:t>
            </a:r>
            <a:endParaRPr lang="en-US" altLang="zh-CN" sz="4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1366</Words>
  <Application>Microsoft Office PowerPoint</Application>
  <PresentationFormat>宽屏</PresentationFormat>
  <Paragraphs>214</Paragraphs>
  <Slides>21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Noto Sans CJK SC</vt:lpstr>
      <vt:lpstr>等线</vt:lpstr>
      <vt:lpstr>等线 Light</vt:lpstr>
      <vt:lpstr>楷体</vt:lpstr>
      <vt:lpstr>Arial</vt:lpstr>
      <vt:lpstr>Cambria Math</vt:lpstr>
      <vt:lpstr>Wingdings</vt:lpstr>
      <vt:lpstr>Office 主题​​</vt:lpstr>
      <vt:lpstr>基于拓扑感知分区和自适应路由 的拓展分布式向量搜索</vt:lpstr>
      <vt:lpstr>研究概览</vt:lpstr>
      <vt:lpstr>HNSW</vt:lpstr>
      <vt:lpstr>分布式图索引</vt:lpstr>
      <vt:lpstr>拓展性问题</vt:lpstr>
      <vt:lpstr>拓展性问题</vt:lpstr>
      <vt:lpstr>研究概览</vt:lpstr>
      <vt:lpstr>Orion系统设计：概览</vt:lpstr>
      <vt:lpstr>拓扑感知导航图构建</vt:lpstr>
      <vt:lpstr>拓扑感知数据分区</vt:lpstr>
      <vt:lpstr>多分配</vt:lpstr>
      <vt:lpstr>分片索引构建</vt:lpstr>
      <vt:lpstr>自适应路由（Adaptive Routine）</vt:lpstr>
      <vt:lpstr>研究概览</vt:lpstr>
      <vt:lpstr>实验设置</vt:lpstr>
      <vt:lpstr>不同召回率水平下的表现</vt:lpstr>
      <vt:lpstr>导航图拓扑感知微调</vt:lpstr>
      <vt:lpstr>Dynamic EF </vt:lpstr>
      <vt:lpstr>多分配</vt:lpstr>
      <vt:lpstr>拓扑感知下多分配策略的提升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若扬 董</dc:creator>
  <cp:lastModifiedBy>若扬 董</cp:lastModifiedBy>
  <cp:revision>2</cp:revision>
  <dcterms:created xsi:type="dcterms:W3CDTF">2026-07-13T07:40:35Z</dcterms:created>
  <dcterms:modified xsi:type="dcterms:W3CDTF">2026-07-13T13:58:02Z</dcterms:modified>
</cp:coreProperties>
</file>